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3"/>
        </a:solidFill>
      </p:bgPr>
    </p:bg>
    <p:spTree>
      <p:nvGrpSpPr>
        <p:cNvPr id="1" name=""/>
        <p:cNvGrpSpPr/>
        <p:nvPr/>
      </p:nvGrpSpPr>
      <p:grpSpPr>
        <a:xfrm>
          <a:off x="0" y="0"/>
          <a:ext cx="0" cy="0"/>
          <a:chOff x="0" y="0"/>
          <a:chExt cx="0" cy="0"/>
        </a:xfrm>
      </p:grpSpPr>
      <p:sp>
        <p:nvSpPr>
          <p:cNvPr id="2" name="Text 0"/>
          <p:cNvSpPr txBox="1"/>
          <p:nvPr/>
        </p:nvSpPr>
        <p:spPr>
          <a:xfrm>
            <a:off x="731520" y="2011680"/>
            <a:ext cx="10515600" cy="109728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Prison capacity in six diagrams</a:t>
            </a:r>
            <a:endParaRPr lang="en-US" sz="4200" dirty="0"/>
          </a:p>
        </p:txBody>
      </p:sp>
      <p:sp>
        <p:nvSpPr>
          <p:cNvPr id="3" name="Text 1"/>
          <p:cNvSpPr txBox="1"/>
          <p:nvPr/>
        </p:nvSpPr>
        <p:spPr>
          <a:xfrm>
            <a:off x="731520" y="3108960"/>
            <a:ext cx="10058400" cy="822960"/>
          </a:xfrm>
          <a:prstGeom prst="rect">
            <a:avLst/>
          </a:prstGeom>
          <a:noFill/>
          <a:ln/>
        </p:spPr>
        <p:txBody>
          <a:bodyPr wrap="square" lIns="0" tIns="0" rIns="0" bIns="0" rtlCol="0" anchor="ctr"/>
          <a:lstStyle/>
          <a:p>
            <a:pPr indent="0" marL="0">
              <a:buNone/>
            </a:pPr>
            <a:r>
              <a:rPr lang="en-US" sz="1800" dirty="0">
                <a:solidFill>
                  <a:srgbClr val="E4E7EB"/>
                </a:solidFill>
                <a:latin typeface="Calibri" pitchFamily="34" charset="0"/>
                <a:ea typeface="Calibri" pitchFamily="34" charset="-122"/>
                <a:cs typeface="Calibri" pitchFamily="34" charset="-120"/>
              </a:rPr>
              <a:t>The mechanisms behind fifteen years of flat prisons, failed projections and repeated emergency release</a:t>
            </a:r>
            <a:endParaRPr lang="en-US" sz="1800" dirty="0"/>
          </a:p>
        </p:txBody>
      </p:sp>
      <p:sp>
        <p:nvSpPr>
          <p:cNvPr id="4" name="Text 2"/>
          <p:cNvSpPr txBox="1"/>
          <p:nvPr/>
        </p:nvSpPr>
        <p:spPr>
          <a:xfrm>
            <a:off x="731520" y="5486400"/>
            <a:ext cx="10058400" cy="365760"/>
          </a:xfrm>
          <a:prstGeom prst="rect">
            <a:avLst/>
          </a:prstGeom>
          <a:noFill/>
          <a:ln/>
        </p:spPr>
        <p:txBody>
          <a:bodyPr wrap="square" lIns="0" tIns="0" rIns="0" bIns="0" rtlCol="0" anchor="ctr"/>
          <a:lstStyle/>
          <a:p>
            <a:pPr indent="0" marL="0">
              <a:buNone/>
            </a:pPr>
            <a:r>
              <a:rPr lang="en-US" sz="1200" dirty="0">
                <a:solidFill>
                  <a:srgbClr val="7B8794"/>
                </a:solidFill>
                <a:latin typeface="Calibri" pitchFamily="34" charset="0"/>
                <a:ea typeface="Calibri" pitchFamily="34" charset="-122"/>
                <a:cs typeface="Calibri" pitchFamily="34" charset="-120"/>
              </a:rPr>
              <a:t>Walk Forward Research, 4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1. How the projections were scored: walk forward, edition by edition</a:t>
            </a:r>
            <a:endParaRPr lang="en-US" sz="3000" dirty="0"/>
          </a:p>
        </p:txBody>
      </p:sp>
      <p:sp>
        <p:nvSpPr>
          <p:cNvPr id="3" name="Shape 1"/>
          <p:cNvSpPr/>
          <p:nvPr/>
        </p:nvSpPr>
        <p:spPr>
          <a:xfrm>
            <a:off x="822960" y="4846320"/>
            <a:ext cx="7040880" cy="9144"/>
          </a:xfrm>
          <a:prstGeom prst="line">
            <a:avLst/>
          </a:prstGeom>
          <a:noFill/>
          <a:ln w="19050">
            <a:solidFill>
              <a:srgbClr val="7B8794"/>
            </a:solidFill>
            <a:prstDash val="solid"/>
            <a:tailEnd type="triangle"/>
          </a:ln>
        </p:spPr>
      </p:sp>
      <p:sp>
        <p:nvSpPr>
          <p:cNvPr id="4" name="Text 2"/>
          <p:cNvSpPr txBox="1"/>
          <p:nvPr/>
        </p:nvSpPr>
        <p:spPr>
          <a:xfrm>
            <a:off x="594360" y="4919472"/>
            <a:ext cx="548640" cy="274320"/>
          </a:xfrm>
          <a:prstGeom prst="rect">
            <a:avLst/>
          </a:prstGeom>
          <a:noFill/>
          <a:ln/>
        </p:spPr>
        <p:txBody>
          <a:bodyPr wrap="square" lIns="0" tIns="0" rIns="0" bIns="0" rtlCol="0" anchor="t"/>
          <a:lstStyle/>
          <a:p>
            <a:pPr algn="ctr" indent="0" marL="0">
              <a:buNone/>
            </a:pPr>
            <a:r>
              <a:rPr lang="en-US" sz="900" dirty="0">
                <a:solidFill>
                  <a:srgbClr val="7B8794"/>
                </a:solidFill>
                <a:latin typeface="Calibri" pitchFamily="34" charset="0"/>
                <a:ea typeface="Calibri" pitchFamily="34" charset="-122"/>
                <a:cs typeface="Calibri" pitchFamily="34" charset="-120"/>
              </a:rPr>
              <a:t>2008</a:t>
            </a:r>
            <a:endParaRPr lang="en-US" sz="900" dirty="0"/>
          </a:p>
        </p:txBody>
      </p:sp>
      <p:sp>
        <p:nvSpPr>
          <p:cNvPr id="5" name="Text 3"/>
          <p:cNvSpPr txBox="1"/>
          <p:nvPr/>
        </p:nvSpPr>
        <p:spPr>
          <a:xfrm>
            <a:off x="2286000" y="4919472"/>
            <a:ext cx="548640" cy="274320"/>
          </a:xfrm>
          <a:prstGeom prst="rect">
            <a:avLst/>
          </a:prstGeom>
          <a:noFill/>
          <a:ln/>
        </p:spPr>
        <p:txBody>
          <a:bodyPr wrap="square" lIns="0" tIns="0" rIns="0" bIns="0" rtlCol="0" anchor="t"/>
          <a:lstStyle/>
          <a:p>
            <a:pPr algn="ctr" indent="0" marL="0">
              <a:buNone/>
            </a:pPr>
            <a:r>
              <a:rPr lang="en-US" sz="900" dirty="0">
                <a:solidFill>
                  <a:srgbClr val="7B8794"/>
                </a:solidFill>
                <a:latin typeface="Calibri" pitchFamily="34" charset="0"/>
                <a:ea typeface="Calibri" pitchFamily="34" charset="-122"/>
                <a:cs typeface="Calibri" pitchFamily="34" charset="-120"/>
              </a:rPr>
              <a:t>2012</a:t>
            </a:r>
            <a:endParaRPr lang="en-US" sz="900" dirty="0"/>
          </a:p>
        </p:txBody>
      </p:sp>
      <p:sp>
        <p:nvSpPr>
          <p:cNvPr id="6" name="Text 4"/>
          <p:cNvSpPr txBox="1"/>
          <p:nvPr/>
        </p:nvSpPr>
        <p:spPr>
          <a:xfrm>
            <a:off x="3977640" y="4919472"/>
            <a:ext cx="548640" cy="274320"/>
          </a:xfrm>
          <a:prstGeom prst="rect">
            <a:avLst/>
          </a:prstGeom>
          <a:noFill/>
          <a:ln/>
        </p:spPr>
        <p:txBody>
          <a:bodyPr wrap="square" lIns="0" tIns="0" rIns="0" bIns="0" rtlCol="0" anchor="t"/>
          <a:lstStyle/>
          <a:p>
            <a:pPr algn="ctr" indent="0" marL="0">
              <a:buNone/>
            </a:pPr>
            <a:r>
              <a:rPr lang="en-US" sz="900" dirty="0">
                <a:solidFill>
                  <a:srgbClr val="7B8794"/>
                </a:solidFill>
                <a:latin typeface="Calibri" pitchFamily="34" charset="0"/>
                <a:ea typeface="Calibri" pitchFamily="34" charset="-122"/>
                <a:cs typeface="Calibri" pitchFamily="34" charset="-120"/>
              </a:rPr>
              <a:t>2016</a:t>
            </a:r>
            <a:endParaRPr lang="en-US" sz="900" dirty="0"/>
          </a:p>
        </p:txBody>
      </p:sp>
      <p:sp>
        <p:nvSpPr>
          <p:cNvPr id="7" name="Text 5"/>
          <p:cNvSpPr txBox="1"/>
          <p:nvPr/>
        </p:nvSpPr>
        <p:spPr>
          <a:xfrm>
            <a:off x="5669280" y="4919472"/>
            <a:ext cx="548640" cy="274320"/>
          </a:xfrm>
          <a:prstGeom prst="rect">
            <a:avLst/>
          </a:prstGeom>
          <a:noFill/>
          <a:ln/>
        </p:spPr>
        <p:txBody>
          <a:bodyPr wrap="square" lIns="0" tIns="0" rIns="0" bIns="0" rtlCol="0" anchor="t"/>
          <a:lstStyle/>
          <a:p>
            <a:pPr algn="ctr" indent="0" marL="0">
              <a:buNone/>
            </a:pPr>
            <a:r>
              <a:rPr lang="en-US" sz="900" dirty="0">
                <a:solidFill>
                  <a:srgbClr val="7B8794"/>
                </a:solidFill>
                <a:latin typeface="Calibri" pitchFamily="34" charset="0"/>
                <a:ea typeface="Calibri" pitchFamily="34" charset="-122"/>
                <a:cs typeface="Calibri" pitchFamily="34" charset="-120"/>
              </a:rPr>
              <a:t>2020</a:t>
            </a:r>
            <a:endParaRPr lang="en-US" sz="900" dirty="0"/>
          </a:p>
        </p:txBody>
      </p:sp>
      <p:sp>
        <p:nvSpPr>
          <p:cNvPr id="8" name="Text 6"/>
          <p:cNvSpPr txBox="1"/>
          <p:nvPr/>
        </p:nvSpPr>
        <p:spPr>
          <a:xfrm>
            <a:off x="7360920" y="4919472"/>
            <a:ext cx="548640" cy="274320"/>
          </a:xfrm>
          <a:prstGeom prst="rect">
            <a:avLst/>
          </a:prstGeom>
          <a:noFill/>
          <a:ln/>
        </p:spPr>
        <p:txBody>
          <a:bodyPr wrap="square" lIns="0" tIns="0" rIns="0" bIns="0" rtlCol="0" anchor="t"/>
          <a:lstStyle/>
          <a:p>
            <a:pPr algn="ctr" indent="0" marL="0">
              <a:buNone/>
            </a:pPr>
            <a:r>
              <a:rPr lang="en-US" sz="900" dirty="0">
                <a:solidFill>
                  <a:srgbClr val="7B8794"/>
                </a:solidFill>
                <a:latin typeface="Calibri" pitchFamily="34" charset="0"/>
                <a:ea typeface="Calibri" pitchFamily="34" charset="-122"/>
                <a:cs typeface="Calibri" pitchFamily="34" charset="-120"/>
              </a:rPr>
              <a:t>2024</a:t>
            </a:r>
            <a:endParaRPr lang="en-US" sz="900" dirty="0"/>
          </a:p>
        </p:txBody>
      </p:sp>
      <p:sp>
        <p:nvSpPr>
          <p:cNvPr id="9" name="Shape 7"/>
          <p:cNvSpPr/>
          <p:nvPr/>
        </p:nvSpPr>
        <p:spPr>
          <a:xfrm flipV="1">
            <a:off x="822960" y="2926080"/>
            <a:ext cx="822960" cy="182880"/>
          </a:xfrm>
          <a:prstGeom prst="line">
            <a:avLst/>
          </a:prstGeom>
          <a:noFill/>
          <a:ln w="38100">
            <a:solidFill>
              <a:srgbClr val="1F2933"/>
            </a:solidFill>
            <a:prstDash val="solid"/>
          </a:ln>
        </p:spPr>
      </p:sp>
      <p:sp>
        <p:nvSpPr>
          <p:cNvPr id="10" name="Shape 8"/>
          <p:cNvSpPr/>
          <p:nvPr/>
        </p:nvSpPr>
        <p:spPr>
          <a:xfrm>
            <a:off x="1645920" y="2926080"/>
            <a:ext cx="822960" cy="320040"/>
          </a:xfrm>
          <a:prstGeom prst="line">
            <a:avLst/>
          </a:prstGeom>
          <a:noFill/>
          <a:ln w="38100">
            <a:solidFill>
              <a:srgbClr val="1F2933"/>
            </a:solidFill>
            <a:prstDash val="solid"/>
          </a:ln>
        </p:spPr>
      </p:sp>
      <p:sp>
        <p:nvSpPr>
          <p:cNvPr id="11" name="Shape 9"/>
          <p:cNvSpPr/>
          <p:nvPr/>
        </p:nvSpPr>
        <p:spPr>
          <a:xfrm flipV="1">
            <a:off x="2468880" y="3154680"/>
            <a:ext cx="822960" cy="91440"/>
          </a:xfrm>
          <a:prstGeom prst="line">
            <a:avLst/>
          </a:prstGeom>
          <a:noFill/>
          <a:ln w="38100">
            <a:solidFill>
              <a:srgbClr val="1F2933"/>
            </a:solidFill>
            <a:prstDash val="solid"/>
          </a:ln>
        </p:spPr>
      </p:sp>
      <p:sp>
        <p:nvSpPr>
          <p:cNvPr id="12" name="Shape 10"/>
          <p:cNvSpPr/>
          <p:nvPr/>
        </p:nvSpPr>
        <p:spPr>
          <a:xfrm flipV="1">
            <a:off x="3291840" y="3017520"/>
            <a:ext cx="822960" cy="137160"/>
          </a:xfrm>
          <a:prstGeom prst="line">
            <a:avLst/>
          </a:prstGeom>
          <a:noFill/>
          <a:ln w="38100">
            <a:solidFill>
              <a:srgbClr val="1F2933"/>
            </a:solidFill>
            <a:prstDash val="solid"/>
          </a:ln>
        </p:spPr>
      </p:sp>
      <p:sp>
        <p:nvSpPr>
          <p:cNvPr id="13" name="Shape 11"/>
          <p:cNvSpPr/>
          <p:nvPr/>
        </p:nvSpPr>
        <p:spPr>
          <a:xfrm>
            <a:off x="4114800" y="3017520"/>
            <a:ext cx="457200" cy="1005840"/>
          </a:xfrm>
          <a:prstGeom prst="line">
            <a:avLst/>
          </a:prstGeom>
          <a:noFill/>
          <a:ln w="38100">
            <a:solidFill>
              <a:srgbClr val="1F2933"/>
            </a:solidFill>
            <a:prstDash val="solid"/>
          </a:ln>
        </p:spPr>
      </p:sp>
      <p:sp>
        <p:nvSpPr>
          <p:cNvPr id="14" name="Shape 12"/>
          <p:cNvSpPr/>
          <p:nvPr/>
        </p:nvSpPr>
        <p:spPr>
          <a:xfrm flipV="1">
            <a:off x="4572000" y="3749040"/>
            <a:ext cx="548640" cy="274320"/>
          </a:xfrm>
          <a:prstGeom prst="line">
            <a:avLst/>
          </a:prstGeom>
          <a:noFill/>
          <a:ln w="38100">
            <a:solidFill>
              <a:srgbClr val="1F2933"/>
            </a:solidFill>
            <a:prstDash val="solid"/>
          </a:ln>
        </p:spPr>
      </p:sp>
      <p:sp>
        <p:nvSpPr>
          <p:cNvPr id="15" name="Shape 13"/>
          <p:cNvSpPr/>
          <p:nvPr/>
        </p:nvSpPr>
        <p:spPr>
          <a:xfrm flipV="1">
            <a:off x="5120640" y="2788920"/>
            <a:ext cx="731520" cy="960120"/>
          </a:xfrm>
          <a:prstGeom prst="line">
            <a:avLst/>
          </a:prstGeom>
          <a:noFill/>
          <a:ln w="38100">
            <a:solidFill>
              <a:srgbClr val="1F2933"/>
            </a:solidFill>
            <a:prstDash val="solid"/>
          </a:ln>
        </p:spPr>
      </p:sp>
      <p:sp>
        <p:nvSpPr>
          <p:cNvPr id="16" name="Shape 14"/>
          <p:cNvSpPr/>
          <p:nvPr/>
        </p:nvSpPr>
        <p:spPr>
          <a:xfrm>
            <a:off x="5852160" y="2788920"/>
            <a:ext cx="822960" cy="91440"/>
          </a:xfrm>
          <a:prstGeom prst="line">
            <a:avLst/>
          </a:prstGeom>
          <a:noFill/>
          <a:ln w="38100">
            <a:solidFill>
              <a:srgbClr val="1F2933"/>
            </a:solidFill>
            <a:prstDash val="solid"/>
          </a:ln>
        </p:spPr>
      </p:sp>
      <p:sp>
        <p:nvSpPr>
          <p:cNvPr id="17" name="Shape 15"/>
          <p:cNvSpPr/>
          <p:nvPr/>
        </p:nvSpPr>
        <p:spPr>
          <a:xfrm flipV="1">
            <a:off x="6675120" y="2834640"/>
            <a:ext cx="914400" cy="45720"/>
          </a:xfrm>
          <a:prstGeom prst="line">
            <a:avLst/>
          </a:prstGeom>
          <a:noFill/>
          <a:ln w="38100">
            <a:solidFill>
              <a:srgbClr val="1F2933"/>
            </a:solidFill>
            <a:prstDash val="solid"/>
          </a:ln>
        </p:spPr>
      </p:sp>
      <p:sp>
        <p:nvSpPr>
          <p:cNvPr id="18" name="Text 16"/>
          <p:cNvSpPr txBox="1"/>
          <p:nvPr/>
        </p:nvSpPr>
        <p:spPr>
          <a:xfrm>
            <a:off x="7635240" y="2697480"/>
            <a:ext cx="1463040" cy="274320"/>
          </a:xfrm>
          <a:prstGeom prst="rect">
            <a:avLst/>
          </a:prstGeom>
          <a:noFill/>
          <a:ln/>
        </p:spPr>
        <p:txBody>
          <a:bodyPr wrap="square" lIns="0" tIns="0" rIns="0" bIns="0" rtlCol="0" anchor="t"/>
          <a:lstStyle/>
          <a:p>
            <a:pPr algn="l" indent="0" marL="0">
              <a:buNone/>
            </a:pPr>
            <a:r>
              <a:rPr lang="en-US" sz="1000" b="1" dirty="0">
                <a:solidFill>
                  <a:srgbClr val="1F2933"/>
                </a:solidFill>
                <a:latin typeface="Calibri" pitchFamily="34" charset="0"/>
                <a:ea typeface="Calibri" pitchFamily="34" charset="-122"/>
                <a:cs typeface="Calibri" pitchFamily="34" charset="-120"/>
              </a:rPr>
              <a:t>Outturn</a:t>
            </a:r>
            <a:endParaRPr lang="en-US" sz="1000" dirty="0"/>
          </a:p>
        </p:txBody>
      </p:sp>
      <p:sp>
        <p:nvSpPr>
          <p:cNvPr id="19" name="Shape 17"/>
          <p:cNvSpPr/>
          <p:nvPr/>
        </p:nvSpPr>
        <p:spPr>
          <a:xfrm>
            <a:off x="1572768" y="2852928"/>
            <a:ext cx="146304" cy="146304"/>
          </a:xfrm>
          <a:prstGeom prst="ellipse">
            <a:avLst/>
          </a:prstGeom>
          <a:solidFill>
            <a:srgbClr val="B03A2E"/>
          </a:solidFill>
          <a:ln w="12700">
            <a:solidFill>
              <a:srgbClr val="B03A2E"/>
            </a:solidFill>
            <a:prstDash val="solid"/>
          </a:ln>
        </p:spPr>
      </p:sp>
      <p:sp>
        <p:nvSpPr>
          <p:cNvPr id="20" name="Shape 18"/>
          <p:cNvSpPr/>
          <p:nvPr/>
        </p:nvSpPr>
        <p:spPr>
          <a:xfrm flipV="1">
            <a:off x="1645920" y="1920240"/>
            <a:ext cx="1828800" cy="1005840"/>
          </a:xfrm>
          <a:prstGeom prst="line">
            <a:avLst/>
          </a:prstGeom>
          <a:noFill/>
          <a:ln w="25400">
            <a:solidFill>
              <a:srgbClr val="B03A2E"/>
            </a:solidFill>
            <a:prstDash val="solid"/>
            <a:tailEnd type="triangle"/>
          </a:ln>
        </p:spPr>
      </p:sp>
      <p:sp>
        <p:nvSpPr>
          <p:cNvPr id="21" name="Shape 19"/>
          <p:cNvSpPr/>
          <p:nvPr/>
        </p:nvSpPr>
        <p:spPr>
          <a:xfrm>
            <a:off x="1645920" y="2926080"/>
            <a:ext cx="1828800" cy="9144"/>
          </a:xfrm>
          <a:prstGeom prst="line">
            <a:avLst/>
          </a:prstGeom>
          <a:noFill/>
          <a:ln w="19050">
            <a:solidFill>
              <a:srgbClr val="7B8794"/>
            </a:solidFill>
            <a:prstDash val="dash"/>
            <a:tailEnd type="triangle"/>
          </a:ln>
        </p:spPr>
      </p:sp>
      <p:sp>
        <p:nvSpPr>
          <p:cNvPr id="22" name="Text 20"/>
          <p:cNvSpPr txBox="1"/>
          <p:nvPr/>
        </p:nvSpPr>
        <p:spPr>
          <a:xfrm>
            <a:off x="1280160" y="3035808"/>
            <a:ext cx="1097280" cy="274320"/>
          </a:xfrm>
          <a:prstGeom prst="rect">
            <a:avLst/>
          </a:prstGeom>
          <a:noFill/>
          <a:ln/>
        </p:spPr>
        <p:txBody>
          <a:bodyPr wrap="square" lIns="0" tIns="0" rIns="0" bIns="0" rtlCol="0" anchor="t"/>
          <a:lstStyle/>
          <a:p>
            <a:pPr algn="ctr" indent="0" marL="0">
              <a:buNone/>
            </a:pPr>
            <a:r>
              <a:rPr lang="en-US" sz="900" dirty="0">
                <a:solidFill>
                  <a:srgbClr val="B03A2E"/>
                </a:solidFill>
                <a:latin typeface="Calibri" pitchFamily="34" charset="0"/>
                <a:ea typeface="Calibri" pitchFamily="34" charset="-122"/>
                <a:cs typeface="Calibri" pitchFamily="34" charset="-120"/>
              </a:rPr>
              <a:t>2012 edition</a:t>
            </a:r>
            <a:endParaRPr lang="en-US" sz="900" dirty="0"/>
          </a:p>
        </p:txBody>
      </p:sp>
      <p:sp>
        <p:nvSpPr>
          <p:cNvPr id="23" name="Shape 21"/>
          <p:cNvSpPr/>
          <p:nvPr/>
        </p:nvSpPr>
        <p:spPr>
          <a:xfrm>
            <a:off x="4041648" y="2944368"/>
            <a:ext cx="146304" cy="146304"/>
          </a:xfrm>
          <a:prstGeom prst="ellipse">
            <a:avLst/>
          </a:prstGeom>
          <a:solidFill>
            <a:srgbClr val="B03A2E"/>
          </a:solidFill>
          <a:ln w="12700">
            <a:solidFill>
              <a:srgbClr val="B03A2E"/>
            </a:solidFill>
            <a:prstDash val="solid"/>
          </a:ln>
        </p:spPr>
      </p:sp>
      <p:sp>
        <p:nvSpPr>
          <p:cNvPr id="24" name="Shape 22"/>
          <p:cNvSpPr/>
          <p:nvPr/>
        </p:nvSpPr>
        <p:spPr>
          <a:xfrm flipV="1">
            <a:off x="4114800" y="2011680"/>
            <a:ext cx="1828800" cy="1005840"/>
          </a:xfrm>
          <a:prstGeom prst="line">
            <a:avLst/>
          </a:prstGeom>
          <a:noFill/>
          <a:ln w="25400">
            <a:solidFill>
              <a:srgbClr val="B03A2E"/>
            </a:solidFill>
            <a:prstDash val="solid"/>
            <a:tailEnd type="triangle"/>
          </a:ln>
        </p:spPr>
      </p:sp>
      <p:sp>
        <p:nvSpPr>
          <p:cNvPr id="25" name="Shape 23"/>
          <p:cNvSpPr/>
          <p:nvPr/>
        </p:nvSpPr>
        <p:spPr>
          <a:xfrm>
            <a:off x="4114800" y="3017520"/>
            <a:ext cx="1828800" cy="9144"/>
          </a:xfrm>
          <a:prstGeom prst="line">
            <a:avLst/>
          </a:prstGeom>
          <a:noFill/>
          <a:ln w="19050">
            <a:solidFill>
              <a:srgbClr val="7B8794"/>
            </a:solidFill>
            <a:prstDash val="dash"/>
            <a:tailEnd type="triangle"/>
          </a:ln>
        </p:spPr>
      </p:sp>
      <p:sp>
        <p:nvSpPr>
          <p:cNvPr id="26" name="Text 24"/>
          <p:cNvSpPr txBox="1"/>
          <p:nvPr/>
        </p:nvSpPr>
        <p:spPr>
          <a:xfrm>
            <a:off x="3749040" y="3127248"/>
            <a:ext cx="1097280" cy="274320"/>
          </a:xfrm>
          <a:prstGeom prst="rect">
            <a:avLst/>
          </a:prstGeom>
          <a:noFill/>
          <a:ln/>
        </p:spPr>
        <p:txBody>
          <a:bodyPr wrap="square" lIns="0" tIns="0" rIns="0" bIns="0" rtlCol="0" anchor="t"/>
          <a:lstStyle/>
          <a:p>
            <a:pPr algn="ctr" indent="0" marL="0">
              <a:buNone/>
            </a:pPr>
            <a:r>
              <a:rPr lang="en-US" sz="900" dirty="0">
                <a:solidFill>
                  <a:srgbClr val="B03A2E"/>
                </a:solidFill>
                <a:latin typeface="Calibri" pitchFamily="34" charset="0"/>
                <a:ea typeface="Calibri" pitchFamily="34" charset="-122"/>
                <a:cs typeface="Calibri" pitchFamily="34" charset="-120"/>
              </a:rPr>
              <a:t>2016 edition</a:t>
            </a:r>
            <a:endParaRPr lang="en-US" sz="900" dirty="0"/>
          </a:p>
        </p:txBody>
      </p:sp>
      <p:sp>
        <p:nvSpPr>
          <p:cNvPr id="27" name="Shape 25"/>
          <p:cNvSpPr/>
          <p:nvPr/>
        </p:nvSpPr>
        <p:spPr>
          <a:xfrm>
            <a:off x="5779008" y="2715768"/>
            <a:ext cx="146304" cy="146304"/>
          </a:xfrm>
          <a:prstGeom prst="ellipse">
            <a:avLst/>
          </a:prstGeom>
          <a:solidFill>
            <a:srgbClr val="B03A2E"/>
          </a:solidFill>
          <a:ln w="12700">
            <a:solidFill>
              <a:srgbClr val="B03A2E"/>
            </a:solidFill>
            <a:prstDash val="solid"/>
          </a:ln>
        </p:spPr>
      </p:sp>
      <p:sp>
        <p:nvSpPr>
          <p:cNvPr id="28" name="Shape 26"/>
          <p:cNvSpPr/>
          <p:nvPr/>
        </p:nvSpPr>
        <p:spPr>
          <a:xfrm flipV="1">
            <a:off x="5852160" y="1783080"/>
            <a:ext cx="1828800" cy="1005840"/>
          </a:xfrm>
          <a:prstGeom prst="line">
            <a:avLst/>
          </a:prstGeom>
          <a:noFill/>
          <a:ln w="25400">
            <a:solidFill>
              <a:srgbClr val="B03A2E"/>
            </a:solidFill>
            <a:prstDash val="solid"/>
            <a:tailEnd type="triangle"/>
          </a:ln>
        </p:spPr>
      </p:sp>
      <p:sp>
        <p:nvSpPr>
          <p:cNvPr id="29" name="Shape 27"/>
          <p:cNvSpPr/>
          <p:nvPr/>
        </p:nvSpPr>
        <p:spPr>
          <a:xfrm>
            <a:off x="5852160" y="2788920"/>
            <a:ext cx="1828800" cy="9144"/>
          </a:xfrm>
          <a:prstGeom prst="line">
            <a:avLst/>
          </a:prstGeom>
          <a:noFill/>
          <a:ln w="19050">
            <a:solidFill>
              <a:srgbClr val="7B8794"/>
            </a:solidFill>
            <a:prstDash val="dash"/>
            <a:tailEnd type="triangle"/>
          </a:ln>
        </p:spPr>
      </p:sp>
      <p:sp>
        <p:nvSpPr>
          <p:cNvPr id="30" name="Text 28"/>
          <p:cNvSpPr txBox="1"/>
          <p:nvPr/>
        </p:nvSpPr>
        <p:spPr>
          <a:xfrm>
            <a:off x="5486400" y="2898648"/>
            <a:ext cx="1097280" cy="274320"/>
          </a:xfrm>
          <a:prstGeom prst="rect">
            <a:avLst/>
          </a:prstGeom>
          <a:noFill/>
          <a:ln/>
        </p:spPr>
        <p:txBody>
          <a:bodyPr wrap="square" lIns="0" tIns="0" rIns="0" bIns="0" rtlCol="0" anchor="t"/>
          <a:lstStyle/>
          <a:p>
            <a:pPr algn="ctr" indent="0" marL="0">
              <a:buNone/>
            </a:pPr>
            <a:r>
              <a:rPr lang="en-US" sz="900" dirty="0">
                <a:solidFill>
                  <a:srgbClr val="B03A2E"/>
                </a:solidFill>
                <a:latin typeface="Calibri" pitchFamily="34" charset="0"/>
                <a:ea typeface="Calibri" pitchFamily="34" charset="-122"/>
                <a:cs typeface="Calibri" pitchFamily="34" charset="-120"/>
              </a:rPr>
              <a:t>2020 edition</a:t>
            </a:r>
            <a:endParaRPr lang="en-US" sz="900" dirty="0"/>
          </a:p>
        </p:txBody>
      </p:sp>
      <p:sp>
        <p:nvSpPr>
          <p:cNvPr id="31" name="Shape 29"/>
          <p:cNvSpPr/>
          <p:nvPr/>
        </p:nvSpPr>
        <p:spPr>
          <a:xfrm>
            <a:off x="5943600" y="2011680"/>
            <a:ext cx="9144" cy="1691640"/>
          </a:xfrm>
          <a:prstGeom prst="line">
            <a:avLst/>
          </a:prstGeom>
          <a:noFill/>
          <a:ln w="25400">
            <a:solidFill>
              <a:srgbClr val="C8963E"/>
            </a:solidFill>
            <a:prstDash val="solid"/>
          </a:ln>
        </p:spPr>
      </p:sp>
      <p:sp>
        <p:nvSpPr>
          <p:cNvPr id="32" name="Text 30"/>
          <p:cNvSpPr txBox="1"/>
          <p:nvPr/>
        </p:nvSpPr>
        <p:spPr>
          <a:xfrm>
            <a:off x="6035040" y="1920240"/>
            <a:ext cx="1463040" cy="548640"/>
          </a:xfrm>
          <a:prstGeom prst="rect">
            <a:avLst/>
          </a:prstGeom>
          <a:noFill/>
          <a:ln/>
        </p:spPr>
        <p:txBody>
          <a:bodyPr wrap="square" lIns="0" tIns="0" rIns="0" bIns="0" rtlCol="0" anchor="t"/>
          <a:lstStyle/>
          <a:p>
            <a:pPr algn="l" indent="0" marL="0">
              <a:buNone/>
            </a:pPr>
            <a:r>
              <a:rPr lang="en-US" sz="900" dirty="0">
                <a:solidFill>
                  <a:srgbClr val="C8963E"/>
                </a:solidFill>
                <a:latin typeface="Calibri" pitchFamily="34" charset="0"/>
                <a:ea typeface="Calibri" pitchFamily="34" charset="-122"/>
                <a:cs typeface="Calibri" pitchFamily="34" charset="-120"/>
              </a:rPr>
              <a:t>error at 3 years: projection minus outturn</a:t>
            </a:r>
            <a:endParaRPr lang="en-US" sz="900" dirty="0"/>
          </a:p>
        </p:txBody>
      </p:sp>
      <p:sp>
        <p:nvSpPr>
          <p:cNvPr id="33" name="Text 31"/>
          <p:cNvSpPr txBox="1"/>
          <p:nvPr/>
        </p:nvSpPr>
        <p:spPr>
          <a:xfrm>
            <a:off x="3566160" y="1371600"/>
            <a:ext cx="2743200" cy="365760"/>
          </a:xfrm>
          <a:prstGeom prst="rect">
            <a:avLst/>
          </a:prstGeom>
          <a:noFill/>
          <a:ln/>
        </p:spPr>
        <p:txBody>
          <a:bodyPr wrap="square" lIns="0" tIns="0" rIns="0" bIns="0" rtlCol="0" anchor="t"/>
          <a:lstStyle/>
          <a:p>
            <a:pPr algn="l" indent="0" marL="0">
              <a:buNone/>
            </a:pPr>
            <a:r>
              <a:rPr lang="en-US" sz="1000" i="1" dirty="0">
                <a:solidFill>
                  <a:srgbClr val="7B8794"/>
                </a:solidFill>
                <a:latin typeface="Calibri" pitchFamily="34" charset="0"/>
                <a:ea typeface="Calibri" pitchFamily="34" charset="-122"/>
                <a:cs typeface="Calibri" pitchFamily="34" charset="-120"/>
              </a:rPr>
              <a:t>central path (red) vs no-change (dashed)</a:t>
            </a:r>
            <a:endParaRPr lang="en-US" sz="1000" dirty="0"/>
          </a:p>
        </p:txBody>
      </p:sp>
      <p:sp>
        <p:nvSpPr>
          <p:cNvPr id="34" name="Shape 32"/>
          <p:cNvSpPr/>
          <p:nvPr/>
        </p:nvSpPr>
        <p:spPr>
          <a:xfrm>
            <a:off x="8229600" y="1371600"/>
            <a:ext cx="3383280" cy="1051560"/>
          </a:xfrm>
          <a:prstGeom prst="rect">
            <a:avLst/>
          </a:prstGeom>
          <a:solidFill>
            <a:srgbClr val="F5F6F4"/>
          </a:solidFill>
          <a:ln w="12700">
            <a:solidFill>
              <a:srgbClr val="F5F6F4"/>
            </a:solidFill>
            <a:prstDash val="solid"/>
          </a:ln>
        </p:spPr>
      </p:sp>
      <p:sp>
        <p:nvSpPr>
          <p:cNvPr id="35" name="Text 33"/>
          <p:cNvSpPr txBox="1"/>
          <p:nvPr/>
        </p:nvSpPr>
        <p:spPr>
          <a:xfrm>
            <a:off x="8321040" y="1371600"/>
            <a:ext cx="3200400" cy="1051560"/>
          </a:xfrm>
          <a:prstGeom prst="rect">
            <a:avLst/>
          </a:prstGeom>
          <a:noFill/>
          <a:ln/>
        </p:spPr>
        <p:txBody>
          <a:bodyPr wrap="square" lIns="0" tIns="0" rIns="0" bIns="0" rtlCol="0" anchor="ctr"/>
          <a:lstStyle/>
          <a:p>
            <a:pPr algn="l" indent="0" marL="0">
              <a:buNone/>
            </a:pPr>
            <a:r>
              <a:rPr lang="en-US" sz="1100" dirty="0">
                <a:solidFill>
                  <a:srgbClr val="323F4B"/>
                </a:solidFill>
                <a:latin typeface="Calibri" pitchFamily="34" charset="0"/>
                <a:ea typeface="Calibri" pitchFamily="34" charset="-122"/>
                <a:cs typeface="Calibri" pitchFamily="34" charset="-120"/>
              </a:rPr>
              <a:t>Every edition since 2008. Every published horizon, one to six years. Outturn from the MoJ’s own weekly bulletins, interpolated to the published reference date.</a:t>
            </a:r>
            <a:endParaRPr lang="en-US" sz="1100" dirty="0"/>
          </a:p>
        </p:txBody>
      </p:sp>
      <p:sp>
        <p:nvSpPr>
          <p:cNvPr id="36" name="Shape 34"/>
          <p:cNvSpPr/>
          <p:nvPr/>
        </p:nvSpPr>
        <p:spPr>
          <a:xfrm>
            <a:off x="8229600" y="2560320"/>
            <a:ext cx="3383280" cy="914400"/>
          </a:xfrm>
          <a:prstGeom prst="rect">
            <a:avLst/>
          </a:prstGeom>
          <a:solidFill>
            <a:srgbClr val="F5F6F4"/>
          </a:solidFill>
          <a:ln w="12700">
            <a:solidFill>
              <a:srgbClr val="F5F6F4"/>
            </a:solidFill>
            <a:prstDash val="solid"/>
          </a:ln>
        </p:spPr>
      </p:sp>
      <p:sp>
        <p:nvSpPr>
          <p:cNvPr id="37" name="Text 35"/>
          <p:cNvSpPr txBox="1"/>
          <p:nvPr/>
        </p:nvSpPr>
        <p:spPr>
          <a:xfrm>
            <a:off x="8321040" y="2560320"/>
            <a:ext cx="3200400" cy="914400"/>
          </a:xfrm>
          <a:prstGeom prst="rect">
            <a:avLst/>
          </a:prstGeom>
          <a:noFill/>
          <a:ln/>
        </p:spPr>
        <p:txBody>
          <a:bodyPr wrap="square" lIns="0" tIns="0" rIns="0" bIns="0" rtlCol="0" anchor="ctr"/>
          <a:lstStyle/>
          <a:p>
            <a:pPr algn="l" indent="0" marL="0">
              <a:buNone/>
            </a:pPr>
            <a:r>
              <a:rPr lang="en-US" sz="1100" dirty="0">
                <a:solidFill>
                  <a:srgbClr val="323F4B"/>
                </a:solidFill>
                <a:latin typeface="Calibri" pitchFamily="34" charset="0"/>
                <a:ea typeface="Calibri" pitchFamily="34" charset="-122"/>
                <a:cs typeface="Calibri" pitchFamily="34" charset="-120"/>
              </a:rPr>
              <a:t>Benchmark: a forecaster with no model who carries the current population forward unchanged. Same targets, same information.</a:t>
            </a:r>
            <a:endParaRPr lang="en-US" sz="1100" dirty="0"/>
          </a:p>
        </p:txBody>
      </p:sp>
      <p:sp>
        <p:nvSpPr>
          <p:cNvPr id="38" name="Text 36"/>
          <p:cNvSpPr txBox="1"/>
          <p:nvPr/>
        </p:nvSpPr>
        <p:spPr>
          <a:xfrm>
            <a:off x="8229600" y="3703320"/>
            <a:ext cx="1645920" cy="685800"/>
          </a:xfrm>
          <a:prstGeom prst="rect">
            <a:avLst/>
          </a:prstGeom>
          <a:noFill/>
          <a:ln/>
        </p:spPr>
        <p:txBody>
          <a:bodyPr wrap="square" lIns="0" tIns="0" rIns="0" bIns="0" rtlCol="0" anchor="ctr"/>
          <a:lstStyle/>
          <a:p>
            <a:pPr indent="0" marL="0">
              <a:buNone/>
            </a:pPr>
            <a:r>
              <a:rPr lang="en-US" sz="4000" b="1" dirty="0">
                <a:solidFill>
                  <a:srgbClr val="B03A2E"/>
                </a:solidFill>
                <a:latin typeface="Cambria" pitchFamily="34" charset="0"/>
                <a:ea typeface="Cambria" pitchFamily="34" charset="-122"/>
                <a:cs typeface="Cambria" pitchFamily="34" charset="-120"/>
              </a:rPr>
              <a:t>84%</a:t>
            </a:r>
            <a:endParaRPr lang="en-US" sz="4000" dirty="0"/>
          </a:p>
        </p:txBody>
      </p:sp>
      <p:sp>
        <p:nvSpPr>
          <p:cNvPr id="39" name="Text 37"/>
          <p:cNvSpPr txBox="1"/>
          <p:nvPr/>
        </p:nvSpPr>
        <p:spPr>
          <a:xfrm>
            <a:off x="8229600" y="4389120"/>
            <a:ext cx="1645920" cy="502920"/>
          </a:xfrm>
          <a:prstGeom prst="rect">
            <a:avLst/>
          </a:prstGeom>
          <a:noFill/>
          <a:ln/>
        </p:spPr>
        <p:txBody>
          <a:bodyPr wrap="square" lIns="0" tIns="0" rIns="0" bIns="0" rtlCol="0" anchor="t"/>
          <a:lstStyle/>
          <a:p>
            <a:pPr indent="0" marL="0">
              <a:buNone/>
            </a:pPr>
            <a:r>
              <a:rPr lang="en-US" sz="1100" dirty="0">
                <a:solidFill>
                  <a:srgbClr val="7B8794"/>
                </a:solidFill>
                <a:latin typeface="Calibri" pitchFamily="34" charset="0"/>
                <a:ea typeface="Calibri" pitchFamily="34" charset="-122"/>
                <a:cs typeface="Calibri" pitchFamily="34" charset="-120"/>
              </a:rPr>
              <a:t>of 75 targets too high</a:t>
            </a:r>
            <a:endParaRPr lang="en-US" sz="1100" dirty="0"/>
          </a:p>
        </p:txBody>
      </p:sp>
      <p:sp>
        <p:nvSpPr>
          <p:cNvPr id="40" name="Text 38"/>
          <p:cNvSpPr txBox="1"/>
          <p:nvPr/>
        </p:nvSpPr>
        <p:spPr>
          <a:xfrm>
            <a:off x="9966960" y="3703320"/>
            <a:ext cx="1645920" cy="685800"/>
          </a:xfrm>
          <a:prstGeom prst="rect">
            <a:avLst/>
          </a:prstGeom>
          <a:noFill/>
          <a:ln/>
        </p:spPr>
        <p:txBody>
          <a:bodyPr wrap="square" lIns="0" tIns="0" rIns="0" bIns="0" rtlCol="0" anchor="ctr"/>
          <a:lstStyle/>
          <a:p>
            <a:pPr indent="0" marL="0">
              <a:buNone/>
            </a:pPr>
            <a:r>
              <a:rPr lang="en-US" sz="4000" b="1" dirty="0">
                <a:solidFill>
                  <a:srgbClr val="1F2933"/>
                </a:solidFill>
                <a:latin typeface="Cambria" pitchFamily="34" charset="0"/>
                <a:ea typeface="Cambria" pitchFamily="34" charset="-122"/>
                <a:cs typeface="Cambria" pitchFamily="34" charset="-120"/>
              </a:rPr>
              <a:t>72%</a:t>
            </a:r>
            <a:endParaRPr lang="en-US" sz="4000" dirty="0"/>
          </a:p>
        </p:txBody>
      </p:sp>
      <p:sp>
        <p:nvSpPr>
          <p:cNvPr id="41" name="Text 39"/>
          <p:cNvSpPr txBox="1"/>
          <p:nvPr/>
        </p:nvSpPr>
        <p:spPr>
          <a:xfrm>
            <a:off x="9966960" y="4389120"/>
            <a:ext cx="1645920" cy="502920"/>
          </a:xfrm>
          <a:prstGeom prst="rect">
            <a:avLst/>
          </a:prstGeom>
          <a:noFill/>
          <a:ln/>
        </p:spPr>
        <p:txBody>
          <a:bodyPr wrap="square" lIns="0" tIns="0" rIns="0" bIns="0" rtlCol="0" anchor="t"/>
          <a:lstStyle/>
          <a:p>
            <a:pPr indent="0" marL="0">
              <a:buNone/>
            </a:pPr>
            <a:r>
              <a:rPr lang="en-US" sz="1100" dirty="0">
                <a:solidFill>
                  <a:srgbClr val="7B8794"/>
                </a:solidFill>
                <a:latin typeface="Calibri" pitchFamily="34" charset="0"/>
                <a:ea typeface="Calibri" pitchFamily="34" charset="-122"/>
                <a:cs typeface="Calibri" pitchFamily="34" charset="-120"/>
              </a:rPr>
              <a:t>no-change was closer</a:t>
            </a:r>
            <a:endParaRPr lang="en-US" sz="1100" dirty="0"/>
          </a:p>
        </p:txBody>
      </p:sp>
      <p:sp>
        <p:nvSpPr>
          <p:cNvPr id="42" name="Shape 40"/>
          <p:cNvSpPr/>
          <p:nvPr/>
        </p:nvSpPr>
        <p:spPr>
          <a:xfrm>
            <a:off x="8229600" y="5029200"/>
            <a:ext cx="3383280" cy="1097280"/>
          </a:xfrm>
          <a:prstGeom prst="rect">
            <a:avLst/>
          </a:prstGeom>
          <a:solidFill>
            <a:srgbClr val="1F2933"/>
          </a:solidFill>
          <a:ln w="12700">
            <a:solidFill>
              <a:srgbClr val="1F2933"/>
            </a:solidFill>
            <a:prstDash val="solid"/>
          </a:ln>
        </p:spPr>
      </p:sp>
      <p:sp>
        <p:nvSpPr>
          <p:cNvPr id="43" name="Text 41"/>
          <p:cNvSpPr txBox="1"/>
          <p:nvPr/>
        </p:nvSpPr>
        <p:spPr>
          <a:xfrm>
            <a:off x="8321040" y="5029200"/>
            <a:ext cx="3200400" cy="109728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Structural overshoot about +2% in ordinary years; the COVID and release-scheme years double it. No-change wins at every horizon under every cut.</a:t>
            </a:r>
            <a:endParaRPr lang="en-US" sz="1100" dirty="0"/>
          </a:p>
        </p:txBody>
      </p:sp>
      <p:sp>
        <p:nvSpPr>
          <p:cNvPr id="44" name="Text 42"/>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900" dirty="0">
                <a:solidFill>
                  <a:srgbClr val="7B8794"/>
                </a:solidFill>
                <a:latin typeface="Calibri" pitchFamily="34" charset="0"/>
                <a:ea typeface="Calibri" pitchFamily="34" charset="-122"/>
                <a:cs typeface="Calibri" pitchFamily="34" charset="-120"/>
              </a:rPr>
              <a:t>Eighteen editions, 2008 to 2025, 75 scoreable targets. Fifteen of seventeen editions have a positive mean error; thirteen are beaten by the no-change forecast.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2. The cycle: the projection creates the policy that falsifies it</a:t>
            </a:r>
            <a:endParaRPr lang="en-US" sz="3000" dirty="0"/>
          </a:p>
        </p:txBody>
      </p:sp>
      <p:sp>
        <p:nvSpPr>
          <p:cNvPr id="3" name="Shape 1"/>
          <p:cNvSpPr/>
          <p:nvPr/>
        </p:nvSpPr>
        <p:spPr>
          <a:xfrm>
            <a:off x="2926080" y="1211580"/>
            <a:ext cx="2011680" cy="868680"/>
          </a:xfrm>
          <a:prstGeom prst="roundRect">
            <a:avLst>
              <a:gd name="adj" fmla="val 8421"/>
            </a:avLst>
          </a:prstGeom>
          <a:solidFill>
            <a:srgbClr val="F5F6F4"/>
          </a:solidFill>
          <a:ln w="12700">
            <a:solidFill>
              <a:srgbClr val="F5F6F4"/>
            </a:solidFill>
            <a:prstDash val="solid"/>
          </a:ln>
        </p:spPr>
      </p:sp>
      <p:sp>
        <p:nvSpPr>
          <p:cNvPr id="4" name="Text 2"/>
          <p:cNvSpPr txBox="1"/>
          <p:nvPr/>
        </p:nvSpPr>
        <p:spPr>
          <a:xfrm>
            <a:off x="3017520" y="1211580"/>
            <a:ext cx="1828800" cy="868680"/>
          </a:xfrm>
          <a:prstGeom prst="rect">
            <a:avLst/>
          </a:prstGeom>
          <a:noFill/>
          <a:ln/>
        </p:spPr>
        <p:txBody>
          <a:bodyPr wrap="square" lIns="0" tIns="0" rIns="0" bIns="0" rtlCol="0" anchor="ctr"/>
          <a:lstStyle/>
          <a:p>
            <a:pPr algn="ctr" indent="0" marL="0">
              <a:buNone/>
            </a:pPr>
            <a:r>
              <a:rPr lang="en-US" sz="1050" dirty="0">
                <a:solidFill>
                  <a:srgbClr val="323F4B"/>
                </a:solidFill>
                <a:latin typeface="Calibri" pitchFamily="34" charset="0"/>
                <a:ea typeface="Calibri" pitchFamily="34" charset="-122"/>
                <a:cs typeface="Calibri" pitchFamily="34" charset="-120"/>
              </a:rPr>
              <a:t>MoJ projects the population rising ~3,000 a year</a:t>
            </a:r>
            <a:endParaRPr lang="en-US" sz="1050" dirty="0"/>
          </a:p>
        </p:txBody>
      </p:sp>
      <p:sp>
        <p:nvSpPr>
          <p:cNvPr id="5" name="Shape 3"/>
          <p:cNvSpPr/>
          <p:nvPr/>
        </p:nvSpPr>
        <p:spPr>
          <a:xfrm>
            <a:off x="4969748" y="2696392"/>
            <a:ext cx="2011680" cy="868680"/>
          </a:xfrm>
          <a:prstGeom prst="roundRect">
            <a:avLst>
              <a:gd name="adj" fmla="val 8421"/>
            </a:avLst>
          </a:prstGeom>
          <a:solidFill>
            <a:srgbClr val="F5F6F4"/>
          </a:solidFill>
          <a:ln w="12700">
            <a:solidFill>
              <a:srgbClr val="F5F6F4"/>
            </a:solidFill>
            <a:prstDash val="solid"/>
          </a:ln>
        </p:spPr>
      </p:sp>
      <p:sp>
        <p:nvSpPr>
          <p:cNvPr id="6" name="Text 4"/>
          <p:cNvSpPr txBox="1"/>
          <p:nvPr/>
        </p:nvSpPr>
        <p:spPr>
          <a:xfrm>
            <a:off x="5061188" y="2696392"/>
            <a:ext cx="1828800" cy="868680"/>
          </a:xfrm>
          <a:prstGeom prst="rect">
            <a:avLst/>
          </a:prstGeom>
          <a:noFill/>
          <a:ln/>
        </p:spPr>
        <p:txBody>
          <a:bodyPr wrap="square" lIns="0" tIns="0" rIns="0" bIns="0" rtlCol="0" anchor="ctr"/>
          <a:lstStyle/>
          <a:p>
            <a:pPr algn="ctr" indent="0" marL="0">
              <a:buNone/>
            </a:pPr>
            <a:r>
              <a:rPr lang="en-US" sz="1050" dirty="0">
                <a:solidFill>
                  <a:srgbClr val="323F4B"/>
                </a:solidFill>
                <a:latin typeface="Calibri" pitchFamily="34" charset="0"/>
                <a:ea typeface="Calibri" pitchFamily="34" charset="-122"/>
                <a:cs typeface="Calibri" pitchFamily="34" charset="-120"/>
              </a:rPr>
              <a:t>Capacity alarm: building programme sized to the projection</a:t>
            </a:r>
            <a:endParaRPr lang="en-US" sz="1050" dirty="0"/>
          </a:p>
        </p:txBody>
      </p:sp>
      <p:sp>
        <p:nvSpPr>
          <p:cNvPr id="7" name="Shape 5"/>
          <p:cNvSpPr/>
          <p:nvPr/>
        </p:nvSpPr>
        <p:spPr>
          <a:xfrm>
            <a:off x="4189136" y="5098868"/>
            <a:ext cx="2011680" cy="868680"/>
          </a:xfrm>
          <a:prstGeom prst="roundRect">
            <a:avLst>
              <a:gd name="adj" fmla="val 8421"/>
            </a:avLst>
          </a:prstGeom>
          <a:solidFill>
            <a:srgbClr val="F5F6F4"/>
          </a:solidFill>
          <a:ln w="12700">
            <a:solidFill>
              <a:srgbClr val="F5F6F4"/>
            </a:solidFill>
            <a:prstDash val="solid"/>
          </a:ln>
        </p:spPr>
      </p:sp>
      <p:sp>
        <p:nvSpPr>
          <p:cNvPr id="8" name="Text 6"/>
          <p:cNvSpPr txBox="1"/>
          <p:nvPr/>
        </p:nvSpPr>
        <p:spPr>
          <a:xfrm>
            <a:off x="4280576" y="5098868"/>
            <a:ext cx="1828800" cy="868680"/>
          </a:xfrm>
          <a:prstGeom prst="rect">
            <a:avLst/>
          </a:prstGeom>
          <a:noFill/>
          <a:ln/>
        </p:spPr>
        <p:txBody>
          <a:bodyPr wrap="square" lIns="0" tIns="0" rIns="0" bIns="0" rtlCol="0" anchor="ctr"/>
          <a:lstStyle/>
          <a:p>
            <a:pPr algn="ctr" indent="0" marL="0">
              <a:buNone/>
            </a:pPr>
            <a:r>
              <a:rPr lang="en-US" sz="1050" dirty="0">
                <a:solidFill>
                  <a:srgbClr val="323F4B"/>
                </a:solidFill>
                <a:latin typeface="Calibri" pitchFamily="34" charset="0"/>
                <a:ea typeface="Calibri" pitchFamily="34" charset="-122"/>
                <a:cs typeface="Calibri" pitchFamily="34" charset="-120"/>
              </a:rPr>
              <a:t>Estate fills; emergency release cuts the proportion of sentence served</a:t>
            </a:r>
            <a:endParaRPr lang="en-US" sz="1050" dirty="0"/>
          </a:p>
        </p:txBody>
      </p:sp>
      <p:sp>
        <p:nvSpPr>
          <p:cNvPr id="9" name="Shape 7"/>
          <p:cNvSpPr/>
          <p:nvPr/>
        </p:nvSpPr>
        <p:spPr>
          <a:xfrm>
            <a:off x="1663024" y="5098868"/>
            <a:ext cx="2011680" cy="868680"/>
          </a:xfrm>
          <a:prstGeom prst="roundRect">
            <a:avLst>
              <a:gd name="adj" fmla="val 8421"/>
            </a:avLst>
          </a:prstGeom>
          <a:solidFill>
            <a:srgbClr val="F5F6F4"/>
          </a:solidFill>
          <a:ln w="12700">
            <a:solidFill>
              <a:srgbClr val="F5F6F4"/>
            </a:solidFill>
            <a:prstDash val="solid"/>
          </a:ln>
        </p:spPr>
      </p:sp>
      <p:sp>
        <p:nvSpPr>
          <p:cNvPr id="10" name="Text 8"/>
          <p:cNvSpPr txBox="1"/>
          <p:nvPr/>
        </p:nvSpPr>
        <p:spPr>
          <a:xfrm>
            <a:off x="1754464" y="5098868"/>
            <a:ext cx="1828800" cy="868680"/>
          </a:xfrm>
          <a:prstGeom prst="rect">
            <a:avLst/>
          </a:prstGeom>
          <a:noFill/>
          <a:ln/>
        </p:spPr>
        <p:txBody>
          <a:bodyPr wrap="square" lIns="0" tIns="0" rIns="0" bIns="0" rtlCol="0" anchor="ctr"/>
          <a:lstStyle/>
          <a:p>
            <a:pPr algn="ctr" indent="0" marL="0">
              <a:buNone/>
            </a:pPr>
            <a:r>
              <a:rPr lang="en-US" sz="1050" dirty="0">
                <a:solidFill>
                  <a:srgbClr val="323F4B"/>
                </a:solidFill>
                <a:latin typeface="Calibri" pitchFamily="34" charset="0"/>
                <a:ea typeface="Calibri" pitchFamily="34" charset="-122"/>
                <a:cs typeface="Calibri" pitchFamily="34" charset="-120"/>
              </a:rPr>
              <a:t>Population stays flat; determinate stock falls</a:t>
            </a:r>
            <a:endParaRPr lang="en-US" sz="1050" dirty="0"/>
          </a:p>
        </p:txBody>
      </p:sp>
      <p:sp>
        <p:nvSpPr>
          <p:cNvPr id="11" name="Shape 9"/>
          <p:cNvSpPr/>
          <p:nvPr/>
        </p:nvSpPr>
        <p:spPr>
          <a:xfrm>
            <a:off x="882412" y="2696392"/>
            <a:ext cx="2011680" cy="868680"/>
          </a:xfrm>
          <a:prstGeom prst="roundRect">
            <a:avLst>
              <a:gd name="adj" fmla="val 8421"/>
            </a:avLst>
          </a:prstGeom>
          <a:solidFill>
            <a:srgbClr val="B03A2E"/>
          </a:solidFill>
          <a:ln w="12700">
            <a:solidFill>
              <a:srgbClr val="B03A2E"/>
            </a:solidFill>
            <a:prstDash val="solid"/>
          </a:ln>
        </p:spPr>
      </p:sp>
      <p:sp>
        <p:nvSpPr>
          <p:cNvPr id="12" name="Text 10"/>
          <p:cNvSpPr txBox="1"/>
          <p:nvPr/>
        </p:nvSpPr>
        <p:spPr>
          <a:xfrm>
            <a:off x="973852" y="2696392"/>
            <a:ext cx="1828800" cy="86868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Projection is falsified. Next edition projects growth again</a:t>
            </a:r>
            <a:endParaRPr lang="en-US" sz="1050" dirty="0"/>
          </a:p>
        </p:txBody>
      </p:sp>
      <p:sp>
        <p:nvSpPr>
          <p:cNvPr id="13" name="Shape 11"/>
          <p:cNvSpPr/>
          <p:nvPr/>
        </p:nvSpPr>
        <p:spPr>
          <a:xfrm>
            <a:off x="4679023" y="2188722"/>
            <a:ext cx="549463" cy="399208"/>
          </a:xfrm>
          <a:prstGeom prst="line">
            <a:avLst/>
          </a:prstGeom>
          <a:noFill/>
          <a:ln w="31750">
            <a:solidFill>
              <a:srgbClr val="7B8794"/>
            </a:solidFill>
            <a:prstDash val="solid"/>
            <a:tailEnd type="triangle"/>
          </a:ln>
        </p:spPr>
      </p:sp>
      <p:sp>
        <p:nvSpPr>
          <p:cNvPr id="14" name="Shape 12"/>
          <p:cNvSpPr/>
          <p:nvPr/>
        </p:nvSpPr>
        <p:spPr>
          <a:xfrm flipH="1">
            <a:off x="5356534" y="3627954"/>
            <a:ext cx="457498" cy="1408033"/>
          </a:xfrm>
          <a:prstGeom prst="line">
            <a:avLst/>
          </a:prstGeom>
          <a:noFill/>
          <a:ln w="31750">
            <a:solidFill>
              <a:srgbClr val="7B8794"/>
            </a:solidFill>
            <a:prstDash val="solid"/>
            <a:tailEnd type="triangle"/>
          </a:ln>
        </p:spPr>
      </p:sp>
      <p:sp>
        <p:nvSpPr>
          <p:cNvPr id="15" name="Shape 13"/>
          <p:cNvSpPr/>
          <p:nvPr/>
        </p:nvSpPr>
        <p:spPr>
          <a:xfrm flipH="1">
            <a:off x="3784432" y="5533208"/>
            <a:ext cx="294977" cy="9144"/>
          </a:xfrm>
          <a:prstGeom prst="line">
            <a:avLst/>
          </a:prstGeom>
          <a:noFill/>
          <a:ln w="31750">
            <a:solidFill>
              <a:srgbClr val="7B8794"/>
            </a:solidFill>
            <a:prstDash val="solid"/>
            <a:tailEnd type="triangle"/>
          </a:ln>
        </p:spPr>
      </p:sp>
      <p:sp>
        <p:nvSpPr>
          <p:cNvPr id="16" name="Shape 14"/>
          <p:cNvSpPr/>
          <p:nvPr/>
        </p:nvSpPr>
        <p:spPr>
          <a:xfrm flipH="1" flipV="1">
            <a:off x="2049809" y="3627954"/>
            <a:ext cx="457498" cy="1408033"/>
          </a:xfrm>
          <a:prstGeom prst="line">
            <a:avLst/>
          </a:prstGeom>
          <a:noFill/>
          <a:ln w="31750">
            <a:solidFill>
              <a:srgbClr val="7B8794"/>
            </a:solidFill>
            <a:prstDash val="solid"/>
            <a:tailEnd type="triangle"/>
          </a:ln>
        </p:spPr>
      </p:sp>
      <p:sp>
        <p:nvSpPr>
          <p:cNvPr id="17" name="Shape 15"/>
          <p:cNvSpPr/>
          <p:nvPr/>
        </p:nvSpPr>
        <p:spPr>
          <a:xfrm flipV="1">
            <a:off x="2635354" y="2188722"/>
            <a:ext cx="549463" cy="399208"/>
          </a:xfrm>
          <a:prstGeom prst="line">
            <a:avLst/>
          </a:prstGeom>
          <a:noFill/>
          <a:ln w="31750">
            <a:solidFill>
              <a:srgbClr val="7B8794"/>
            </a:solidFill>
            <a:prstDash val="solid"/>
            <a:tailEnd type="triangle"/>
          </a:ln>
        </p:spPr>
      </p:sp>
      <p:sp>
        <p:nvSpPr>
          <p:cNvPr id="18" name="Text 16"/>
          <p:cNvSpPr txBox="1"/>
          <p:nvPr/>
        </p:nvSpPr>
        <p:spPr>
          <a:xfrm>
            <a:off x="2743200" y="3291840"/>
            <a:ext cx="2377440" cy="1005840"/>
          </a:xfrm>
          <a:prstGeom prst="rect">
            <a:avLst/>
          </a:prstGeom>
          <a:noFill/>
          <a:ln/>
        </p:spPr>
        <p:txBody>
          <a:bodyPr wrap="square" lIns="0" tIns="0" rIns="0" bIns="0" rtlCol="0" anchor="ctr"/>
          <a:lstStyle/>
          <a:p>
            <a:pPr algn="ctr" indent="0" marL="0">
              <a:buNone/>
            </a:pPr>
            <a:r>
              <a:rPr lang="en-US" sz="1400" b="1" dirty="0">
                <a:solidFill>
                  <a:srgbClr val="1F2933"/>
                </a:solidFill>
                <a:latin typeface="Cambria" pitchFamily="34" charset="0"/>
                <a:ea typeface="Cambria" pitchFamily="34" charset="-122"/>
                <a:cs typeface="Cambria" pitchFamily="34" charset="-120"/>
              </a:rPr>
              <a:t>17 editions</a:t>
            </a:r>
            <a:endParaRPr lang="en-US" sz="1400" dirty="0"/>
          </a:p>
          <a:p>
            <a:pPr algn="ctr" indent="0" marL="0">
              <a:buNone/>
            </a:pPr>
            <a:r>
              <a:rPr lang="en-US" sz="1400" b="1" dirty="0">
                <a:solidFill>
                  <a:srgbClr val="1F2933"/>
                </a:solidFill>
                <a:latin typeface="Cambria" pitchFamily="34" charset="0"/>
                <a:ea typeface="Cambria" pitchFamily="34" charset="-122"/>
                <a:cs typeface="Cambria" pitchFamily="34" charset="-120"/>
              </a:rPr>
              <a:t>13 with every target too high</a:t>
            </a:r>
            <a:endParaRPr lang="en-US" sz="1400" dirty="0"/>
          </a:p>
        </p:txBody>
      </p:sp>
      <p:sp>
        <p:nvSpPr>
          <p:cNvPr id="19" name="Shape 17"/>
          <p:cNvSpPr/>
          <p:nvPr/>
        </p:nvSpPr>
        <p:spPr>
          <a:xfrm>
            <a:off x="7498080" y="1417320"/>
            <a:ext cx="4114800" cy="1463040"/>
          </a:xfrm>
          <a:prstGeom prst="rect">
            <a:avLst/>
          </a:prstGeom>
          <a:solidFill>
            <a:srgbClr val="F5F6F4"/>
          </a:solidFill>
          <a:ln w="12700">
            <a:solidFill>
              <a:srgbClr val="F5F6F4"/>
            </a:solidFill>
            <a:prstDash val="solid"/>
          </a:ln>
        </p:spPr>
      </p:sp>
      <p:sp>
        <p:nvSpPr>
          <p:cNvPr id="20" name="Text 18"/>
          <p:cNvSpPr txBox="1"/>
          <p:nvPr/>
        </p:nvSpPr>
        <p:spPr>
          <a:xfrm>
            <a:off x="7589520" y="1417320"/>
            <a:ext cx="3931920" cy="1463040"/>
          </a:xfrm>
          <a:prstGeom prst="rect">
            <a:avLst/>
          </a:prstGeom>
          <a:noFill/>
          <a:ln/>
        </p:spPr>
        <p:txBody>
          <a:bodyPr wrap="square" lIns="0" tIns="0" rIns="0" bIns="0" rtlCol="0" anchor="ctr"/>
          <a:lstStyle/>
          <a:p>
            <a:pPr algn="l" indent="0" marL="0">
              <a:buNone/>
            </a:pPr>
            <a:r>
              <a:rPr lang="en-US" sz="1100" dirty="0">
                <a:solidFill>
                  <a:srgbClr val="323F4B"/>
                </a:solidFill>
                <a:latin typeface="Calibri" pitchFamily="34" charset="0"/>
                <a:ea typeface="Calibri" pitchFamily="34" charset="-122"/>
                <a:cs typeface="Calibri" pitchFamily="34" charset="-120"/>
              </a:rPr>
              <a:t>This is the MoJ’s defence and the problem at once. The projections are conditional on unchanged policy; policy changes; the projection is falsified by design. True, and it means a counterfactual the government itself falsifies each time cannot size a £7bn building programme.</a:t>
            </a:r>
            <a:endParaRPr lang="en-US" sz="1100" dirty="0"/>
          </a:p>
        </p:txBody>
      </p:sp>
      <p:sp>
        <p:nvSpPr>
          <p:cNvPr id="21" name="Shape 19"/>
          <p:cNvSpPr/>
          <p:nvPr/>
        </p:nvSpPr>
        <p:spPr>
          <a:xfrm>
            <a:off x="7498080" y="3063240"/>
            <a:ext cx="4114800" cy="1188720"/>
          </a:xfrm>
          <a:prstGeom prst="rect">
            <a:avLst/>
          </a:prstGeom>
          <a:solidFill>
            <a:srgbClr val="1F2933"/>
          </a:solidFill>
          <a:ln w="12700">
            <a:solidFill>
              <a:srgbClr val="1F2933"/>
            </a:solidFill>
            <a:prstDash val="solid"/>
          </a:ln>
        </p:spPr>
      </p:sp>
      <p:sp>
        <p:nvSpPr>
          <p:cNvPr id="22" name="Text 20"/>
          <p:cNvSpPr txBox="1"/>
          <p:nvPr/>
        </p:nvSpPr>
        <p:spPr>
          <a:xfrm>
            <a:off x="7589520" y="3063240"/>
            <a:ext cx="3931920" cy="118872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The overshoot predates the cycle. In the 2008 to 2014 editions, a decade before any emergency release scheme, no-change was closer on 29 of 40 targets.</a:t>
            </a:r>
            <a:endParaRPr lang="en-US" sz="1100" dirty="0"/>
          </a:p>
        </p:txBody>
      </p:sp>
      <p:sp>
        <p:nvSpPr>
          <p:cNvPr id="23" name="Text 21"/>
          <p:cNvSpPr txBox="1"/>
          <p:nvPr/>
        </p:nvSpPr>
        <p:spPr>
          <a:xfrm>
            <a:off x="7498080" y="4480560"/>
            <a:ext cx="2011680" cy="685800"/>
          </a:xfrm>
          <a:prstGeom prst="rect">
            <a:avLst/>
          </a:prstGeom>
          <a:noFill/>
          <a:ln/>
        </p:spPr>
        <p:txBody>
          <a:bodyPr wrap="square" lIns="0" tIns="0" rIns="0" bIns="0" rtlCol="0" anchor="ctr"/>
          <a:lstStyle/>
          <a:p>
            <a:pPr indent="0" marL="0">
              <a:buNone/>
            </a:pPr>
            <a:r>
              <a:rPr lang="en-US" sz="2800" b="1" dirty="0">
                <a:solidFill>
                  <a:srgbClr val="B03A2E"/>
                </a:solidFill>
                <a:latin typeface="Cambria" pitchFamily="34" charset="0"/>
                <a:ea typeface="Cambria" pitchFamily="34" charset="-122"/>
                <a:cs typeface="Cambria" pitchFamily="34" charset="-120"/>
              </a:rPr>
              <a:t>+3,000/yr</a:t>
            </a:r>
            <a:endParaRPr lang="en-US" sz="2800" dirty="0"/>
          </a:p>
        </p:txBody>
      </p:sp>
      <p:sp>
        <p:nvSpPr>
          <p:cNvPr id="24" name="Text 22"/>
          <p:cNvSpPr txBox="1"/>
          <p:nvPr/>
        </p:nvSpPr>
        <p:spPr>
          <a:xfrm>
            <a:off x="7498080" y="5166360"/>
            <a:ext cx="2011680" cy="502920"/>
          </a:xfrm>
          <a:prstGeom prst="rect">
            <a:avLst/>
          </a:prstGeom>
          <a:noFill/>
          <a:ln/>
        </p:spPr>
        <p:txBody>
          <a:bodyPr wrap="square" lIns="0" tIns="0" rIns="0" bIns="0" rtlCol="0" anchor="t"/>
          <a:lstStyle/>
          <a:p>
            <a:pPr indent="0" marL="0">
              <a:buNone/>
            </a:pPr>
            <a:r>
              <a:rPr lang="en-US" sz="1100" dirty="0">
                <a:solidFill>
                  <a:srgbClr val="7B8794"/>
                </a:solidFill>
                <a:latin typeface="Calibri" pitchFamily="34" charset="0"/>
                <a:ea typeface="Calibri" pitchFamily="34" charset="-122"/>
                <a:cs typeface="Calibri" pitchFamily="34" charset="-120"/>
              </a:rPr>
              <a:t>the demand assumption behind 14,000 places by 2031</a:t>
            </a:r>
            <a:endParaRPr lang="en-US" sz="1100" dirty="0"/>
          </a:p>
        </p:txBody>
      </p:sp>
      <p:sp>
        <p:nvSpPr>
          <p:cNvPr id="25" name="Text 23"/>
          <p:cNvSpPr txBox="1"/>
          <p:nvPr/>
        </p:nvSpPr>
        <p:spPr>
          <a:xfrm>
            <a:off x="9601200" y="4480560"/>
            <a:ext cx="2011680" cy="685800"/>
          </a:xfrm>
          <a:prstGeom prst="rect">
            <a:avLst/>
          </a:prstGeom>
          <a:noFill/>
          <a:ln/>
        </p:spPr>
        <p:txBody>
          <a:bodyPr wrap="square" lIns="0" tIns="0" rIns="0" bIns="0" rtlCol="0" anchor="ctr"/>
          <a:lstStyle/>
          <a:p>
            <a:pPr indent="0" marL="0">
              <a:buNone/>
            </a:pPr>
            <a:r>
              <a:rPr lang="en-US" sz="2800" b="1" dirty="0">
                <a:solidFill>
                  <a:srgbClr val="1F2933"/>
                </a:solidFill>
                <a:latin typeface="Cambria" pitchFamily="34" charset="0"/>
                <a:ea typeface="Cambria" pitchFamily="34" charset="-122"/>
                <a:cs typeface="Cambria" pitchFamily="34" charset="-120"/>
              </a:rPr>
              <a:t>+246/yr</a:t>
            </a:r>
            <a:endParaRPr lang="en-US" sz="2800" dirty="0"/>
          </a:p>
        </p:txBody>
      </p:sp>
      <p:sp>
        <p:nvSpPr>
          <p:cNvPr id="26" name="Text 24"/>
          <p:cNvSpPr txBox="1"/>
          <p:nvPr/>
        </p:nvSpPr>
        <p:spPr>
          <a:xfrm>
            <a:off x="9601200" y="5166360"/>
            <a:ext cx="2011680" cy="502920"/>
          </a:xfrm>
          <a:prstGeom prst="rect">
            <a:avLst/>
          </a:prstGeom>
          <a:noFill/>
          <a:ln/>
        </p:spPr>
        <p:txBody>
          <a:bodyPr wrap="square" lIns="0" tIns="0" rIns="0" bIns="0" rtlCol="0" anchor="t"/>
          <a:lstStyle/>
          <a:p>
            <a:pPr indent="0" marL="0">
              <a:buNone/>
            </a:pPr>
            <a:r>
              <a:rPr lang="en-US" sz="1100" dirty="0">
                <a:solidFill>
                  <a:srgbClr val="7B8794"/>
                </a:solidFill>
                <a:latin typeface="Calibri" pitchFamily="34" charset="0"/>
                <a:ea typeface="Calibri" pitchFamily="34" charset="-122"/>
                <a:cs typeface="Calibri" pitchFamily="34" charset="-120"/>
              </a:rPr>
              <a:t>realised growth, 2011 to 2026</a:t>
            </a:r>
            <a:endParaRPr lang="en-US" sz="1100" dirty="0"/>
          </a:p>
        </p:txBody>
      </p:sp>
      <p:sp>
        <p:nvSpPr>
          <p:cNvPr id="27" name="Text 25"/>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900" dirty="0">
                <a:solidFill>
                  <a:srgbClr val="7B8794"/>
                </a:solidFill>
                <a:latin typeface="Calibri" pitchFamily="34" charset="0"/>
                <a:ea typeface="Calibri" pitchFamily="34" charset="-122"/>
                <a:cs typeface="Calibri" pitchFamily="34" charset="-120"/>
              </a:rPr>
              <a:t>No five-year window since 2011 has sustained even +2,000 a year. The +3,000 figure is the MoJ’s near-term no-action counterfactual; its own central path with reforms is +1,333 a year.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3. Two large forces cancel, and the flat line hides both</a:t>
            </a:r>
            <a:endParaRPr lang="en-US" sz="3000" dirty="0"/>
          </a:p>
        </p:txBody>
      </p:sp>
      <p:sp>
        <p:nvSpPr>
          <p:cNvPr id="3" name="Shape 1"/>
          <p:cNvSpPr/>
          <p:nvPr/>
        </p:nvSpPr>
        <p:spPr>
          <a:xfrm>
            <a:off x="1097280" y="2011680"/>
            <a:ext cx="1188720" cy="2377440"/>
          </a:xfrm>
          <a:prstGeom prst="upArrow">
            <a:avLst/>
          </a:prstGeom>
          <a:solidFill>
            <a:srgbClr val="B03A2E"/>
          </a:solidFill>
          <a:ln w="12700">
            <a:solidFill>
              <a:srgbClr val="B03A2E"/>
            </a:solidFill>
            <a:prstDash val="solid"/>
          </a:ln>
        </p:spPr>
      </p:sp>
      <p:sp>
        <p:nvSpPr>
          <p:cNvPr id="4" name="Text 2"/>
          <p:cNvSpPr txBox="1"/>
          <p:nvPr/>
        </p:nvSpPr>
        <p:spPr>
          <a:xfrm>
            <a:off x="2468880" y="2011680"/>
            <a:ext cx="2743200" cy="2377440"/>
          </a:xfrm>
          <a:prstGeom prst="rect">
            <a:avLst/>
          </a:prstGeom>
          <a:noFill/>
          <a:ln/>
        </p:spPr>
        <p:txBody>
          <a:bodyPr wrap="square" lIns="0" tIns="0" rIns="0" bIns="0" rtlCol="0" anchor="t"/>
          <a:lstStyle/>
          <a:p>
            <a:pPr algn="l" indent="0" marL="0">
              <a:buNone/>
            </a:pPr>
            <a:r>
              <a:rPr lang="en-US" sz="1150" dirty="0">
                <a:solidFill>
                  <a:srgbClr val="323F4B"/>
                </a:solidFill>
                <a:latin typeface="Calibri" pitchFamily="34" charset="0"/>
                <a:ea typeface="Calibri" pitchFamily="34" charset="-122"/>
                <a:cs typeface="Calibri" pitchFamily="34" charset="-120"/>
              </a:rPr>
              <a:t>Sentence inflation</a:t>
            </a:r>
            <a:endParaRPr lang="en-US" sz="1150" dirty="0"/>
          </a:p>
          <a:p>
            <a:pPr algn="l" indent="0" marL="0">
              <a:buNone/>
            </a:pPr>
            <a:endParaRPr lang="en-US" sz="1150" dirty="0"/>
          </a:p>
          <a:p>
            <a:pPr algn="l" indent="0" marL="0">
              <a:buNone/>
            </a:pPr>
            <a:r>
              <a:rPr lang="en-US" sz="1150" dirty="0">
                <a:solidFill>
                  <a:srgbClr val="323F4B"/>
                </a:solidFill>
                <a:latin typeface="Calibri" pitchFamily="34" charset="0"/>
                <a:ea typeface="Calibri" pitchFamily="34" charset="-122"/>
                <a:cs typeface="Calibri" pitchFamily="34" charset="-120"/>
              </a:rPr>
              <a:t>Custodial months imposed by the courts: +21.5%, 2016 to 2026. Average sentence 16.3 to 20.1 months on 1.5% fewer sentences.</a:t>
            </a:r>
            <a:endParaRPr lang="en-US" sz="1150" dirty="0"/>
          </a:p>
        </p:txBody>
      </p:sp>
      <p:sp>
        <p:nvSpPr>
          <p:cNvPr id="5" name="Shape 3"/>
          <p:cNvSpPr/>
          <p:nvPr/>
        </p:nvSpPr>
        <p:spPr>
          <a:xfrm>
            <a:off x="6400800" y="2011680"/>
            <a:ext cx="1188720" cy="2377440"/>
          </a:xfrm>
          <a:prstGeom prst="downArrow">
            <a:avLst/>
          </a:prstGeom>
          <a:solidFill>
            <a:srgbClr val="1F2933"/>
          </a:solidFill>
          <a:ln w="12700">
            <a:solidFill>
              <a:srgbClr val="1F2933"/>
            </a:solidFill>
            <a:prstDash val="solid"/>
          </a:ln>
        </p:spPr>
      </p:sp>
      <p:sp>
        <p:nvSpPr>
          <p:cNvPr id="6" name="Text 4"/>
          <p:cNvSpPr txBox="1"/>
          <p:nvPr/>
        </p:nvSpPr>
        <p:spPr>
          <a:xfrm>
            <a:off x="7772400" y="2011680"/>
            <a:ext cx="3840480" cy="2377440"/>
          </a:xfrm>
          <a:prstGeom prst="rect">
            <a:avLst/>
          </a:prstGeom>
          <a:noFill/>
          <a:ln/>
        </p:spPr>
        <p:txBody>
          <a:bodyPr wrap="square" lIns="0" tIns="0" rIns="0" bIns="0" rtlCol="0" anchor="t"/>
          <a:lstStyle/>
          <a:p>
            <a:pPr algn="l" indent="0" marL="0">
              <a:buNone/>
            </a:pPr>
            <a:r>
              <a:rPr lang="en-US" sz="1150" dirty="0">
                <a:solidFill>
                  <a:srgbClr val="323F4B"/>
                </a:solidFill>
                <a:latin typeface="Calibri" pitchFamily="34" charset="0"/>
                <a:ea typeface="Calibri" pitchFamily="34" charset="-122"/>
                <a:cs typeface="Calibri" pitchFamily="34" charset="-120"/>
              </a:rPr>
              <a:t>Executive release</a:t>
            </a:r>
            <a:endParaRPr lang="en-US" sz="1150" dirty="0"/>
          </a:p>
          <a:p>
            <a:pPr algn="l" indent="0" marL="0">
              <a:buNone/>
            </a:pPr>
            <a:endParaRPr lang="en-US" sz="1150" dirty="0"/>
          </a:p>
          <a:p>
            <a:pPr algn="l" indent="0" marL="0">
              <a:buNone/>
            </a:pPr>
            <a:r>
              <a:rPr lang="en-US" sz="1150" dirty="0">
                <a:solidFill>
                  <a:srgbClr val="323F4B"/>
                </a:solidFill>
                <a:latin typeface="Calibri" pitchFamily="34" charset="0"/>
                <a:ea typeface="Calibri" pitchFamily="34" charset="-122"/>
                <a:cs typeface="Calibri" pitchFamily="34" charset="-120"/>
              </a:rPr>
              <a:t>Proportion of sentence served: 63% in 2017, 60% every year to 2023, then 54% by 2026. ECSL, SDS40, then release at one third from October.</a:t>
            </a:r>
            <a:endParaRPr lang="en-US" sz="1150" dirty="0"/>
          </a:p>
        </p:txBody>
      </p:sp>
      <p:sp>
        <p:nvSpPr>
          <p:cNvPr id="7" name="Shape 5"/>
          <p:cNvSpPr/>
          <p:nvPr/>
        </p:nvSpPr>
        <p:spPr>
          <a:xfrm>
            <a:off x="1097280" y="4892040"/>
            <a:ext cx="10515600" cy="9144"/>
          </a:xfrm>
          <a:prstGeom prst="line">
            <a:avLst/>
          </a:prstGeom>
          <a:noFill/>
          <a:ln w="50800">
            <a:solidFill>
              <a:srgbClr val="7B8794"/>
            </a:solidFill>
            <a:prstDash val="solid"/>
          </a:ln>
        </p:spPr>
      </p:sp>
      <p:sp>
        <p:nvSpPr>
          <p:cNvPr id="8" name="Text 6"/>
          <p:cNvSpPr txBox="1"/>
          <p:nvPr/>
        </p:nvSpPr>
        <p:spPr>
          <a:xfrm>
            <a:off x="1097280" y="4983480"/>
            <a:ext cx="5029200" cy="365760"/>
          </a:xfrm>
          <a:prstGeom prst="rect">
            <a:avLst/>
          </a:prstGeom>
          <a:noFill/>
          <a:ln/>
        </p:spPr>
        <p:txBody>
          <a:bodyPr wrap="square" lIns="0" tIns="0" rIns="0" bIns="0" rtlCol="0" anchor="t"/>
          <a:lstStyle/>
          <a:p>
            <a:pPr algn="l" indent="0" marL="0">
              <a:buNone/>
            </a:pPr>
            <a:r>
              <a:rPr lang="en-US" sz="1200" b="1" dirty="0">
                <a:solidFill>
                  <a:srgbClr val="1F2933"/>
                </a:solidFill>
                <a:latin typeface="Calibri" pitchFamily="34" charset="0"/>
                <a:ea typeface="Calibri" pitchFamily="34" charset="-122"/>
                <a:cs typeface="Calibri" pitchFamily="34" charset="-120"/>
              </a:rPr>
              <a:t>Total population: +1.5% in ten years</a:t>
            </a:r>
            <a:endParaRPr lang="en-US" sz="1200" dirty="0"/>
          </a:p>
        </p:txBody>
      </p:sp>
      <p:sp>
        <p:nvSpPr>
          <p:cNvPr id="9" name="Text 7"/>
          <p:cNvSpPr txBox="1"/>
          <p:nvPr/>
        </p:nvSpPr>
        <p:spPr>
          <a:xfrm>
            <a:off x="6400800" y="4983480"/>
            <a:ext cx="5212080" cy="365760"/>
          </a:xfrm>
          <a:prstGeom prst="rect">
            <a:avLst/>
          </a:prstGeom>
          <a:noFill/>
          <a:ln/>
        </p:spPr>
        <p:txBody>
          <a:bodyPr wrap="square" lIns="0" tIns="0" rIns="0" bIns="0" rtlCol="0" anchor="t"/>
          <a:lstStyle/>
          <a:p>
            <a:pPr algn="r" indent="0" marL="0">
              <a:buNone/>
            </a:pPr>
            <a:r>
              <a:rPr lang="en-US" sz="1200" b="1" dirty="0">
                <a:solidFill>
                  <a:srgbClr val="B03A2E"/>
                </a:solidFill>
                <a:latin typeface="Calibri" pitchFamily="34" charset="0"/>
                <a:ea typeface="Calibri" pitchFamily="34" charset="-122"/>
                <a:cs typeface="Calibri" pitchFamily="34" charset="-120"/>
              </a:rPr>
              <a:t>Determinate population: −16.5% since 2017</a:t>
            </a:r>
            <a:endParaRPr lang="en-US" sz="1200" dirty="0"/>
          </a:p>
        </p:txBody>
      </p:sp>
      <p:sp>
        <p:nvSpPr>
          <p:cNvPr id="10" name="Shape 8"/>
          <p:cNvSpPr/>
          <p:nvPr/>
        </p:nvSpPr>
        <p:spPr>
          <a:xfrm>
            <a:off x="1097280" y="5486400"/>
            <a:ext cx="10515600" cy="777240"/>
          </a:xfrm>
          <a:prstGeom prst="rect">
            <a:avLst/>
          </a:prstGeom>
          <a:solidFill>
            <a:srgbClr val="F5F6F4"/>
          </a:solidFill>
          <a:ln w="12700">
            <a:solidFill>
              <a:srgbClr val="F5F6F4"/>
            </a:solidFill>
            <a:prstDash val="solid"/>
          </a:ln>
        </p:spPr>
      </p:sp>
      <p:sp>
        <p:nvSpPr>
          <p:cNvPr id="11" name="Text 9"/>
          <p:cNvSpPr txBox="1"/>
          <p:nvPr/>
        </p:nvSpPr>
        <p:spPr>
          <a:xfrm>
            <a:off x="1188720" y="5486400"/>
            <a:ext cx="10332720" cy="777240"/>
          </a:xfrm>
          <a:prstGeom prst="rect">
            <a:avLst/>
          </a:prstGeom>
          <a:noFill/>
          <a:ln/>
        </p:spPr>
        <p:txBody>
          <a:bodyPr wrap="square" lIns="0" tIns="0" rIns="0" bIns="0" rtlCol="0" anchor="ctr"/>
          <a:lstStyle/>
          <a:p>
            <a:pPr algn="l" indent="0" marL="0">
              <a:buNone/>
            </a:pPr>
            <a:r>
              <a:rPr lang="en-US" sz="1100" dirty="0">
                <a:solidFill>
                  <a:srgbClr val="323F4B"/>
                </a:solidFill>
                <a:latin typeface="Calibri" pitchFamily="34" charset="0"/>
                <a:ea typeface="Calibri" pitchFamily="34" charset="-122"/>
                <a:cs typeface="Calibri" pitchFamily="34" charset="-120"/>
              </a:rPr>
              <a:t>Release cuts more than absorbed sentence inflation on the sentenced stock. The total held up only because something else filled the gap (next diagram). Ninety-five percent of the MoJ’s projection error sits in exactly this component.</a:t>
            </a:r>
            <a:endParaRPr lang="en-US" sz="1100" dirty="0"/>
          </a:p>
        </p:txBody>
      </p:sp>
      <p:sp>
        <p:nvSpPr>
          <p:cNvPr id="12" name="Text 10"/>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900" dirty="0">
                <a:solidFill>
                  <a:srgbClr val="7B8794"/>
                </a:solidFill>
                <a:latin typeface="Calibri" pitchFamily="34" charset="0"/>
                <a:ea typeface="Calibri" pitchFamily="34" charset="-122"/>
                <a:cs typeface="Calibri" pitchFamily="34" charset="-120"/>
              </a:rPr>
              <a:t>CJS quarterly Q5 tables; OMSQ releases 3.Q.3 to 3.Q.5. Sentence inflation itself is well documented (Sentencing Academy 2025: 54% more punitive than 2005); the bridge to prison places is not.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4. One prison population swapped for another, 2017 to 2025</a:t>
            </a:r>
            <a:endParaRPr lang="en-US" sz="3000" dirty="0"/>
          </a:p>
        </p:txBody>
      </p:sp>
      <p:sp>
        <p:nvSpPr>
          <p:cNvPr id="3" name="Shape 1"/>
          <p:cNvSpPr/>
          <p:nvPr/>
        </p:nvSpPr>
        <p:spPr>
          <a:xfrm>
            <a:off x="1280160" y="1600200"/>
            <a:ext cx="1828800" cy="2776075"/>
          </a:xfrm>
          <a:prstGeom prst="rect">
            <a:avLst/>
          </a:prstGeom>
          <a:solidFill>
            <a:srgbClr val="1F2933"/>
          </a:solidFill>
          <a:ln w="12700">
            <a:solidFill>
              <a:srgbClr val="FFFFFF"/>
            </a:solidFill>
            <a:prstDash val="solid"/>
          </a:ln>
        </p:spPr>
      </p:sp>
      <p:sp>
        <p:nvSpPr>
          <p:cNvPr id="4" name="Text 2"/>
          <p:cNvSpPr txBox="1"/>
          <p:nvPr/>
        </p:nvSpPr>
        <p:spPr>
          <a:xfrm>
            <a:off x="1280160" y="1600200"/>
            <a:ext cx="1828800" cy="2776075"/>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Determinate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57,726</a:t>
            </a:r>
            <a:endParaRPr lang="en-US" sz="1000" dirty="0"/>
          </a:p>
        </p:txBody>
      </p:sp>
      <p:sp>
        <p:nvSpPr>
          <p:cNvPr id="5" name="Shape 3"/>
          <p:cNvSpPr/>
          <p:nvPr/>
        </p:nvSpPr>
        <p:spPr>
          <a:xfrm>
            <a:off x="1280160" y="4376275"/>
            <a:ext cx="1828800" cy="463497"/>
          </a:xfrm>
          <a:prstGeom prst="rect">
            <a:avLst/>
          </a:prstGeom>
          <a:solidFill>
            <a:srgbClr val="B03A2E"/>
          </a:solidFill>
          <a:ln w="12700">
            <a:solidFill>
              <a:srgbClr val="FFFFFF"/>
            </a:solidFill>
            <a:prstDash val="solid"/>
          </a:ln>
        </p:spPr>
      </p:sp>
      <p:sp>
        <p:nvSpPr>
          <p:cNvPr id="6" name="Text 4"/>
          <p:cNvSpPr txBox="1"/>
          <p:nvPr/>
        </p:nvSpPr>
        <p:spPr>
          <a:xfrm>
            <a:off x="1280160" y="4376275"/>
            <a:ext cx="1828800" cy="463497"/>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Remand</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9,638</a:t>
            </a:r>
            <a:endParaRPr lang="en-US" sz="1000" dirty="0"/>
          </a:p>
        </p:txBody>
      </p:sp>
      <p:sp>
        <p:nvSpPr>
          <p:cNvPr id="7" name="Shape 5"/>
          <p:cNvSpPr/>
          <p:nvPr/>
        </p:nvSpPr>
        <p:spPr>
          <a:xfrm>
            <a:off x="1280160" y="4839772"/>
            <a:ext cx="1828800" cy="307299"/>
          </a:xfrm>
          <a:prstGeom prst="rect">
            <a:avLst/>
          </a:prstGeom>
          <a:solidFill>
            <a:srgbClr val="C8963E"/>
          </a:solidFill>
          <a:ln w="12700">
            <a:solidFill>
              <a:srgbClr val="FFFFFF"/>
            </a:solidFill>
            <a:prstDash val="solid"/>
          </a:ln>
        </p:spPr>
      </p:sp>
      <p:sp>
        <p:nvSpPr>
          <p:cNvPr id="8" name="Text 6"/>
          <p:cNvSpPr txBox="1"/>
          <p:nvPr/>
        </p:nvSpPr>
        <p:spPr>
          <a:xfrm>
            <a:off x="1280160" y="4839772"/>
            <a:ext cx="1828800" cy="307299"/>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Recall</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6,390</a:t>
            </a:r>
            <a:endParaRPr lang="en-US" sz="1000" dirty="0"/>
          </a:p>
        </p:txBody>
      </p:sp>
      <p:sp>
        <p:nvSpPr>
          <p:cNvPr id="9" name="Shape 7"/>
          <p:cNvSpPr/>
          <p:nvPr/>
        </p:nvSpPr>
        <p:spPr>
          <a:xfrm>
            <a:off x="1280160" y="5147070"/>
            <a:ext cx="1828800" cy="582328"/>
          </a:xfrm>
          <a:prstGeom prst="rect">
            <a:avLst/>
          </a:prstGeom>
          <a:solidFill>
            <a:srgbClr val="7B8794"/>
          </a:solidFill>
          <a:ln w="12700">
            <a:solidFill>
              <a:srgbClr val="FFFFFF"/>
            </a:solidFill>
            <a:prstDash val="solid"/>
          </a:ln>
        </p:spPr>
      </p:sp>
      <p:sp>
        <p:nvSpPr>
          <p:cNvPr id="10" name="Text 8"/>
          <p:cNvSpPr txBox="1"/>
          <p:nvPr/>
        </p:nvSpPr>
        <p:spPr>
          <a:xfrm>
            <a:off x="1280160" y="5147070"/>
            <a:ext cx="1828800" cy="58232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Other</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12,109</a:t>
            </a:r>
            <a:endParaRPr lang="en-US" sz="1000" dirty="0"/>
          </a:p>
        </p:txBody>
      </p:sp>
      <p:sp>
        <p:nvSpPr>
          <p:cNvPr id="11" name="Text 9"/>
          <p:cNvSpPr txBox="1"/>
          <p:nvPr/>
        </p:nvSpPr>
        <p:spPr>
          <a:xfrm>
            <a:off x="1280160" y="5802551"/>
            <a:ext cx="1828800" cy="320040"/>
          </a:xfrm>
          <a:prstGeom prst="rect">
            <a:avLst/>
          </a:prstGeom>
          <a:noFill/>
          <a:ln/>
        </p:spPr>
        <p:txBody>
          <a:bodyPr wrap="square" lIns="0" tIns="0" rIns="0" bIns="0" rtlCol="0" anchor="t"/>
          <a:lstStyle/>
          <a:p>
            <a:pPr algn="ctr" indent="0" marL="0">
              <a:buNone/>
            </a:pPr>
            <a:r>
              <a:rPr lang="en-US" sz="1200" b="1" dirty="0">
                <a:solidFill>
                  <a:srgbClr val="1F2933"/>
                </a:solidFill>
                <a:latin typeface="Calibri" pitchFamily="34" charset="0"/>
                <a:ea typeface="Calibri" pitchFamily="34" charset="-122"/>
                <a:cs typeface="Calibri" pitchFamily="34" charset="-120"/>
              </a:rPr>
              <a:t>June 2017: 85,863</a:t>
            </a:r>
            <a:endParaRPr lang="en-US" sz="1200" dirty="0"/>
          </a:p>
        </p:txBody>
      </p:sp>
      <p:sp>
        <p:nvSpPr>
          <p:cNvPr id="12" name="Shape 10"/>
          <p:cNvSpPr/>
          <p:nvPr/>
        </p:nvSpPr>
        <p:spPr>
          <a:xfrm>
            <a:off x="8686800" y="1600200"/>
            <a:ext cx="1828800" cy="2319119"/>
          </a:xfrm>
          <a:prstGeom prst="rect">
            <a:avLst/>
          </a:prstGeom>
          <a:solidFill>
            <a:srgbClr val="1F2933"/>
          </a:solidFill>
          <a:ln w="12700">
            <a:solidFill>
              <a:srgbClr val="FFFFFF"/>
            </a:solidFill>
            <a:prstDash val="solid"/>
          </a:ln>
        </p:spPr>
      </p:sp>
      <p:sp>
        <p:nvSpPr>
          <p:cNvPr id="13" name="Text 11"/>
          <p:cNvSpPr txBox="1"/>
          <p:nvPr/>
        </p:nvSpPr>
        <p:spPr>
          <a:xfrm>
            <a:off x="8686800" y="1600200"/>
            <a:ext cx="1828800" cy="2319119"/>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Determinate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48,224</a:t>
            </a:r>
            <a:endParaRPr lang="en-US" sz="1000" dirty="0"/>
          </a:p>
        </p:txBody>
      </p:sp>
      <p:sp>
        <p:nvSpPr>
          <p:cNvPr id="14" name="Shape 12"/>
          <p:cNvSpPr/>
          <p:nvPr/>
        </p:nvSpPr>
        <p:spPr>
          <a:xfrm>
            <a:off x="8686800" y="3919319"/>
            <a:ext cx="1828800" cy="851203"/>
          </a:xfrm>
          <a:prstGeom prst="rect">
            <a:avLst/>
          </a:prstGeom>
          <a:solidFill>
            <a:srgbClr val="B03A2E"/>
          </a:solidFill>
          <a:ln w="12700">
            <a:solidFill>
              <a:srgbClr val="FFFFFF"/>
            </a:solidFill>
            <a:prstDash val="solid"/>
          </a:ln>
        </p:spPr>
      </p:sp>
      <p:sp>
        <p:nvSpPr>
          <p:cNvPr id="15" name="Text 13"/>
          <p:cNvSpPr txBox="1"/>
          <p:nvPr/>
        </p:nvSpPr>
        <p:spPr>
          <a:xfrm>
            <a:off x="8686800" y="3919319"/>
            <a:ext cx="1828800" cy="851203"/>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Remand</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17,700</a:t>
            </a:r>
            <a:endParaRPr lang="en-US" sz="1000" dirty="0"/>
          </a:p>
        </p:txBody>
      </p:sp>
      <p:sp>
        <p:nvSpPr>
          <p:cNvPr id="16" name="Shape 14"/>
          <p:cNvSpPr/>
          <p:nvPr/>
        </p:nvSpPr>
        <p:spPr>
          <a:xfrm>
            <a:off x="8686800" y="4770521"/>
            <a:ext cx="1828800" cy="608682"/>
          </a:xfrm>
          <a:prstGeom prst="rect">
            <a:avLst/>
          </a:prstGeom>
          <a:solidFill>
            <a:srgbClr val="C8963E"/>
          </a:solidFill>
          <a:ln w="12700">
            <a:solidFill>
              <a:srgbClr val="FFFFFF"/>
            </a:solidFill>
            <a:prstDash val="solid"/>
          </a:ln>
        </p:spPr>
      </p:sp>
      <p:sp>
        <p:nvSpPr>
          <p:cNvPr id="17" name="Text 15"/>
          <p:cNvSpPr txBox="1"/>
          <p:nvPr/>
        </p:nvSpPr>
        <p:spPr>
          <a:xfrm>
            <a:off x="8686800" y="4770521"/>
            <a:ext cx="1828800" cy="60868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Recall</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12,657</a:t>
            </a:r>
            <a:endParaRPr lang="en-US" sz="1000" dirty="0"/>
          </a:p>
        </p:txBody>
      </p:sp>
      <p:sp>
        <p:nvSpPr>
          <p:cNvPr id="18" name="Shape 16"/>
          <p:cNvSpPr/>
          <p:nvPr/>
        </p:nvSpPr>
        <p:spPr>
          <a:xfrm>
            <a:off x="8686800" y="5379204"/>
            <a:ext cx="1828800" cy="427236"/>
          </a:xfrm>
          <a:prstGeom prst="rect">
            <a:avLst/>
          </a:prstGeom>
          <a:solidFill>
            <a:srgbClr val="7B8794"/>
          </a:solidFill>
          <a:ln w="12700">
            <a:solidFill>
              <a:srgbClr val="FFFFFF"/>
            </a:solidFill>
            <a:prstDash val="solid"/>
          </a:ln>
        </p:spPr>
      </p:sp>
      <p:sp>
        <p:nvSpPr>
          <p:cNvPr id="19" name="Text 17"/>
          <p:cNvSpPr txBox="1"/>
          <p:nvPr/>
        </p:nvSpPr>
        <p:spPr>
          <a:xfrm>
            <a:off x="8686800" y="5379204"/>
            <a:ext cx="1828800" cy="427236"/>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Other</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8,884</a:t>
            </a:r>
            <a:endParaRPr lang="en-US" sz="1000" dirty="0"/>
          </a:p>
        </p:txBody>
      </p:sp>
      <p:sp>
        <p:nvSpPr>
          <p:cNvPr id="20" name="Text 18"/>
          <p:cNvSpPr txBox="1"/>
          <p:nvPr/>
        </p:nvSpPr>
        <p:spPr>
          <a:xfrm>
            <a:off x="8686800" y="5879592"/>
            <a:ext cx="1828800" cy="320040"/>
          </a:xfrm>
          <a:prstGeom prst="rect">
            <a:avLst/>
          </a:prstGeom>
          <a:noFill/>
          <a:ln/>
        </p:spPr>
        <p:txBody>
          <a:bodyPr wrap="square" lIns="0" tIns="0" rIns="0" bIns="0" rtlCol="0" anchor="t"/>
          <a:lstStyle/>
          <a:p>
            <a:pPr algn="ctr" indent="0" marL="0">
              <a:buNone/>
            </a:pPr>
            <a:r>
              <a:rPr lang="en-US" sz="1200" b="1" dirty="0">
                <a:solidFill>
                  <a:srgbClr val="1F2933"/>
                </a:solidFill>
                <a:latin typeface="Calibri" pitchFamily="34" charset="0"/>
                <a:ea typeface="Calibri" pitchFamily="34" charset="-122"/>
                <a:cs typeface="Calibri" pitchFamily="34" charset="-120"/>
              </a:rPr>
              <a:t>Sept 2025: 87,465</a:t>
            </a:r>
            <a:endParaRPr lang="en-US" sz="1200" dirty="0"/>
          </a:p>
        </p:txBody>
      </p:sp>
      <p:sp>
        <p:nvSpPr>
          <p:cNvPr id="21" name="Shape 19"/>
          <p:cNvSpPr/>
          <p:nvPr/>
        </p:nvSpPr>
        <p:spPr>
          <a:xfrm flipV="1">
            <a:off x="3246120" y="2759759"/>
            <a:ext cx="5303520" cy="228478"/>
          </a:xfrm>
          <a:prstGeom prst="line">
            <a:avLst/>
          </a:prstGeom>
          <a:noFill/>
          <a:ln w="38100">
            <a:solidFill>
              <a:srgbClr val="1F2933"/>
            </a:solidFill>
            <a:prstDash val="solid"/>
            <a:tailEnd type="triangle"/>
          </a:ln>
        </p:spPr>
      </p:sp>
      <p:sp>
        <p:nvSpPr>
          <p:cNvPr id="22" name="Text 20"/>
          <p:cNvSpPr txBox="1"/>
          <p:nvPr/>
        </p:nvSpPr>
        <p:spPr>
          <a:xfrm>
            <a:off x="3657600" y="2331720"/>
            <a:ext cx="4572000" cy="365760"/>
          </a:xfrm>
          <a:prstGeom prst="rect">
            <a:avLst/>
          </a:prstGeom>
          <a:noFill/>
          <a:ln/>
        </p:spPr>
        <p:txBody>
          <a:bodyPr wrap="square" lIns="0" tIns="0" rIns="0" bIns="0" rtlCol="0" anchor="t"/>
          <a:lstStyle/>
          <a:p>
            <a:pPr algn="ctr" indent="0" marL="0">
              <a:buNone/>
            </a:pPr>
            <a:r>
              <a:rPr lang="en-US" sz="1300" b="1" dirty="0">
                <a:solidFill>
                  <a:srgbClr val="1F2933"/>
                </a:solidFill>
                <a:latin typeface="Calibri" pitchFamily="34" charset="0"/>
                <a:ea typeface="Calibri" pitchFamily="34" charset="-122"/>
                <a:cs typeface="Calibri" pitchFamily="34" charset="-120"/>
              </a:rPr>
              <a:t>−9,502 sentenced prisoners</a:t>
            </a:r>
            <a:endParaRPr lang="en-US" sz="1300" dirty="0"/>
          </a:p>
        </p:txBody>
      </p:sp>
      <p:sp>
        <p:nvSpPr>
          <p:cNvPr id="23" name="Shape 21"/>
          <p:cNvSpPr/>
          <p:nvPr/>
        </p:nvSpPr>
        <p:spPr>
          <a:xfrm flipV="1">
            <a:off x="3246120" y="4344920"/>
            <a:ext cx="5303520" cy="263103"/>
          </a:xfrm>
          <a:prstGeom prst="line">
            <a:avLst/>
          </a:prstGeom>
          <a:noFill/>
          <a:ln w="38100">
            <a:solidFill>
              <a:srgbClr val="B03A2E"/>
            </a:solidFill>
            <a:prstDash val="solid"/>
            <a:tailEnd type="triangle"/>
          </a:ln>
        </p:spPr>
      </p:sp>
      <p:sp>
        <p:nvSpPr>
          <p:cNvPr id="24" name="Text 22"/>
          <p:cNvSpPr txBox="1"/>
          <p:nvPr/>
        </p:nvSpPr>
        <p:spPr>
          <a:xfrm>
            <a:off x="3657600" y="4160520"/>
            <a:ext cx="4572000" cy="365760"/>
          </a:xfrm>
          <a:prstGeom prst="rect">
            <a:avLst/>
          </a:prstGeom>
          <a:noFill/>
          <a:ln/>
        </p:spPr>
        <p:txBody>
          <a:bodyPr wrap="square" lIns="0" tIns="0" rIns="0" bIns="0" rtlCol="0" anchor="t"/>
          <a:lstStyle/>
          <a:p>
            <a:pPr algn="ctr" indent="0" marL="0">
              <a:buNone/>
            </a:pPr>
            <a:r>
              <a:rPr lang="en-US" sz="1300" b="1" dirty="0">
                <a:solidFill>
                  <a:srgbClr val="B03A2E"/>
                </a:solidFill>
                <a:latin typeface="Calibri" pitchFamily="34" charset="0"/>
                <a:ea typeface="Calibri" pitchFamily="34" charset="-122"/>
                <a:cs typeface="Calibri" pitchFamily="34" charset="-120"/>
              </a:rPr>
              <a:t>+8,062 remand (+84%)</a:t>
            </a:r>
            <a:endParaRPr lang="en-US" sz="1300" dirty="0"/>
          </a:p>
        </p:txBody>
      </p:sp>
      <p:sp>
        <p:nvSpPr>
          <p:cNvPr id="25" name="Shape 23"/>
          <p:cNvSpPr/>
          <p:nvPr/>
        </p:nvSpPr>
        <p:spPr>
          <a:xfrm>
            <a:off x="3246120" y="4993421"/>
            <a:ext cx="5303520" cy="81441"/>
          </a:xfrm>
          <a:prstGeom prst="line">
            <a:avLst/>
          </a:prstGeom>
          <a:noFill/>
          <a:ln w="38100">
            <a:solidFill>
              <a:srgbClr val="C8963E"/>
            </a:solidFill>
            <a:prstDash val="solid"/>
            <a:tailEnd type="triangle"/>
          </a:ln>
        </p:spPr>
      </p:sp>
      <p:sp>
        <p:nvSpPr>
          <p:cNvPr id="26" name="Text 24"/>
          <p:cNvSpPr txBox="1"/>
          <p:nvPr/>
        </p:nvSpPr>
        <p:spPr>
          <a:xfrm>
            <a:off x="3657600" y="5074920"/>
            <a:ext cx="4572000" cy="365760"/>
          </a:xfrm>
          <a:prstGeom prst="rect">
            <a:avLst/>
          </a:prstGeom>
          <a:noFill/>
          <a:ln/>
        </p:spPr>
        <p:txBody>
          <a:bodyPr wrap="square" lIns="0" tIns="0" rIns="0" bIns="0" rtlCol="0" anchor="t"/>
          <a:lstStyle/>
          <a:p>
            <a:pPr algn="ctr" indent="0" marL="0">
              <a:buNone/>
            </a:pPr>
            <a:r>
              <a:rPr lang="en-US" sz="1300" b="1" dirty="0">
                <a:solidFill>
                  <a:srgbClr val="C8963E"/>
                </a:solidFill>
                <a:latin typeface="Calibri" pitchFamily="34" charset="0"/>
                <a:ea typeface="Calibri" pitchFamily="34" charset="-122"/>
                <a:cs typeface="Calibri" pitchFamily="34" charset="-120"/>
              </a:rPr>
              <a:t>+6,267 recall (+98%)</a:t>
            </a:r>
            <a:endParaRPr lang="en-US" sz="1300" dirty="0"/>
          </a:p>
        </p:txBody>
      </p:sp>
      <p:sp>
        <p:nvSpPr>
          <p:cNvPr id="27" name="Shape 25"/>
          <p:cNvSpPr/>
          <p:nvPr/>
        </p:nvSpPr>
        <p:spPr>
          <a:xfrm>
            <a:off x="3657600" y="5532120"/>
            <a:ext cx="4572000" cy="731520"/>
          </a:xfrm>
          <a:prstGeom prst="rect">
            <a:avLst/>
          </a:prstGeom>
          <a:solidFill>
            <a:srgbClr val="F5F6F4"/>
          </a:solidFill>
          <a:ln w="12700">
            <a:solidFill>
              <a:srgbClr val="F5F6F4"/>
            </a:solidFill>
            <a:prstDash val="solid"/>
          </a:ln>
        </p:spPr>
      </p:sp>
      <p:sp>
        <p:nvSpPr>
          <p:cNvPr id="28" name="Text 26"/>
          <p:cNvSpPr txBox="1"/>
          <p:nvPr/>
        </p:nvSpPr>
        <p:spPr>
          <a:xfrm>
            <a:off x="3749040" y="5532120"/>
            <a:ext cx="4389120" cy="731520"/>
          </a:xfrm>
          <a:prstGeom prst="rect">
            <a:avLst/>
          </a:prstGeom>
          <a:noFill/>
          <a:ln/>
        </p:spPr>
        <p:txBody>
          <a:bodyPr wrap="square" lIns="0" tIns="0" rIns="0" bIns="0" rtlCol="0" anchor="ctr"/>
          <a:lstStyle/>
          <a:p>
            <a:pPr algn="ctr" indent="0" marL="0">
              <a:buNone/>
            </a:pPr>
            <a:r>
              <a:rPr lang="en-US" sz="1050" dirty="0">
                <a:solidFill>
                  <a:srgbClr val="323F4B"/>
                </a:solidFill>
                <a:latin typeface="Calibri" pitchFamily="34" charset="0"/>
                <a:ea typeface="Calibri" pitchFamily="34" charset="-122"/>
                <a:cs typeface="Calibri" pitchFamily="34" charset="-120"/>
              </a:rPr>
              <a:t>Near one for one. The break is 2019 to 2020 when the courts stopped; it never reversed.</a:t>
            </a:r>
            <a:endParaRPr lang="en-US" sz="1050" dirty="0"/>
          </a:p>
        </p:txBody>
      </p:sp>
      <p:sp>
        <p:nvSpPr>
          <p:cNvPr id="29" name="Text 27"/>
          <p:cNvSpPr txBox="1"/>
          <p:nvPr/>
        </p:nvSpPr>
        <p:spPr>
          <a:xfrm>
            <a:off x="10698480" y="1600200"/>
            <a:ext cx="1371600" cy="2743200"/>
          </a:xfrm>
          <a:prstGeom prst="rect">
            <a:avLst/>
          </a:prstGeom>
          <a:noFill/>
          <a:ln/>
        </p:spPr>
        <p:txBody>
          <a:bodyPr wrap="square" lIns="0" tIns="0" rIns="0" bIns="0" rtlCol="0" anchor="t"/>
          <a:lstStyle/>
          <a:p>
            <a:pPr algn="l" indent="0" marL="0">
              <a:buNone/>
            </a:pPr>
            <a:r>
              <a:rPr lang="en-US" sz="1100" dirty="0">
                <a:solidFill>
                  <a:srgbClr val="323F4B"/>
                </a:solidFill>
                <a:latin typeface="Calibri" pitchFamily="34" charset="0"/>
                <a:ea typeface="Calibri" pitchFamily="34" charset="-122"/>
                <a:cs typeface="Calibri" pitchFamily="34" charset="-120"/>
              </a:rPr>
              <a:t>Determinate share</a:t>
            </a:r>
            <a:endParaRPr lang="en-US" sz="1100" dirty="0"/>
          </a:p>
          <a:p>
            <a:pPr algn="l" indent="0" marL="0">
              <a:buNone/>
            </a:pPr>
            <a:r>
              <a:rPr lang="en-US" sz="1100" dirty="0">
                <a:solidFill>
                  <a:srgbClr val="323F4B"/>
                </a:solidFill>
                <a:latin typeface="Calibri" pitchFamily="34" charset="0"/>
                <a:ea typeface="Calibri" pitchFamily="34" charset="-122"/>
                <a:cs typeface="Calibri" pitchFamily="34" charset="-120"/>
              </a:rPr>
              <a:t>67% → 55%</a:t>
            </a:r>
            <a:endParaRPr lang="en-US" sz="1100" dirty="0"/>
          </a:p>
          <a:p>
            <a:pPr algn="l" indent="0" marL="0">
              <a:buNone/>
            </a:pPr>
            <a:endParaRPr lang="en-US" sz="1100" dirty="0"/>
          </a:p>
          <a:p>
            <a:pPr algn="l" indent="0" marL="0">
              <a:buNone/>
            </a:pPr>
            <a:r>
              <a:rPr lang="en-US" sz="1100" dirty="0">
                <a:solidFill>
                  <a:srgbClr val="323F4B"/>
                </a:solidFill>
                <a:latin typeface="Calibri" pitchFamily="34" charset="0"/>
                <a:ea typeface="Calibri" pitchFamily="34" charset="-122"/>
                <a:cs typeface="Calibri" pitchFamily="34" charset="-120"/>
              </a:rPr>
              <a:t>Remand + recall</a:t>
            </a:r>
            <a:endParaRPr lang="en-US" sz="1100" dirty="0"/>
          </a:p>
          <a:p>
            <a:pPr algn="l" indent="0" marL="0">
              <a:buNone/>
            </a:pPr>
            <a:r>
              <a:rPr lang="en-US" sz="1100" dirty="0">
                <a:solidFill>
                  <a:srgbClr val="323F4B"/>
                </a:solidFill>
                <a:latin typeface="Calibri" pitchFamily="34" charset="0"/>
                <a:ea typeface="Calibri" pitchFamily="34" charset="-122"/>
                <a:cs typeface="Calibri" pitchFamily="34" charset="-120"/>
              </a:rPr>
              <a:t>19% → 35%</a:t>
            </a:r>
            <a:endParaRPr lang="en-US" sz="1100" dirty="0"/>
          </a:p>
        </p:txBody>
      </p:sp>
      <p:sp>
        <p:nvSpPr>
          <p:cNvPr id="30" name="Text 28"/>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900" dirty="0">
                <a:solidFill>
                  <a:srgbClr val="7B8794"/>
                </a:solidFill>
                <a:latin typeface="Calibri" pitchFamily="34" charset="0"/>
                <a:ea typeface="Calibri" pitchFamily="34" charset="-122"/>
                <a:cs typeface="Calibri" pitchFamily="34" charset="-120"/>
              </a:rPr>
              <a:t>MoJ published base-year actuals from the 2017-2022 and 2025-2030 projection editions. Other = indeterminate, non-criminal, fine defaulters.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5. The recall loop: every early release carries its own partial reversal</a:t>
            </a:r>
            <a:endParaRPr lang="en-US" sz="3000" dirty="0"/>
          </a:p>
        </p:txBody>
      </p:sp>
      <p:sp>
        <p:nvSpPr>
          <p:cNvPr id="3" name="Shape 1"/>
          <p:cNvSpPr/>
          <p:nvPr/>
        </p:nvSpPr>
        <p:spPr>
          <a:xfrm>
            <a:off x="2697480" y="1531620"/>
            <a:ext cx="1737360" cy="777240"/>
          </a:xfrm>
          <a:prstGeom prst="roundRect">
            <a:avLst>
              <a:gd name="adj" fmla="val 9412"/>
            </a:avLst>
          </a:prstGeom>
          <a:solidFill>
            <a:srgbClr val="1F2933"/>
          </a:solidFill>
          <a:ln w="12700">
            <a:solidFill>
              <a:srgbClr val="1F2933"/>
            </a:solidFill>
            <a:prstDash val="solid"/>
          </a:ln>
        </p:spPr>
      </p:sp>
      <p:sp>
        <p:nvSpPr>
          <p:cNvPr id="4" name="Text 2"/>
          <p:cNvSpPr txBox="1"/>
          <p:nvPr/>
        </p:nvSpPr>
        <p:spPr>
          <a:xfrm>
            <a:off x="2788920" y="1531620"/>
            <a:ext cx="1554480" cy="77724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In custody</a:t>
            </a:r>
            <a:endParaRPr lang="en-US" sz="1050" dirty="0"/>
          </a:p>
        </p:txBody>
      </p:sp>
      <p:sp>
        <p:nvSpPr>
          <p:cNvPr id="5" name="Shape 3"/>
          <p:cNvSpPr/>
          <p:nvPr/>
        </p:nvSpPr>
        <p:spPr>
          <a:xfrm>
            <a:off x="4523737" y="2858473"/>
            <a:ext cx="1737360" cy="777240"/>
          </a:xfrm>
          <a:prstGeom prst="roundRect">
            <a:avLst>
              <a:gd name="adj" fmla="val 9412"/>
            </a:avLst>
          </a:prstGeom>
          <a:solidFill>
            <a:srgbClr val="F5F6F4"/>
          </a:solidFill>
          <a:ln w="12700">
            <a:solidFill>
              <a:srgbClr val="F5F6F4"/>
            </a:solidFill>
            <a:prstDash val="solid"/>
          </a:ln>
        </p:spPr>
      </p:sp>
      <p:sp>
        <p:nvSpPr>
          <p:cNvPr id="6" name="Text 4"/>
          <p:cNvSpPr txBox="1"/>
          <p:nvPr/>
        </p:nvSpPr>
        <p:spPr>
          <a:xfrm>
            <a:off x="4615177" y="2858473"/>
            <a:ext cx="1554480" cy="777240"/>
          </a:xfrm>
          <a:prstGeom prst="rect">
            <a:avLst/>
          </a:prstGeom>
          <a:noFill/>
          <a:ln/>
        </p:spPr>
        <p:txBody>
          <a:bodyPr wrap="square" lIns="0" tIns="0" rIns="0" bIns="0" rtlCol="0" anchor="ctr"/>
          <a:lstStyle/>
          <a:p>
            <a:pPr algn="ctr" indent="0" marL="0">
              <a:buNone/>
            </a:pPr>
            <a:r>
              <a:rPr lang="en-US" sz="1050" dirty="0">
                <a:solidFill>
                  <a:srgbClr val="323F4B"/>
                </a:solidFill>
                <a:latin typeface="Calibri" pitchFamily="34" charset="0"/>
                <a:ea typeface="Calibri" pitchFamily="34" charset="-122"/>
                <a:cs typeface="Calibri" pitchFamily="34" charset="-120"/>
              </a:rPr>
              <a:t>Released early on licence</a:t>
            </a:r>
            <a:endParaRPr lang="en-US" sz="1050" dirty="0"/>
          </a:p>
        </p:txBody>
      </p:sp>
      <p:sp>
        <p:nvSpPr>
          <p:cNvPr id="7" name="Shape 5"/>
          <p:cNvSpPr/>
          <p:nvPr/>
        </p:nvSpPr>
        <p:spPr>
          <a:xfrm>
            <a:off x="3826169" y="5005367"/>
            <a:ext cx="1737360" cy="777240"/>
          </a:xfrm>
          <a:prstGeom prst="roundRect">
            <a:avLst>
              <a:gd name="adj" fmla="val 9412"/>
            </a:avLst>
          </a:prstGeom>
          <a:solidFill>
            <a:srgbClr val="F5F6F4"/>
          </a:solidFill>
          <a:ln w="12700">
            <a:solidFill>
              <a:srgbClr val="F5F6F4"/>
            </a:solidFill>
            <a:prstDash val="solid"/>
          </a:ln>
        </p:spPr>
      </p:sp>
      <p:sp>
        <p:nvSpPr>
          <p:cNvPr id="8" name="Text 6"/>
          <p:cNvSpPr txBox="1"/>
          <p:nvPr/>
        </p:nvSpPr>
        <p:spPr>
          <a:xfrm>
            <a:off x="3917609" y="5005367"/>
            <a:ext cx="1554480" cy="777240"/>
          </a:xfrm>
          <a:prstGeom prst="rect">
            <a:avLst/>
          </a:prstGeom>
          <a:noFill/>
          <a:ln/>
        </p:spPr>
        <p:txBody>
          <a:bodyPr wrap="square" lIns="0" tIns="0" rIns="0" bIns="0" rtlCol="0" anchor="ctr"/>
          <a:lstStyle/>
          <a:p>
            <a:pPr algn="ctr" indent="0" marL="0">
              <a:buNone/>
            </a:pPr>
            <a:r>
              <a:rPr lang="en-US" sz="1050" dirty="0">
                <a:solidFill>
                  <a:srgbClr val="323F4B"/>
                </a:solidFill>
                <a:latin typeface="Calibri" pitchFamily="34" charset="0"/>
                <a:ea typeface="Calibri" pitchFamily="34" charset="-122"/>
                <a:cs typeface="Calibri" pitchFamily="34" charset="-120"/>
              </a:rPr>
              <a:t>More people on licence, for longer</a:t>
            </a:r>
            <a:endParaRPr lang="en-US" sz="1050" dirty="0"/>
          </a:p>
        </p:txBody>
      </p:sp>
      <p:sp>
        <p:nvSpPr>
          <p:cNvPr id="9" name="Shape 7"/>
          <p:cNvSpPr/>
          <p:nvPr/>
        </p:nvSpPr>
        <p:spPr>
          <a:xfrm>
            <a:off x="1568791" y="5005367"/>
            <a:ext cx="1737360" cy="777240"/>
          </a:xfrm>
          <a:prstGeom prst="roundRect">
            <a:avLst>
              <a:gd name="adj" fmla="val 9412"/>
            </a:avLst>
          </a:prstGeom>
          <a:solidFill>
            <a:srgbClr val="F5F6F4"/>
          </a:solidFill>
          <a:ln w="12700">
            <a:solidFill>
              <a:srgbClr val="F5F6F4"/>
            </a:solidFill>
            <a:prstDash val="solid"/>
          </a:ln>
        </p:spPr>
      </p:sp>
      <p:sp>
        <p:nvSpPr>
          <p:cNvPr id="10" name="Text 8"/>
          <p:cNvSpPr txBox="1"/>
          <p:nvPr/>
        </p:nvSpPr>
        <p:spPr>
          <a:xfrm>
            <a:off x="1660231" y="5005367"/>
            <a:ext cx="1554480" cy="777240"/>
          </a:xfrm>
          <a:prstGeom prst="rect">
            <a:avLst/>
          </a:prstGeom>
          <a:noFill/>
          <a:ln/>
        </p:spPr>
        <p:txBody>
          <a:bodyPr wrap="square" lIns="0" tIns="0" rIns="0" bIns="0" rtlCol="0" anchor="ctr"/>
          <a:lstStyle/>
          <a:p>
            <a:pPr algn="ctr" indent="0" marL="0">
              <a:buNone/>
            </a:pPr>
            <a:r>
              <a:rPr lang="en-US" sz="1050" dirty="0">
                <a:solidFill>
                  <a:srgbClr val="323F4B"/>
                </a:solidFill>
                <a:latin typeface="Calibri" pitchFamily="34" charset="0"/>
                <a:ea typeface="Calibri" pitchFamily="34" charset="-122"/>
                <a:cs typeface="Calibri" pitchFamily="34" charset="-120"/>
              </a:rPr>
              <a:t>Breach of licence</a:t>
            </a:r>
            <a:endParaRPr lang="en-US" sz="1050" dirty="0"/>
          </a:p>
        </p:txBody>
      </p:sp>
      <p:sp>
        <p:nvSpPr>
          <p:cNvPr id="11" name="Shape 9"/>
          <p:cNvSpPr/>
          <p:nvPr/>
        </p:nvSpPr>
        <p:spPr>
          <a:xfrm>
            <a:off x="871223" y="2858473"/>
            <a:ext cx="1737360" cy="777240"/>
          </a:xfrm>
          <a:prstGeom prst="roundRect">
            <a:avLst>
              <a:gd name="adj" fmla="val 9412"/>
            </a:avLst>
          </a:prstGeom>
          <a:solidFill>
            <a:srgbClr val="B03A2E"/>
          </a:solidFill>
          <a:ln w="12700">
            <a:solidFill>
              <a:srgbClr val="B03A2E"/>
            </a:solidFill>
            <a:prstDash val="solid"/>
          </a:ln>
        </p:spPr>
      </p:sp>
      <p:sp>
        <p:nvSpPr>
          <p:cNvPr id="12" name="Text 10"/>
          <p:cNvSpPr txBox="1"/>
          <p:nvPr/>
        </p:nvSpPr>
        <p:spPr>
          <a:xfrm>
            <a:off x="962663" y="2858473"/>
            <a:ext cx="1554480" cy="77724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Recalled to custody</a:t>
            </a:r>
            <a:endParaRPr lang="en-US" sz="1050" dirty="0"/>
          </a:p>
        </p:txBody>
      </p:sp>
      <p:sp>
        <p:nvSpPr>
          <p:cNvPr id="13" name="Shape 11"/>
          <p:cNvSpPr/>
          <p:nvPr/>
        </p:nvSpPr>
        <p:spPr>
          <a:xfrm>
            <a:off x="4223490" y="2397818"/>
            <a:ext cx="511596" cy="371696"/>
          </a:xfrm>
          <a:prstGeom prst="line">
            <a:avLst/>
          </a:prstGeom>
          <a:noFill/>
          <a:ln w="31750">
            <a:solidFill>
              <a:srgbClr val="7B8794"/>
            </a:solidFill>
            <a:prstDash val="solid"/>
            <a:tailEnd type="triangle"/>
          </a:ln>
        </p:spPr>
      </p:sp>
      <p:sp>
        <p:nvSpPr>
          <p:cNvPr id="14" name="Shape 12"/>
          <p:cNvSpPr/>
          <p:nvPr/>
        </p:nvSpPr>
        <p:spPr>
          <a:xfrm flipH="1">
            <a:off x="4842969" y="3702961"/>
            <a:ext cx="401327" cy="1235158"/>
          </a:xfrm>
          <a:prstGeom prst="line">
            <a:avLst/>
          </a:prstGeom>
          <a:noFill/>
          <a:ln w="31750">
            <a:solidFill>
              <a:srgbClr val="7B8794"/>
            </a:solidFill>
            <a:prstDash val="solid"/>
            <a:tailEnd type="triangle"/>
          </a:ln>
        </p:spPr>
      </p:sp>
      <p:sp>
        <p:nvSpPr>
          <p:cNvPr id="15" name="Shape 13"/>
          <p:cNvSpPr/>
          <p:nvPr/>
        </p:nvSpPr>
        <p:spPr>
          <a:xfrm flipH="1">
            <a:off x="3415879" y="5393987"/>
            <a:ext cx="300562" cy="9144"/>
          </a:xfrm>
          <a:prstGeom prst="line">
            <a:avLst/>
          </a:prstGeom>
          <a:noFill/>
          <a:ln w="31750">
            <a:solidFill>
              <a:srgbClr val="7B8794"/>
            </a:solidFill>
            <a:prstDash val="solid"/>
            <a:tailEnd type="triangle"/>
          </a:ln>
        </p:spPr>
      </p:sp>
      <p:sp>
        <p:nvSpPr>
          <p:cNvPr id="16" name="Shape 14"/>
          <p:cNvSpPr/>
          <p:nvPr/>
        </p:nvSpPr>
        <p:spPr>
          <a:xfrm flipH="1" flipV="1">
            <a:off x="1888024" y="3702961"/>
            <a:ext cx="401327" cy="1235158"/>
          </a:xfrm>
          <a:prstGeom prst="line">
            <a:avLst/>
          </a:prstGeom>
          <a:noFill/>
          <a:ln w="31750">
            <a:solidFill>
              <a:srgbClr val="7B8794"/>
            </a:solidFill>
            <a:prstDash val="solid"/>
            <a:tailEnd type="triangle"/>
          </a:ln>
        </p:spPr>
      </p:sp>
      <p:sp>
        <p:nvSpPr>
          <p:cNvPr id="17" name="Shape 15"/>
          <p:cNvSpPr/>
          <p:nvPr/>
        </p:nvSpPr>
        <p:spPr>
          <a:xfrm flipV="1">
            <a:off x="2397233" y="2397818"/>
            <a:ext cx="511596" cy="371696"/>
          </a:xfrm>
          <a:prstGeom prst="line">
            <a:avLst/>
          </a:prstGeom>
          <a:noFill/>
          <a:ln w="31750">
            <a:solidFill>
              <a:srgbClr val="7B8794"/>
            </a:solidFill>
            <a:prstDash val="solid"/>
            <a:tailEnd type="triangle"/>
          </a:ln>
        </p:spPr>
      </p:sp>
      <p:sp>
        <p:nvSpPr>
          <p:cNvPr id="18" name="Text 16"/>
          <p:cNvSpPr txBox="1"/>
          <p:nvPr/>
        </p:nvSpPr>
        <p:spPr>
          <a:xfrm>
            <a:off x="2651760" y="3520440"/>
            <a:ext cx="1828800" cy="640080"/>
          </a:xfrm>
          <a:prstGeom prst="rect">
            <a:avLst/>
          </a:prstGeom>
          <a:noFill/>
          <a:ln/>
        </p:spPr>
        <p:txBody>
          <a:bodyPr wrap="square" lIns="0" tIns="0" rIns="0" bIns="0" rtlCol="0" anchor="t"/>
          <a:lstStyle/>
          <a:p>
            <a:pPr algn="ctr" indent="0" marL="0">
              <a:buNone/>
            </a:pPr>
            <a:r>
              <a:rPr lang="en-US" sz="1000" b="1" dirty="0">
                <a:solidFill>
                  <a:srgbClr val="1F2933"/>
                </a:solidFill>
                <a:latin typeface="Calibri" pitchFamily="34" charset="0"/>
                <a:ea typeface="Calibri" pitchFamily="34" charset="-122"/>
                <a:cs typeface="Calibri" pitchFamily="34" charset="-120"/>
              </a:rPr>
              <a:t>99.4% of recalls</a:t>
            </a:r>
            <a:endParaRPr lang="en-US" sz="1000" dirty="0"/>
          </a:p>
          <a:p>
            <a:pPr algn="ctr" indent="0" marL="0">
              <a:buNone/>
            </a:pPr>
            <a:r>
              <a:rPr lang="en-US" sz="1000" b="1" dirty="0">
                <a:solidFill>
                  <a:srgbClr val="1F2933"/>
                </a:solidFill>
                <a:latin typeface="Calibri" pitchFamily="34" charset="0"/>
                <a:ea typeface="Calibri" pitchFamily="34" charset="-122"/>
                <a:cs typeface="Calibri" pitchFamily="34" charset="-120"/>
              </a:rPr>
              <a:t>return to custody</a:t>
            </a:r>
            <a:endParaRPr lang="en-US" sz="1000" dirty="0"/>
          </a:p>
        </p:txBody>
      </p:sp>
      <p:sp>
        <p:nvSpPr>
          <p:cNvPr id="19" name="Text 17"/>
          <p:cNvSpPr txBox="1"/>
          <p:nvPr/>
        </p:nvSpPr>
        <p:spPr>
          <a:xfrm>
            <a:off x="6949440" y="1371600"/>
            <a:ext cx="2286000" cy="685800"/>
          </a:xfrm>
          <a:prstGeom prst="rect">
            <a:avLst/>
          </a:prstGeom>
          <a:noFill/>
          <a:ln/>
        </p:spPr>
        <p:txBody>
          <a:bodyPr wrap="square" lIns="0" tIns="0" rIns="0" bIns="0" rtlCol="0" anchor="ctr"/>
          <a:lstStyle/>
          <a:p>
            <a:pPr indent="0" marL="0">
              <a:buNone/>
            </a:pPr>
            <a:r>
              <a:rPr lang="en-US" sz="3200" b="1" dirty="0">
                <a:solidFill>
                  <a:srgbClr val="B03A2E"/>
                </a:solidFill>
                <a:latin typeface="Cambria" pitchFamily="34" charset="0"/>
                <a:ea typeface="Cambria" pitchFamily="34" charset="-122"/>
                <a:cs typeface="Cambria" pitchFamily="34" charset="-120"/>
              </a:rPr>
              <a:t>29 → 85</a:t>
            </a:r>
            <a:endParaRPr lang="en-US" sz="3200" dirty="0"/>
          </a:p>
        </p:txBody>
      </p:sp>
      <p:sp>
        <p:nvSpPr>
          <p:cNvPr id="20" name="Text 18"/>
          <p:cNvSpPr txBox="1"/>
          <p:nvPr/>
        </p:nvSpPr>
        <p:spPr>
          <a:xfrm>
            <a:off x="6949440" y="2057400"/>
            <a:ext cx="2286000" cy="502920"/>
          </a:xfrm>
          <a:prstGeom prst="rect">
            <a:avLst/>
          </a:prstGeom>
          <a:noFill/>
          <a:ln/>
        </p:spPr>
        <p:txBody>
          <a:bodyPr wrap="square" lIns="0" tIns="0" rIns="0" bIns="0" rtlCol="0" anchor="t"/>
          <a:lstStyle/>
          <a:p>
            <a:pPr indent="0" marL="0">
              <a:buNone/>
            </a:pPr>
            <a:r>
              <a:rPr lang="en-US" sz="1100" dirty="0">
                <a:solidFill>
                  <a:srgbClr val="7B8794"/>
                </a:solidFill>
                <a:latin typeface="Calibri" pitchFamily="34" charset="0"/>
                <a:ea typeface="Calibri" pitchFamily="34" charset="-122"/>
                <a:cs typeface="Calibri" pitchFamily="34" charset="-120"/>
              </a:rPr>
              <a:t>recalls per 100 releases, 2015 to 2025</a:t>
            </a:r>
            <a:endParaRPr lang="en-US" sz="1100" dirty="0"/>
          </a:p>
        </p:txBody>
      </p:sp>
      <p:sp>
        <p:nvSpPr>
          <p:cNvPr id="21" name="Text 19"/>
          <p:cNvSpPr txBox="1"/>
          <p:nvPr/>
        </p:nvSpPr>
        <p:spPr>
          <a:xfrm>
            <a:off x="9418320" y="1371600"/>
            <a:ext cx="2286000"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+125%</a:t>
            </a:r>
            <a:endParaRPr lang="en-US" sz="3200" dirty="0"/>
          </a:p>
        </p:txBody>
      </p:sp>
      <p:sp>
        <p:nvSpPr>
          <p:cNvPr id="22" name="Text 20"/>
          <p:cNvSpPr txBox="1"/>
          <p:nvPr/>
        </p:nvSpPr>
        <p:spPr>
          <a:xfrm>
            <a:off x="9418320" y="2057400"/>
            <a:ext cx="2286000" cy="502920"/>
          </a:xfrm>
          <a:prstGeom prst="rect">
            <a:avLst/>
          </a:prstGeom>
          <a:noFill/>
          <a:ln/>
        </p:spPr>
        <p:txBody>
          <a:bodyPr wrap="square" lIns="0" tIns="0" rIns="0" bIns="0" rtlCol="0" anchor="t"/>
          <a:lstStyle/>
          <a:p>
            <a:pPr indent="0" marL="0">
              <a:buNone/>
            </a:pPr>
            <a:r>
              <a:rPr lang="en-US" sz="1100" dirty="0">
                <a:solidFill>
                  <a:srgbClr val="7B8794"/>
                </a:solidFill>
                <a:latin typeface="Calibri" pitchFamily="34" charset="0"/>
                <a:ea typeface="Calibri" pitchFamily="34" charset="-122"/>
                <a:cs typeface="Calibri" pitchFamily="34" charset="-120"/>
              </a:rPr>
              <a:t>recalls per year since 2015, to 48,327</a:t>
            </a:r>
            <a:endParaRPr lang="en-US" sz="1100" dirty="0"/>
          </a:p>
        </p:txBody>
      </p:sp>
      <p:sp>
        <p:nvSpPr>
          <p:cNvPr id="23" name="Shape 21"/>
          <p:cNvSpPr/>
          <p:nvPr/>
        </p:nvSpPr>
        <p:spPr>
          <a:xfrm>
            <a:off x="6949440" y="2743200"/>
            <a:ext cx="4754880" cy="914400"/>
          </a:xfrm>
          <a:prstGeom prst="rect">
            <a:avLst/>
          </a:prstGeom>
          <a:solidFill>
            <a:srgbClr val="1F2933"/>
          </a:solidFill>
          <a:ln w="12700">
            <a:solidFill>
              <a:srgbClr val="1F2933"/>
            </a:solidFill>
            <a:prstDash val="solid"/>
          </a:ln>
        </p:spPr>
      </p:sp>
      <p:sp>
        <p:nvSpPr>
          <p:cNvPr id="24" name="Text 22"/>
          <p:cNvSpPr txBox="1"/>
          <p:nvPr/>
        </p:nvSpPr>
        <p:spPr>
          <a:xfrm>
            <a:off x="7040880" y="2743200"/>
            <a:ext cx="4572000" cy="914400"/>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Q1 2026: 13,193 recalls against 12,977 determinate releases. More people came back than went out.</a:t>
            </a:r>
            <a:endParaRPr lang="en-US" sz="1150" dirty="0"/>
          </a:p>
        </p:txBody>
      </p:sp>
      <p:sp>
        <p:nvSpPr>
          <p:cNvPr id="25" name="Shape 23"/>
          <p:cNvSpPr/>
          <p:nvPr/>
        </p:nvSpPr>
        <p:spPr>
          <a:xfrm>
            <a:off x="6949440" y="3840480"/>
            <a:ext cx="4754880" cy="1051560"/>
          </a:xfrm>
          <a:prstGeom prst="rect">
            <a:avLst/>
          </a:prstGeom>
          <a:solidFill>
            <a:srgbClr val="F5F6F4"/>
          </a:solidFill>
          <a:ln w="12700">
            <a:solidFill>
              <a:srgbClr val="F5F6F4"/>
            </a:solidFill>
            <a:prstDash val="solid"/>
          </a:ln>
        </p:spPr>
      </p:sp>
      <p:sp>
        <p:nvSpPr>
          <p:cNvPr id="26" name="Text 24"/>
          <p:cNvSpPr txBox="1"/>
          <p:nvPr/>
        </p:nvSpPr>
        <p:spPr>
          <a:xfrm>
            <a:off x="7040880" y="3840480"/>
            <a:ext cx="4572000" cy="1051560"/>
          </a:xfrm>
          <a:prstGeom prst="rect">
            <a:avLst/>
          </a:prstGeom>
          <a:noFill/>
          <a:ln/>
        </p:spPr>
        <p:txBody>
          <a:bodyPr wrap="square" lIns="0" tIns="0" rIns="0" bIns="0" rtlCol="0" anchor="ctr"/>
          <a:lstStyle/>
          <a:p>
            <a:pPr algn="l" indent="0" marL="0">
              <a:buNone/>
            </a:pPr>
            <a:r>
              <a:rPr lang="en-US" sz="1100" dirty="0">
                <a:solidFill>
                  <a:srgbClr val="323F4B"/>
                </a:solidFill>
                <a:latin typeface="Calibri" pitchFamily="34" charset="0"/>
                <a:ea typeface="Calibri" pitchFamily="34" charset="-122"/>
                <a:cs typeface="Calibri" pitchFamily="34" charset="-120"/>
              </a:rPr>
              <a:t>Contained so far by shortening recalls: inflow +73% in a year, recall population +0.6%, because mean time in custody per recall fell from 5.1 to 3.0 months.</a:t>
            </a:r>
            <a:endParaRPr lang="en-US" sz="1100" dirty="0"/>
          </a:p>
        </p:txBody>
      </p:sp>
      <p:sp>
        <p:nvSpPr>
          <p:cNvPr id="27" name="Shape 25"/>
          <p:cNvSpPr/>
          <p:nvPr/>
        </p:nvSpPr>
        <p:spPr>
          <a:xfrm>
            <a:off x="6949440" y="5029200"/>
            <a:ext cx="4754880" cy="1097280"/>
          </a:xfrm>
          <a:prstGeom prst="rect">
            <a:avLst/>
          </a:prstGeom>
          <a:solidFill>
            <a:srgbClr val="B03A2E"/>
          </a:solidFill>
          <a:ln w="12700">
            <a:solidFill>
              <a:srgbClr val="B03A2E"/>
            </a:solidFill>
            <a:prstDash val="solid"/>
          </a:ln>
        </p:spPr>
      </p:sp>
      <p:sp>
        <p:nvSpPr>
          <p:cNvPr id="28" name="Text 26"/>
          <p:cNvSpPr txBox="1"/>
          <p:nvPr/>
        </p:nvSpPr>
        <p:spPr>
          <a:xfrm>
            <a:off x="7040880" y="5029200"/>
            <a:ext cx="4572000" cy="109728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Then reversed: from 31 March 2026 a 56-day fixed-term recall replaced the 14 and 28 day ones. Mechanically up to +3,570 places, not yet visible in the data. First measurable in the Apr-Jun OMSQ, due 29 October.</a:t>
            </a:r>
            <a:endParaRPr lang="en-US" sz="1100" dirty="0"/>
          </a:p>
        </p:txBody>
      </p:sp>
      <p:sp>
        <p:nvSpPr>
          <p:cNvPr id="29" name="Text 27"/>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900" dirty="0">
                <a:solidFill>
                  <a:srgbClr val="7B8794"/>
                </a:solidFill>
                <a:latin typeface="Calibri" pitchFamily="34" charset="0"/>
                <a:ea typeface="Calibri" pitchFamily="34" charset="-122"/>
                <a:cs typeface="Calibri" pitchFamily="34" charset="-120"/>
              </a:rPr>
              <a:t>OMSQ recall and release tables across six editions. The surge began in Q2 2024 with the ECSL extensions, before SDS40. Composition series breaks at July 2025; totals unaffected.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6. Capacity follows population, so a release buys about 60% of its face value</a:t>
            </a:r>
            <a:endParaRPr lang="en-US" sz="3000" dirty="0"/>
          </a:p>
        </p:txBody>
      </p:sp>
      <p:sp>
        <p:nvSpPr>
          <p:cNvPr id="3" name="Text 1"/>
          <p:cNvSpPr txBox="1"/>
          <p:nvPr/>
        </p:nvSpPr>
        <p:spPr>
          <a:xfrm>
            <a:off x="731520" y="1325880"/>
            <a:ext cx="5486400" cy="320040"/>
          </a:xfrm>
          <a:prstGeom prst="rect">
            <a:avLst/>
          </a:prstGeom>
          <a:noFill/>
          <a:ln/>
        </p:spPr>
        <p:txBody>
          <a:bodyPr wrap="square" lIns="0" tIns="0" rIns="0" bIns="0" rtlCol="0" anchor="t"/>
          <a:lstStyle/>
          <a:p>
            <a:pPr algn="l" indent="0" marL="0">
              <a:buNone/>
            </a:pPr>
            <a:r>
              <a:rPr lang="en-US" sz="1200" b="1" dirty="0">
                <a:solidFill>
                  <a:srgbClr val="B03A2E"/>
                </a:solidFill>
                <a:latin typeface="Calibri" pitchFamily="34" charset="0"/>
                <a:ea typeface="Calibri" pitchFamily="34" charset="-122"/>
                <a:cs typeface="Calibri" pitchFamily="34" charset="-120"/>
              </a:rPr>
              <a:t>When the estate is full</a:t>
            </a:r>
            <a:endParaRPr lang="en-US" sz="1200" dirty="0"/>
          </a:p>
        </p:txBody>
      </p:sp>
      <p:sp>
        <p:nvSpPr>
          <p:cNvPr id="4" name="Shape 2"/>
          <p:cNvSpPr/>
          <p:nvPr/>
        </p:nvSpPr>
        <p:spPr>
          <a:xfrm>
            <a:off x="731520" y="1691640"/>
            <a:ext cx="2331720" cy="868680"/>
          </a:xfrm>
          <a:prstGeom prst="roundRect">
            <a:avLst>
              <a:gd name="adj" fmla="val 8421"/>
            </a:avLst>
          </a:prstGeom>
          <a:solidFill>
            <a:srgbClr val="B03A2E"/>
          </a:solidFill>
          <a:ln w="12700">
            <a:solidFill>
              <a:srgbClr val="B03A2E"/>
            </a:solidFill>
            <a:prstDash val="solid"/>
          </a:ln>
        </p:spPr>
      </p:sp>
      <p:sp>
        <p:nvSpPr>
          <p:cNvPr id="5" name="Text 3"/>
          <p:cNvSpPr txBox="1"/>
          <p:nvPr/>
        </p:nvSpPr>
        <p:spPr>
          <a:xfrm>
            <a:off x="822960" y="1691640"/>
            <a:ext cx="2148840" cy="86868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Population rises</a:t>
            </a:r>
            <a:endParaRPr lang="en-US" sz="1050" dirty="0"/>
          </a:p>
        </p:txBody>
      </p:sp>
      <p:sp>
        <p:nvSpPr>
          <p:cNvPr id="6" name="Shape 4"/>
          <p:cNvSpPr/>
          <p:nvPr/>
        </p:nvSpPr>
        <p:spPr>
          <a:xfrm>
            <a:off x="3063240" y="2125980"/>
            <a:ext cx="365760" cy="9144"/>
          </a:xfrm>
          <a:prstGeom prst="line">
            <a:avLst/>
          </a:prstGeom>
          <a:noFill/>
          <a:ln w="31750">
            <a:solidFill>
              <a:srgbClr val="B03A2E"/>
            </a:solidFill>
            <a:prstDash val="solid"/>
            <a:tailEnd type="triangle"/>
          </a:ln>
        </p:spPr>
      </p:sp>
      <p:sp>
        <p:nvSpPr>
          <p:cNvPr id="7" name="Shape 5"/>
          <p:cNvSpPr/>
          <p:nvPr/>
        </p:nvSpPr>
        <p:spPr>
          <a:xfrm>
            <a:off x="3429000" y="1691640"/>
            <a:ext cx="2331720" cy="868680"/>
          </a:xfrm>
          <a:prstGeom prst="roundRect">
            <a:avLst>
              <a:gd name="adj" fmla="val 8421"/>
            </a:avLst>
          </a:prstGeom>
          <a:solidFill>
            <a:srgbClr val="F5F6F4"/>
          </a:solidFill>
          <a:ln w="12700">
            <a:solidFill>
              <a:srgbClr val="F5F6F4"/>
            </a:solidFill>
            <a:prstDash val="solid"/>
          </a:ln>
        </p:spPr>
      </p:sp>
      <p:sp>
        <p:nvSpPr>
          <p:cNvPr id="8" name="Text 6"/>
          <p:cNvSpPr txBox="1"/>
          <p:nvPr/>
        </p:nvSpPr>
        <p:spPr>
          <a:xfrm>
            <a:off x="3520440" y="1691640"/>
            <a:ext cx="2148840" cy="868680"/>
          </a:xfrm>
          <a:prstGeom prst="rect">
            <a:avLst/>
          </a:prstGeom>
          <a:noFill/>
          <a:ln/>
        </p:spPr>
        <p:txBody>
          <a:bodyPr wrap="square" lIns="0" tIns="0" rIns="0" bIns="0" rtlCol="0" anchor="ctr"/>
          <a:lstStyle/>
          <a:p>
            <a:pPr algn="ctr" indent="0" marL="0">
              <a:buNone/>
            </a:pPr>
            <a:r>
              <a:rPr lang="en-US" sz="1050" dirty="0">
                <a:solidFill>
                  <a:srgbClr val="323F4B"/>
                </a:solidFill>
                <a:latin typeface="Calibri" pitchFamily="34" charset="0"/>
                <a:ea typeface="Calibri" pitchFamily="34" charset="-122"/>
                <a:cs typeface="Calibri" pitchFamily="34" charset="-120"/>
              </a:rPr>
              <a:t>Cells cannot be taken offline: nowhere to put people</a:t>
            </a:r>
            <a:endParaRPr lang="en-US" sz="1050" dirty="0"/>
          </a:p>
        </p:txBody>
      </p:sp>
      <p:sp>
        <p:nvSpPr>
          <p:cNvPr id="9" name="Shape 7"/>
          <p:cNvSpPr/>
          <p:nvPr/>
        </p:nvSpPr>
        <p:spPr>
          <a:xfrm>
            <a:off x="5760720" y="2125980"/>
            <a:ext cx="365760" cy="9144"/>
          </a:xfrm>
          <a:prstGeom prst="line">
            <a:avLst/>
          </a:prstGeom>
          <a:noFill/>
          <a:ln w="31750">
            <a:solidFill>
              <a:srgbClr val="B03A2E"/>
            </a:solidFill>
            <a:prstDash val="solid"/>
            <a:tailEnd type="triangle"/>
          </a:ln>
        </p:spPr>
      </p:sp>
      <p:sp>
        <p:nvSpPr>
          <p:cNvPr id="10" name="Shape 8"/>
          <p:cNvSpPr/>
          <p:nvPr/>
        </p:nvSpPr>
        <p:spPr>
          <a:xfrm>
            <a:off x="6126480" y="1691640"/>
            <a:ext cx="2331720" cy="868680"/>
          </a:xfrm>
          <a:prstGeom prst="roundRect">
            <a:avLst>
              <a:gd name="adj" fmla="val 8421"/>
            </a:avLst>
          </a:prstGeom>
          <a:solidFill>
            <a:srgbClr val="F5F6F4"/>
          </a:solidFill>
          <a:ln w="12700">
            <a:solidFill>
              <a:srgbClr val="F5F6F4"/>
            </a:solidFill>
            <a:prstDash val="solid"/>
          </a:ln>
        </p:spPr>
      </p:sp>
      <p:sp>
        <p:nvSpPr>
          <p:cNvPr id="11" name="Text 9"/>
          <p:cNvSpPr txBox="1"/>
          <p:nvPr/>
        </p:nvSpPr>
        <p:spPr>
          <a:xfrm>
            <a:off x="6217920" y="1691640"/>
            <a:ext cx="2148840" cy="868680"/>
          </a:xfrm>
          <a:prstGeom prst="rect">
            <a:avLst/>
          </a:prstGeom>
          <a:noFill/>
          <a:ln/>
        </p:spPr>
        <p:txBody>
          <a:bodyPr wrap="square" lIns="0" tIns="0" rIns="0" bIns="0" rtlCol="0" anchor="ctr"/>
          <a:lstStyle/>
          <a:p>
            <a:pPr algn="ctr" indent="0" marL="0">
              <a:buNone/>
            </a:pPr>
            <a:r>
              <a:rPr lang="en-US" sz="1050" dirty="0">
                <a:solidFill>
                  <a:srgbClr val="323F4B"/>
                </a:solidFill>
                <a:latin typeface="Calibri" pitchFamily="34" charset="0"/>
                <a:ea typeface="Calibri" pitchFamily="34" charset="-122"/>
                <a:cs typeface="Calibri" pitchFamily="34" charset="-120"/>
              </a:rPr>
              <a:t>Maintenance and fire-safety work deferred</a:t>
            </a:r>
            <a:endParaRPr lang="en-US" sz="1050" dirty="0"/>
          </a:p>
        </p:txBody>
      </p:sp>
      <p:sp>
        <p:nvSpPr>
          <p:cNvPr id="12" name="Shape 10"/>
          <p:cNvSpPr/>
          <p:nvPr/>
        </p:nvSpPr>
        <p:spPr>
          <a:xfrm>
            <a:off x="8458200" y="2125980"/>
            <a:ext cx="365760" cy="9144"/>
          </a:xfrm>
          <a:prstGeom prst="line">
            <a:avLst/>
          </a:prstGeom>
          <a:noFill/>
          <a:ln w="31750">
            <a:solidFill>
              <a:srgbClr val="B03A2E"/>
            </a:solidFill>
            <a:prstDash val="solid"/>
            <a:tailEnd type="triangle"/>
          </a:ln>
        </p:spPr>
      </p:sp>
      <p:sp>
        <p:nvSpPr>
          <p:cNvPr id="13" name="Shape 11"/>
          <p:cNvSpPr/>
          <p:nvPr/>
        </p:nvSpPr>
        <p:spPr>
          <a:xfrm>
            <a:off x="8823960" y="1691640"/>
            <a:ext cx="2331720" cy="868680"/>
          </a:xfrm>
          <a:prstGeom prst="roundRect">
            <a:avLst>
              <a:gd name="adj" fmla="val 8421"/>
            </a:avLst>
          </a:prstGeom>
          <a:solidFill>
            <a:srgbClr val="F5F6F4"/>
          </a:solidFill>
          <a:ln w="12700">
            <a:solidFill>
              <a:srgbClr val="F5F6F4"/>
            </a:solidFill>
            <a:prstDash val="solid"/>
          </a:ln>
        </p:spPr>
      </p:sp>
      <p:sp>
        <p:nvSpPr>
          <p:cNvPr id="14" name="Text 12"/>
          <p:cNvSpPr txBox="1"/>
          <p:nvPr/>
        </p:nvSpPr>
        <p:spPr>
          <a:xfrm>
            <a:off x="8915400" y="1691640"/>
            <a:ext cx="2148840" cy="868680"/>
          </a:xfrm>
          <a:prstGeom prst="rect">
            <a:avLst/>
          </a:prstGeom>
          <a:noFill/>
          <a:ln/>
        </p:spPr>
        <p:txBody>
          <a:bodyPr wrap="square" lIns="0" tIns="0" rIns="0" bIns="0" rtlCol="0" anchor="ctr"/>
          <a:lstStyle/>
          <a:p>
            <a:pPr algn="ctr" indent="0" marL="0">
              <a:buNone/>
            </a:pPr>
            <a:r>
              <a:rPr lang="en-US" sz="1050" dirty="0">
                <a:solidFill>
                  <a:srgbClr val="323F4B"/>
                </a:solidFill>
                <a:latin typeface="Calibri" pitchFamily="34" charset="0"/>
                <a:ea typeface="Calibri" pitchFamily="34" charset="-122"/>
                <a:cs typeface="Calibri" pitchFamily="34" charset="-120"/>
              </a:rPr>
              <a:t>Capacity stays high (crowding operated)</a:t>
            </a:r>
            <a:endParaRPr lang="en-US" sz="1050" dirty="0"/>
          </a:p>
        </p:txBody>
      </p:sp>
      <p:sp>
        <p:nvSpPr>
          <p:cNvPr id="15" name="Text 13"/>
          <p:cNvSpPr txBox="1"/>
          <p:nvPr/>
        </p:nvSpPr>
        <p:spPr>
          <a:xfrm>
            <a:off x="731520" y="2880360"/>
            <a:ext cx="5486400" cy="320040"/>
          </a:xfrm>
          <a:prstGeom prst="rect">
            <a:avLst/>
          </a:prstGeom>
          <a:noFill/>
          <a:ln/>
        </p:spPr>
        <p:txBody>
          <a:bodyPr wrap="square" lIns="0" tIns="0" rIns="0" bIns="0" rtlCol="0" anchor="t"/>
          <a:lstStyle/>
          <a:p>
            <a:pPr algn="l" indent="0" marL="0">
              <a:buNone/>
            </a:pPr>
            <a:r>
              <a:rPr lang="en-US" sz="1200" b="1" dirty="0">
                <a:solidFill>
                  <a:srgbClr val="1F2933"/>
                </a:solidFill>
                <a:latin typeface="Calibri" pitchFamily="34" charset="0"/>
                <a:ea typeface="Calibri" pitchFamily="34" charset="-122"/>
                <a:cs typeface="Calibri" pitchFamily="34" charset="-120"/>
              </a:rPr>
              <a:t>When it empties a little</a:t>
            </a:r>
            <a:endParaRPr lang="en-US" sz="1200" dirty="0"/>
          </a:p>
        </p:txBody>
      </p:sp>
      <p:sp>
        <p:nvSpPr>
          <p:cNvPr id="16" name="Shape 14"/>
          <p:cNvSpPr/>
          <p:nvPr/>
        </p:nvSpPr>
        <p:spPr>
          <a:xfrm>
            <a:off x="731520" y="3246120"/>
            <a:ext cx="2331720" cy="868680"/>
          </a:xfrm>
          <a:prstGeom prst="roundRect">
            <a:avLst>
              <a:gd name="adj" fmla="val 8421"/>
            </a:avLst>
          </a:prstGeom>
          <a:solidFill>
            <a:srgbClr val="1F2933"/>
          </a:solidFill>
          <a:ln w="12700">
            <a:solidFill>
              <a:srgbClr val="1F2933"/>
            </a:solidFill>
            <a:prstDash val="solid"/>
          </a:ln>
        </p:spPr>
      </p:sp>
      <p:sp>
        <p:nvSpPr>
          <p:cNvPr id="17" name="Text 15"/>
          <p:cNvSpPr txBox="1"/>
          <p:nvPr/>
        </p:nvSpPr>
        <p:spPr>
          <a:xfrm>
            <a:off x="822960" y="3246120"/>
            <a:ext cx="2148840" cy="86868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Population falls (March 2026 release)</a:t>
            </a:r>
            <a:endParaRPr lang="en-US" sz="1050" dirty="0"/>
          </a:p>
        </p:txBody>
      </p:sp>
      <p:sp>
        <p:nvSpPr>
          <p:cNvPr id="18" name="Shape 16"/>
          <p:cNvSpPr/>
          <p:nvPr/>
        </p:nvSpPr>
        <p:spPr>
          <a:xfrm>
            <a:off x="3063240" y="3680460"/>
            <a:ext cx="365760" cy="9144"/>
          </a:xfrm>
          <a:prstGeom prst="line">
            <a:avLst/>
          </a:prstGeom>
          <a:noFill/>
          <a:ln w="31750">
            <a:solidFill>
              <a:srgbClr val="1F2933"/>
            </a:solidFill>
            <a:prstDash val="solid"/>
            <a:tailEnd type="triangle"/>
          </a:ln>
        </p:spPr>
      </p:sp>
      <p:sp>
        <p:nvSpPr>
          <p:cNvPr id="19" name="Shape 17"/>
          <p:cNvSpPr/>
          <p:nvPr/>
        </p:nvSpPr>
        <p:spPr>
          <a:xfrm>
            <a:off x="3429000" y="3246120"/>
            <a:ext cx="2331720" cy="868680"/>
          </a:xfrm>
          <a:prstGeom prst="roundRect">
            <a:avLst>
              <a:gd name="adj" fmla="val 8421"/>
            </a:avLst>
          </a:prstGeom>
          <a:solidFill>
            <a:srgbClr val="F5F6F4"/>
          </a:solidFill>
          <a:ln w="12700">
            <a:solidFill>
              <a:srgbClr val="F5F6F4"/>
            </a:solidFill>
            <a:prstDash val="solid"/>
          </a:ln>
        </p:spPr>
      </p:sp>
      <p:sp>
        <p:nvSpPr>
          <p:cNvPr id="20" name="Text 18"/>
          <p:cNvSpPr txBox="1"/>
          <p:nvPr/>
        </p:nvSpPr>
        <p:spPr>
          <a:xfrm>
            <a:off x="3520440" y="3246120"/>
            <a:ext cx="2148840" cy="868680"/>
          </a:xfrm>
          <a:prstGeom prst="rect">
            <a:avLst/>
          </a:prstGeom>
          <a:noFill/>
          <a:ln/>
        </p:spPr>
        <p:txBody>
          <a:bodyPr wrap="square" lIns="0" tIns="0" rIns="0" bIns="0" rtlCol="0" anchor="ctr"/>
          <a:lstStyle/>
          <a:p>
            <a:pPr algn="ctr" indent="0" marL="0">
              <a:buNone/>
            </a:pPr>
            <a:r>
              <a:rPr lang="en-US" sz="1050" dirty="0">
                <a:solidFill>
                  <a:srgbClr val="323F4B"/>
                </a:solidFill>
                <a:latin typeface="Calibri" pitchFamily="34" charset="0"/>
                <a:ea typeface="Calibri" pitchFamily="34" charset="-122"/>
                <a:cs typeface="Calibri" pitchFamily="34" charset="-120"/>
              </a:rPr>
              <a:t>Deferred work finally starts</a:t>
            </a:r>
            <a:endParaRPr lang="en-US" sz="1050" dirty="0"/>
          </a:p>
        </p:txBody>
      </p:sp>
      <p:sp>
        <p:nvSpPr>
          <p:cNvPr id="21" name="Shape 19"/>
          <p:cNvSpPr/>
          <p:nvPr/>
        </p:nvSpPr>
        <p:spPr>
          <a:xfrm>
            <a:off x="5760720" y="3680460"/>
            <a:ext cx="365760" cy="9144"/>
          </a:xfrm>
          <a:prstGeom prst="line">
            <a:avLst/>
          </a:prstGeom>
          <a:noFill/>
          <a:ln w="31750">
            <a:solidFill>
              <a:srgbClr val="1F2933"/>
            </a:solidFill>
            <a:prstDash val="solid"/>
            <a:tailEnd type="triangle"/>
          </a:ln>
        </p:spPr>
      </p:sp>
      <p:sp>
        <p:nvSpPr>
          <p:cNvPr id="22" name="Shape 20"/>
          <p:cNvSpPr/>
          <p:nvPr/>
        </p:nvSpPr>
        <p:spPr>
          <a:xfrm>
            <a:off x="6126480" y="3246120"/>
            <a:ext cx="2331720" cy="868680"/>
          </a:xfrm>
          <a:prstGeom prst="roundRect">
            <a:avLst>
              <a:gd name="adj" fmla="val 8421"/>
            </a:avLst>
          </a:prstGeom>
          <a:solidFill>
            <a:srgbClr val="F5F6F4"/>
          </a:solidFill>
          <a:ln w="12700">
            <a:solidFill>
              <a:srgbClr val="F5F6F4"/>
            </a:solidFill>
            <a:prstDash val="solid"/>
          </a:ln>
        </p:spPr>
      </p:sp>
      <p:sp>
        <p:nvSpPr>
          <p:cNvPr id="23" name="Text 21"/>
          <p:cNvSpPr txBox="1"/>
          <p:nvPr/>
        </p:nvSpPr>
        <p:spPr>
          <a:xfrm>
            <a:off x="6217920" y="3246120"/>
            <a:ext cx="2148840" cy="868680"/>
          </a:xfrm>
          <a:prstGeom prst="rect">
            <a:avLst/>
          </a:prstGeom>
          <a:noFill/>
          <a:ln/>
        </p:spPr>
        <p:txBody>
          <a:bodyPr wrap="square" lIns="0" tIns="0" rIns="0" bIns="0" rtlCol="0" anchor="ctr"/>
          <a:lstStyle/>
          <a:p>
            <a:pPr algn="ctr" indent="0" marL="0">
              <a:buNone/>
            </a:pPr>
            <a:r>
              <a:rPr lang="en-US" sz="1050" dirty="0">
                <a:solidFill>
                  <a:srgbClr val="323F4B"/>
                </a:solidFill>
                <a:latin typeface="Calibri" pitchFamily="34" charset="0"/>
                <a:ea typeface="Calibri" pitchFamily="34" charset="-122"/>
                <a:cs typeface="Calibri" pitchFamily="34" charset="-120"/>
              </a:rPr>
              <a:t>Places go offline for repair</a:t>
            </a:r>
            <a:endParaRPr lang="en-US" sz="1050" dirty="0"/>
          </a:p>
        </p:txBody>
      </p:sp>
      <p:sp>
        <p:nvSpPr>
          <p:cNvPr id="24" name="Shape 22"/>
          <p:cNvSpPr/>
          <p:nvPr/>
        </p:nvSpPr>
        <p:spPr>
          <a:xfrm>
            <a:off x="8458200" y="3680460"/>
            <a:ext cx="365760" cy="9144"/>
          </a:xfrm>
          <a:prstGeom prst="line">
            <a:avLst/>
          </a:prstGeom>
          <a:noFill/>
          <a:ln w="31750">
            <a:solidFill>
              <a:srgbClr val="1F2933"/>
            </a:solidFill>
            <a:prstDash val="solid"/>
            <a:tailEnd type="triangle"/>
          </a:ln>
        </p:spPr>
      </p:sp>
      <p:sp>
        <p:nvSpPr>
          <p:cNvPr id="25" name="Shape 23"/>
          <p:cNvSpPr/>
          <p:nvPr/>
        </p:nvSpPr>
        <p:spPr>
          <a:xfrm>
            <a:off x="8823960" y="3246120"/>
            <a:ext cx="2331720" cy="868680"/>
          </a:xfrm>
          <a:prstGeom prst="roundRect">
            <a:avLst>
              <a:gd name="adj" fmla="val 8421"/>
            </a:avLst>
          </a:prstGeom>
          <a:solidFill>
            <a:srgbClr val="F5F6F4"/>
          </a:solidFill>
          <a:ln w="12700">
            <a:solidFill>
              <a:srgbClr val="F5F6F4"/>
            </a:solidFill>
            <a:prstDash val="solid"/>
          </a:ln>
        </p:spPr>
      </p:sp>
      <p:sp>
        <p:nvSpPr>
          <p:cNvPr id="26" name="Text 24"/>
          <p:cNvSpPr txBox="1"/>
          <p:nvPr/>
        </p:nvSpPr>
        <p:spPr>
          <a:xfrm>
            <a:off x="8915400" y="3246120"/>
            <a:ext cx="2148840" cy="868680"/>
          </a:xfrm>
          <a:prstGeom prst="rect">
            <a:avLst/>
          </a:prstGeom>
          <a:noFill/>
          <a:ln/>
        </p:spPr>
        <p:txBody>
          <a:bodyPr wrap="square" lIns="0" tIns="0" rIns="0" bIns="0" rtlCol="0" anchor="ctr"/>
          <a:lstStyle/>
          <a:p>
            <a:pPr algn="ctr" indent="0" marL="0">
              <a:buNone/>
            </a:pPr>
            <a:r>
              <a:rPr lang="en-US" sz="1050" dirty="0">
                <a:solidFill>
                  <a:srgbClr val="323F4B"/>
                </a:solidFill>
                <a:latin typeface="Calibri" pitchFamily="34" charset="0"/>
                <a:ea typeface="Calibri" pitchFamily="34" charset="-122"/>
                <a:cs typeface="Calibri" pitchFamily="34" charset="-120"/>
              </a:rPr>
              <a:t>Capacity falls: −900 places, Mar to Jul 2026</a:t>
            </a:r>
            <a:endParaRPr lang="en-US" sz="1050" dirty="0"/>
          </a:p>
        </p:txBody>
      </p:sp>
      <p:sp>
        <p:nvSpPr>
          <p:cNvPr id="27" name="Shape 25"/>
          <p:cNvSpPr/>
          <p:nvPr/>
        </p:nvSpPr>
        <p:spPr>
          <a:xfrm>
            <a:off x="731520" y="4572000"/>
            <a:ext cx="6035040" cy="914400"/>
          </a:xfrm>
          <a:prstGeom prst="rect">
            <a:avLst/>
          </a:prstGeom>
          <a:solidFill>
            <a:srgbClr val="1F2933"/>
          </a:solidFill>
          <a:ln w="12700">
            <a:solidFill>
              <a:srgbClr val="1F2933"/>
            </a:solidFill>
            <a:prstDash val="solid"/>
          </a:ln>
        </p:spPr>
      </p:sp>
      <p:sp>
        <p:nvSpPr>
          <p:cNvPr id="28" name="Text 26"/>
          <p:cNvSpPr txBox="1"/>
          <p:nvPr/>
        </p:nvSpPr>
        <p:spPr>
          <a:xfrm>
            <a:off x="822960" y="4572000"/>
            <a:ext cx="5852160"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 cap  =  627  − 0.284 × headroom(t−26)  +  0.386 × d pop        t = −14, +19   R² 0.42   n = 791 weeks</a:t>
            </a:r>
            <a:endParaRPr lang="en-US" sz="1100" dirty="0"/>
          </a:p>
        </p:txBody>
      </p:sp>
      <p:sp>
        <p:nvSpPr>
          <p:cNvPr id="29" name="Text 27"/>
          <p:cNvSpPr txBox="1"/>
          <p:nvPr/>
        </p:nvSpPr>
        <p:spPr>
          <a:xfrm>
            <a:off x="7132320" y="4572000"/>
            <a:ext cx="2103120" cy="685800"/>
          </a:xfrm>
          <a:prstGeom prst="rect">
            <a:avLst/>
          </a:prstGeom>
          <a:noFill/>
          <a:ln/>
        </p:spPr>
        <p:txBody>
          <a:bodyPr wrap="square" lIns="0" tIns="0" rIns="0" bIns="0" rtlCol="0" anchor="ctr"/>
          <a:lstStyle/>
          <a:p>
            <a:pPr indent="0" marL="0">
              <a:buNone/>
            </a:pPr>
            <a:r>
              <a:rPr lang="en-US" sz="3400" b="1" dirty="0">
                <a:solidFill>
                  <a:srgbClr val="B03A2E"/>
                </a:solidFill>
                <a:latin typeface="Cambria" pitchFamily="34" charset="0"/>
                <a:ea typeface="Cambria" pitchFamily="34" charset="-122"/>
                <a:cs typeface="Cambria" pitchFamily="34" charset="-120"/>
              </a:rPr>
              <a:t>39%</a:t>
            </a:r>
            <a:endParaRPr lang="en-US" sz="3400" dirty="0"/>
          </a:p>
        </p:txBody>
      </p:sp>
      <p:sp>
        <p:nvSpPr>
          <p:cNvPr id="30" name="Text 28"/>
          <p:cNvSpPr txBox="1"/>
          <p:nvPr/>
        </p:nvSpPr>
        <p:spPr>
          <a:xfrm>
            <a:off x="7132320" y="5257800"/>
            <a:ext cx="2103120" cy="502920"/>
          </a:xfrm>
          <a:prstGeom prst="rect">
            <a:avLst/>
          </a:prstGeom>
          <a:noFill/>
          <a:ln/>
        </p:spPr>
        <p:txBody>
          <a:bodyPr wrap="square" lIns="0" tIns="0" rIns="0" bIns="0" rtlCol="0" anchor="t"/>
          <a:lstStyle/>
          <a:p>
            <a:pPr indent="0" marL="0">
              <a:buNone/>
            </a:pPr>
            <a:r>
              <a:rPr lang="en-US" sz="1100" dirty="0">
                <a:solidFill>
                  <a:srgbClr val="7B8794"/>
                </a:solidFill>
                <a:latin typeface="Calibri" pitchFamily="34" charset="0"/>
                <a:ea typeface="Calibri" pitchFamily="34" charset="-122"/>
                <a:cs typeface="Calibri" pitchFamily="34" charset="-120"/>
              </a:rPr>
              <a:t>of any population move is matched by capacity</a:t>
            </a:r>
            <a:endParaRPr lang="en-US" sz="1100" dirty="0"/>
          </a:p>
        </p:txBody>
      </p:sp>
      <p:sp>
        <p:nvSpPr>
          <p:cNvPr id="31" name="Text 29"/>
          <p:cNvSpPr txBox="1"/>
          <p:nvPr/>
        </p:nvSpPr>
        <p:spPr>
          <a:xfrm>
            <a:off x="9418320" y="4572000"/>
            <a:ext cx="2194560" cy="685800"/>
          </a:xfrm>
          <a:prstGeom prst="rect">
            <a:avLst/>
          </a:prstGeom>
          <a:noFill/>
          <a:ln/>
        </p:spPr>
        <p:txBody>
          <a:bodyPr wrap="square" lIns="0" tIns="0" rIns="0" bIns="0" rtlCol="0" anchor="ctr"/>
          <a:lstStyle/>
          <a:p>
            <a:pPr indent="0" marL="0">
              <a:buNone/>
            </a:pPr>
            <a:r>
              <a:rPr lang="en-US" sz="3400" b="1" dirty="0">
                <a:solidFill>
                  <a:srgbClr val="1F2933"/>
                </a:solidFill>
                <a:latin typeface="Cambria" pitchFamily="34" charset="0"/>
                <a:ea typeface="Cambria" pitchFamily="34" charset="-122"/>
                <a:cs typeface="Cambria" pitchFamily="34" charset="-120"/>
              </a:rPr>
              <a:t>2,203</a:t>
            </a:r>
            <a:endParaRPr lang="en-US" sz="3400" dirty="0"/>
          </a:p>
        </p:txBody>
      </p:sp>
      <p:sp>
        <p:nvSpPr>
          <p:cNvPr id="32" name="Text 30"/>
          <p:cNvSpPr txBox="1"/>
          <p:nvPr/>
        </p:nvSpPr>
        <p:spPr>
          <a:xfrm>
            <a:off x="9418320" y="5257800"/>
            <a:ext cx="2194560" cy="502920"/>
          </a:xfrm>
          <a:prstGeom prst="rect">
            <a:avLst/>
          </a:prstGeom>
          <a:noFill/>
          <a:ln/>
        </p:spPr>
        <p:txBody>
          <a:bodyPr wrap="square" lIns="0" tIns="0" rIns="0" bIns="0" rtlCol="0" anchor="t"/>
          <a:lstStyle/>
          <a:p>
            <a:pPr indent="0" marL="0">
              <a:buNone/>
            </a:pPr>
            <a:r>
              <a:rPr lang="en-US" sz="1100" dirty="0">
                <a:solidFill>
                  <a:srgbClr val="7B8794"/>
                </a:solidFill>
                <a:latin typeface="Calibri" pitchFamily="34" charset="0"/>
                <a:ea typeface="Calibri" pitchFamily="34" charset="-122"/>
                <a:cs typeface="Calibri" pitchFamily="34" charset="-120"/>
              </a:rPr>
              <a:t>equilibrium headroom when population is flat</a:t>
            </a:r>
            <a:endParaRPr lang="en-US" sz="1100" dirty="0"/>
          </a:p>
        </p:txBody>
      </p:sp>
      <p:sp>
        <p:nvSpPr>
          <p:cNvPr id="33" name="Shape 31"/>
          <p:cNvSpPr/>
          <p:nvPr/>
        </p:nvSpPr>
        <p:spPr>
          <a:xfrm>
            <a:off x="731520" y="5623560"/>
            <a:ext cx="10881360" cy="640080"/>
          </a:xfrm>
          <a:prstGeom prst="rect">
            <a:avLst/>
          </a:prstGeom>
          <a:solidFill>
            <a:srgbClr val="F5F6F4"/>
          </a:solidFill>
          <a:ln w="12700">
            <a:solidFill>
              <a:srgbClr val="F5F6F4"/>
            </a:solidFill>
            <a:prstDash val="solid"/>
          </a:ln>
        </p:spPr>
      </p:sp>
      <p:sp>
        <p:nvSpPr>
          <p:cNvPr id="34" name="Text 32"/>
          <p:cNvSpPr txBox="1"/>
          <p:nvPr/>
        </p:nvSpPr>
        <p:spPr>
          <a:xfrm>
            <a:off x="822960" y="5623560"/>
            <a:ext cx="10698480" cy="640080"/>
          </a:xfrm>
          <a:prstGeom prst="rect">
            <a:avLst/>
          </a:prstGeom>
          <a:noFill/>
          <a:ln/>
        </p:spPr>
        <p:txBody>
          <a:bodyPr wrap="square" lIns="0" tIns="0" rIns="0" bIns="0" rtlCol="0" anchor="ctr"/>
          <a:lstStyle/>
          <a:p>
            <a:pPr algn="l" indent="0" marL="0">
              <a:buNone/>
            </a:pPr>
            <a:r>
              <a:rPr lang="en-US" sz="1050" dirty="0">
                <a:solidFill>
                  <a:srgbClr val="323F4B"/>
                </a:solidFill>
                <a:latin typeface="Calibri" pitchFamily="34" charset="0"/>
                <a:ea typeface="Calibri" pitchFamily="34" charset="-122"/>
                <a:cs typeface="Calibri" pitchFamily="34" charset="-120"/>
              </a:rPr>
              <a:t>The 2026 capacity fall was forecast in the January 2026 Annual Statement as planned maintenance. Staffing does not explain which prisons cut (R² 0.001); assaults only weakly (R² 0.02). It is a centrally managed dial, not a local constraint.</a:t>
            </a:r>
            <a:endParaRPr lang="en-US" sz="1050" dirty="0"/>
          </a:p>
        </p:txBody>
      </p:sp>
      <p:sp>
        <p:nvSpPr>
          <p:cNvPr id="35" name="Text 33"/>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900" dirty="0">
                <a:solidFill>
                  <a:srgbClr val="7B8794"/>
                </a:solidFill>
                <a:latin typeface="Calibri" pitchFamily="34" charset="0"/>
                <a:ea typeface="Calibri" pitchFamily="34" charset="-122"/>
                <a:cs typeface="Calibri" pitchFamily="34" charset="-120"/>
              </a:rPr>
              <a:t>Weekly series 2011 to 2026. Population change lagged a further 13 weeks predicts capacity change at t = 13.4, so the direction runs from population to capacity. Feedback is stronger since 2020 (+0.47, R² 0.58).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7. The competing pressures: five institutions, five levers, no one controlling the total</a:t>
            </a:r>
            <a:endParaRPr lang="en-US" sz="3000" dirty="0"/>
          </a:p>
        </p:txBody>
      </p:sp>
      <p:sp>
        <p:nvSpPr>
          <p:cNvPr id="3" name="Shape 1"/>
          <p:cNvSpPr/>
          <p:nvPr/>
        </p:nvSpPr>
        <p:spPr>
          <a:xfrm>
            <a:off x="548640" y="1325880"/>
            <a:ext cx="5394960" cy="411480"/>
          </a:xfrm>
          <a:prstGeom prst="rect">
            <a:avLst/>
          </a:prstGeom>
          <a:solidFill>
            <a:srgbClr val="B03A2E"/>
          </a:solidFill>
          <a:ln w="12700">
            <a:solidFill>
              <a:srgbClr val="B03A2E"/>
            </a:solidFill>
            <a:prstDash val="solid"/>
          </a:ln>
        </p:spPr>
      </p:sp>
      <p:sp>
        <p:nvSpPr>
          <p:cNvPr id="4" name="Text 2"/>
          <p:cNvSpPr txBox="1"/>
          <p:nvPr/>
        </p:nvSpPr>
        <p:spPr>
          <a:xfrm>
            <a:off x="640080" y="1325880"/>
            <a:ext cx="52120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Pushing the population UP</a:t>
            </a:r>
            <a:endParaRPr lang="en-US" sz="1200" dirty="0"/>
          </a:p>
        </p:txBody>
      </p:sp>
      <p:sp>
        <p:nvSpPr>
          <p:cNvPr id="5" name="Shape 3"/>
          <p:cNvSpPr/>
          <p:nvPr/>
        </p:nvSpPr>
        <p:spPr>
          <a:xfrm>
            <a:off x="6217920" y="1325880"/>
            <a:ext cx="5394960" cy="411480"/>
          </a:xfrm>
          <a:prstGeom prst="rect">
            <a:avLst/>
          </a:prstGeom>
          <a:solidFill>
            <a:srgbClr val="1F2933"/>
          </a:solidFill>
          <a:ln w="12700">
            <a:solidFill>
              <a:srgbClr val="1F2933"/>
            </a:solidFill>
            <a:prstDash val="solid"/>
          </a:ln>
        </p:spPr>
      </p:sp>
      <p:sp>
        <p:nvSpPr>
          <p:cNvPr id="6" name="Text 4"/>
          <p:cNvSpPr txBox="1"/>
          <p:nvPr/>
        </p:nvSpPr>
        <p:spPr>
          <a:xfrm>
            <a:off x="6309360" y="1325880"/>
            <a:ext cx="52120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Pushing it DOWN</a:t>
            </a:r>
            <a:endParaRPr lang="en-US" sz="1200" dirty="0"/>
          </a:p>
        </p:txBody>
      </p:sp>
      <p:sp>
        <p:nvSpPr>
          <p:cNvPr id="7" name="Shape 5"/>
          <p:cNvSpPr/>
          <p:nvPr/>
        </p:nvSpPr>
        <p:spPr>
          <a:xfrm>
            <a:off x="548640" y="1874520"/>
            <a:ext cx="1234440" cy="621792"/>
          </a:xfrm>
          <a:prstGeom prst="rect">
            <a:avLst/>
          </a:prstGeom>
          <a:solidFill>
            <a:srgbClr val="B03A2E"/>
          </a:solidFill>
          <a:ln w="12700">
            <a:solidFill>
              <a:srgbClr val="B03A2E"/>
            </a:solidFill>
            <a:prstDash val="solid"/>
          </a:ln>
        </p:spPr>
      </p:sp>
      <p:sp>
        <p:nvSpPr>
          <p:cNvPr id="8" name="Text 6"/>
          <p:cNvSpPr txBox="1"/>
          <p:nvPr/>
        </p:nvSpPr>
        <p:spPr>
          <a:xfrm>
            <a:off x="640080" y="1874520"/>
            <a:ext cx="1051560" cy="6217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Parliament, judges</a:t>
            </a:r>
            <a:endParaRPr lang="en-US" sz="1000" dirty="0"/>
          </a:p>
        </p:txBody>
      </p:sp>
      <p:sp>
        <p:nvSpPr>
          <p:cNvPr id="9" name="Shape 7"/>
          <p:cNvSpPr/>
          <p:nvPr/>
        </p:nvSpPr>
        <p:spPr>
          <a:xfrm>
            <a:off x="1828800" y="1874520"/>
            <a:ext cx="2834640" cy="621792"/>
          </a:xfrm>
          <a:prstGeom prst="rect">
            <a:avLst/>
          </a:prstGeom>
          <a:solidFill>
            <a:srgbClr val="F5F6F4"/>
          </a:solidFill>
          <a:ln w="12700">
            <a:solidFill>
              <a:srgbClr val="F5F6F4"/>
            </a:solidFill>
            <a:prstDash val="solid"/>
          </a:ln>
        </p:spPr>
      </p:sp>
      <p:sp>
        <p:nvSpPr>
          <p:cNvPr id="10" name="Text 8"/>
          <p:cNvSpPr txBox="1"/>
          <p:nvPr/>
        </p:nvSpPr>
        <p:spPr>
          <a:xfrm>
            <a:off x="1920240" y="1874520"/>
            <a:ext cx="2651760" cy="621792"/>
          </a:xfrm>
          <a:prstGeom prst="rect">
            <a:avLst/>
          </a:prstGeom>
          <a:noFill/>
          <a:ln/>
        </p:spPr>
        <p:txBody>
          <a:bodyPr wrap="square" lIns="0" tIns="0" rIns="0" bIns="0" rtlCol="0" anchor="ctr"/>
          <a:lstStyle/>
          <a:p>
            <a:pPr algn="l" indent="0" marL="0">
              <a:buNone/>
            </a:pPr>
            <a:r>
              <a:rPr lang="en-US" sz="1000" dirty="0">
                <a:solidFill>
                  <a:srgbClr val="323F4B"/>
                </a:solidFill>
                <a:latin typeface="Calibri" pitchFamily="34" charset="0"/>
                <a:ea typeface="Calibri" pitchFamily="34" charset="-122"/>
                <a:cs typeface="Calibri" pitchFamily="34" charset="-120"/>
              </a:rPr>
              <a:t>Sentence inflation: custodial months imposed</a:t>
            </a:r>
            <a:endParaRPr lang="en-US" sz="1000" dirty="0"/>
          </a:p>
        </p:txBody>
      </p:sp>
      <p:sp>
        <p:nvSpPr>
          <p:cNvPr id="11" name="Shape 9"/>
          <p:cNvSpPr/>
          <p:nvPr/>
        </p:nvSpPr>
        <p:spPr>
          <a:xfrm>
            <a:off x="4709160" y="1874520"/>
            <a:ext cx="1234440" cy="621792"/>
          </a:xfrm>
          <a:prstGeom prst="rect">
            <a:avLst/>
          </a:prstGeom>
          <a:solidFill>
            <a:srgbClr val="F5F6F4"/>
          </a:solidFill>
          <a:ln w="12700">
            <a:solidFill>
              <a:srgbClr val="F5F6F4"/>
            </a:solidFill>
            <a:prstDash val="solid"/>
          </a:ln>
        </p:spPr>
      </p:sp>
      <p:sp>
        <p:nvSpPr>
          <p:cNvPr id="12" name="Text 10"/>
          <p:cNvSpPr txBox="1"/>
          <p:nvPr/>
        </p:nvSpPr>
        <p:spPr>
          <a:xfrm>
            <a:off x="4800600" y="1874520"/>
            <a:ext cx="1051560" cy="621792"/>
          </a:xfrm>
          <a:prstGeom prst="rect">
            <a:avLst/>
          </a:prstGeom>
          <a:noFill/>
          <a:ln/>
        </p:spPr>
        <p:txBody>
          <a:bodyPr wrap="square" lIns="0" tIns="0" rIns="0" bIns="0" rtlCol="0" anchor="ctr"/>
          <a:lstStyle/>
          <a:p>
            <a:pPr algn="ctr" indent="0" marL="0">
              <a:buNone/>
            </a:pPr>
            <a:r>
              <a:rPr lang="en-US" sz="1000" b="1" dirty="0">
                <a:solidFill>
                  <a:srgbClr val="B03A2E"/>
                </a:solidFill>
                <a:latin typeface="Calibri" pitchFamily="34" charset="0"/>
                <a:ea typeface="Calibri" pitchFamily="34" charset="-122"/>
                <a:cs typeface="Calibri" pitchFamily="34" charset="-120"/>
              </a:rPr>
              <a:t>+21% per decade</a:t>
            </a:r>
            <a:endParaRPr lang="en-US" sz="1000" dirty="0"/>
          </a:p>
        </p:txBody>
      </p:sp>
      <p:sp>
        <p:nvSpPr>
          <p:cNvPr id="13" name="Shape 11"/>
          <p:cNvSpPr/>
          <p:nvPr/>
        </p:nvSpPr>
        <p:spPr>
          <a:xfrm>
            <a:off x="548640" y="2587752"/>
            <a:ext cx="1234440" cy="621792"/>
          </a:xfrm>
          <a:prstGeom prst="rect">
            <a:avLst/>
          </a:prstGeom>
          <a:solidFill>
            <a:srgbClr val="B03A2E"/>
          </a:solidFill>
          <a:ln w="12700">
            <a:solidFill>
              <a:srgbClr val="B03A2E"/>
            </a:solidFill>
            <a:prstDash val="solid"/>
          </a:ln>
        </p:spPr>
      </p:sp>
      <p:sp>
        <p:nvSpPr>
          <p:cNvPr id="14" name="Text 12"/>
          <p:cNvSpPr txBox="1"/>
          <p:nvPr/>
        </p:nvSpPr>
        <p:spPr>
          <a:xfrm>
            <a:off x="640080" y="2587752"/>
            <a:ext cx="1051560" cy="6217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Probation, HMPPS</a:t>
            </a:r>
            <a:endParaRPr lang="en-US" sz="1000" dirty="0"/>
          </a:p>
        </p:txBody>
      </p:sp>
      <p:sp>
        <p:nvSpPr>
          <p:cNvPr id="15" name="Shape 13"/>
          <p:cNvSpPr/>
          <p:nvPr/>
        </p:nvSpPr>
        <p:spPr>
          <a:xfrm>
            <a:off x="1828800" y="2587752"/>
            <a:ext cx="2834640" cy="621792"/>
          </a:xfrm>
          <a:prstGeom prst="rect">
            <a:avLst/>
          </a:prstGeom>
          <a:solidFill>
            <a:srgbClr val="F5F6F4"/>
          </a:solidFill>
          <a:ln w="12700">
            <a:solidFill>
              <a:srgbClr val="F5F6F4"/>
            </a:solidFill>
            <a:prstDash val="solid"/>
          </a:ln>
        </p:spPr>
      </p:sp>
      <p:sp>
        <p:nvSpPr>
          <p:cNvPr id="16" name="Text 14"/>
          <p:cNvSpPr txBox="1"/>
          <p:nvPr/>
        </p:nvSpPr>
        <p:spPr>
          <a:xfrm>
            <a:off x="1920240" y="2587752"/>
            <a:ext cx="2651760" cy="621792"/>
          </a:xfrm>
          <a:prstGeom prst="rect">
            <a:avLst/>
          </a:prstGeom>
          <a:noFill/>
          <a:ln/>
        </p:spPr>
        <p:txBody>
          <a:bodyPr wrap="square" lIns="0" tIns="0" rIns="0" bIns="0" rtlCol="0" anchor="ctr"/>
          <a:lstStyle/>
          <a:p>
            <a:pPr algn="l" indent="0" marL="0">
              <a:buNone/>
            </a:pPr>
            <a:r>
              <a:rPr lang="en-US" sz="1000" dirty="0">
                <a:solidFill>
                  <a:srgbClr val="323F4B"/>
                </a:solidFill>
                <a:latin typeface="Calibri" pitchFamily="34" charset="0"/>
                <a:ea typeface="Calibri" pitchFamily="34" charset="-122"/>
                <a:cs typeface="Calibri" pitchFamily="34" charset="-120"/>
              </a:rPr>
              <a:t>Recall intensity: recalls per 100 releases</a:t>
            </a:r>
            <a:endParaRPr lang="en-US" sz="1000" dirty="0"/>
          </a:p>
        </p:txBody>
      </p:sp>
      <p:sp>
        <p:nvSpPr>
          <p:cNvPr id="17" name="Shape 15"/>
          <p:cNvSpPr/>
          <p:nvPr/>
        </p:nvSpPr>
        <p:spPr>
          <a:xfrm>
            <a:off x="4709160" y="2587752"/>
            <a:ext cx="1234440" cy="621792"/>
          </a:xfrm>
          <a:prstGeom prst="rect">
            <a:avLst/>
          </a:prstGeom>
          <a:solidFill>
            <a:srgbClr val="F5F6F4"/>
          </a:solidFill>
          <a:ln w="12700">
            <a:solidFill>
              <a:srgbClr val="F5F6F4"/>
            </a:solidFill>
            <a:prstDash val="solid"/>
          </a:ln>
        </p:spPr>
      </p:sp>
      <p:sp>
        <p:nvSpPr>
          <p:cNvPr id="18" name="Text 16"/>
          <p:cNvSpPr txBox="1"/>
          <p:nvPr/>
        </p:nvSpPr>
        <p:spPr>
          <a:xfrm>
            <a:off x="4800600" y="2587752"/>
            <a:ext cx="1051560" cy="621792"/>
          </a:xfrm>
          <a:prstGeom prst="rect">
            <a:avLst/>
          </a:prstGeom>
          <a:noFill/>
          <a:ln/>
        </p:spPr>
        <p:txBody>
          <a:bodyPr wrap="square" lIns="0" tIns="0" rIns="0" bIns="0" rtlCol="0" anchor="ctr"/>
          <a:lstStyle/>
          <a:p>
            <a:pPr algn="ctr" indent="0" marL="0">
              <a:buNone/>
            </a:pPr>
            <a:r>
              <a:rPr lang="en-US" sz="1000" b="1" dirty="0">
                <a:solidFill>
                  <a:srgbClr val="B03A2E"/>
                </a:solidFill>
                <a:latin typeface="Calibri" pitchFamily="34" charset="0"/>
                <a:ea typeface="Calibri" pitchFamily="34" charset="-122"/>
                <a:cs typeface="Calibri" pitchFamily="34" charset="-120"/>
              </a:rPr>
              <a:t>29 to 85</a:t>
            </a:r>
            <a:endParaRPr lang="en-US" sz="1000" dirty="0"/>
          </a:p>
        </p:txBody>
      </p:sp>
      <p:sp>
        <p:nvSpPr>
          <p:cNvPr id="19" name="Shape 17"/>
          <p:cNvSpPr/>
          <p:nvPr/>
        </p:nvSpPr>
        <p:spPr>
          <a:xfrm>
            <a:off x="548640" y="3300984"/>
            <a:ext cx="1234440" cy="621792"/>
          </a:xfrm>
          <a:prstGeom prst="rect">
            <a:avLst/>
          </a:prstGeom>
          <a:solidFill>
            <a:srgbClr val="B03A2E"/>
          </a:solidFill>
          <a:ln w="12700">
            <a:solidFill>
              <a:srgbClr val="B03A2E"/>
            </a:solidFill>
            <a:prstDash val="solid"/>
          </a:ln>
        </p:spPr>
      </p:sp>
      <p:sp>
        <p:nvSpPr>
          <p:cNvPr id="20" name="Text 18"/>
          <p:cNvSpPr txBox="1"/>
          <p:nvPr/>
        </p:nvSpPr>
        <p:spPr>
          <a:xfrm>
            <a:off x="640080" y="3300984"/>
            <a:ext cx="1051560" cy="6217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MoJ</a:t>
            </a:r>
            <a:endParaRPr lang="en-US" sz="1000" dirty="0"/>
          </a:p>
        </p:txBody>
      </p:sp>
      <p:sp>
        <p:nvSpPr>
          <p:cNvPr id="21" name="Shape 19"/>
          <p:cNvSpPr/>
          <p:nvPr/>
        </p:nvSpPr>
        <p:spPr>
          <a:xfrm>
            <a:off x="1828800" y="3300984"/>
            <a:ext cx="2834640" cy="621792"/>
          </a:xfrm>
          <a:prstGeom prst="rect">
            <a:avLst/>
          </a:prstGeom>
          <a:solidFill>
            <a:srgbClr val="F5F6F4"/>
          </a:solidFill>
          <a:ln w="12700">
            <a:solidFill>
              <a:srgbClr val="F5F6F4"/>
            </a:solidFill>
            <a:prstDash val="solid"/>
          </a:ln>
        </p:spPr>
      </p:sp>
      <p:sp>
        <p:nvSpPr>
          <p:cNvPr id="22" name="Text 20"/>
          <p:cNvSpPr txBox="1"/>
          <p:nvPr/>
        </p:nvSpPr>
        <p:spPr>
          <a:xfrm>
            <a:off x="1920240" y="3300984"/>
            <a:ext cx="2651760" cy="621792"/>
          </a:xfrm>
          <a:prstGeom prst="rect">
            <a:avLst/>
          </a:prstGeom>
          <a:noFill/>
          <a:ln/>
        </p:spPr>
        <p:txBody>
          <a:bodyPr wrap="square" lIns="0" tIns="0" rIns="0" bIns="0" rtlCol="0" anchor="ctr"/>
          <a:lstStyle/>
          <a:p>
            <a:pPr algn="l" indent="0" marL="0">
              <a:buNone/>
            </a:pPr>
            <a:r>
              <a:rPr lang="en-US" sz="1000" dirty="0">
                <a:solidFill>
                  <a:srgbClr val="323F4B"/>
                </a:solidFill>
                <a:latin typeface="Calibri" pitchFamily="34" charset="0"/>
                <a:ea typeface="Calibri" pitchFamily="34" charset="-122"/>
                <a:cs typeface="Calibri" pitchFamily="34" charset="-120"/>
              </a:rPr>
              <a:t>56-day fixed-term recall from 31 March 2026</a:t>
            </a:r>
            <a:endParaRPr lang="en-US" sz="1000" dirty="0"/>
          </a:p>
        </p:txBody>
      </p:sp>
      <p:sp>
        <p:nvSpPr>
          <p:cNvPr id="23" name="Shape 21"/>
          <p:cNvSpPr/>
          <p:nvPr/>
        </p:nvSpPr>
        <p:spPr>
          <a:xfrm>
            <a:off x="4709160" y="3300984"/>
            <a:ext cx="1234440" cy="621792"/>
          </a:xfrm>
          <a:prstGeom prst="rect">
            <a:avLst/>
          </a:prstGeom>
          <a:solidFill>
            <a:srgbClr val="F5F6F4"/>
          </a:solidFill>
          <a:ln w="12700">
            <a:solidFill>
              <a:srgbClr val="F5F6F4"/>
            </a:solidFill>
            <a:prstDash val="solid"/>
          </a:ln>
        </p:spPr>
      </p:sp>
      <p:sp>
        <p:nvSpPr>
          <p:cNvPr id="24" name="Text 22"/>
          <p:cNvSpPr txBox="1"/>
          <p:nvPr/>
        </p:nvSpPr>
        <p:spPr>
          <a:xfrm>
            <a:off x="4800600" y="3300984"/>
            <a:ext cx="1051560" cy="621792"/>
          </a:xfrm>
          <a:prstGeom prst="rect">
            <a:avLst/>
          </a:prstGeom>
          <a:noFill/>
          <a:ln/>
        </p:spPr>
        <p:txBody>
          <a:bodyPr wrap="square" lIns="0" tIns="0" rIns="0" bIns="0" rtlCol="0" anchor="ctr"/>
          <a:lstStyle/>
          <a:p>
            <a:pPr algn="ctr" indent="0" marL="0">
              <a:buNone/>
            </a:pPr>
            <a:r>
              <a:rPr lang="en-US" sz="1000" b="1" dirty="0">
                <a:solidFill>
                  <a:srgbClr val="B03A2E"/>
                </a:solidFill>
                <a:latin typeface="Calibri" pitchFamily="34" charset="0"/>
                <a:ea typeface="Calibri" pitchFamily="34" charset="-122"/>
                <a:cs typeface="Calibri" pitchFamily="34" charset="-120"/>
              </a:rPr>
              <a:t>up to +3,570</a:t>
            </a:r>
            <a:endParaRPr lang="en-US" sz="1000" dirty="0"/>
          </a:p>
        </p:txBody>
      </p:sp>
      <p:sp>
        <p:nvSpPr>
          <p:cNvPr id="25" name="Shape 23"/>
          <p:cNvSpPr/>
          <p:nvPr/>
        </p:nvSpPr>
        <p:spPr>
          <a:xfrm>
            <a:off x="548640" y="4014216"/>
            <a:ext cx="1234440" cy="621792"/>
          </a:xfrm>
          <a:prstGeom prst="rect">
            <a:avLst/>
          </a:prstGeom>
          <a:solidFill>
            <a:srgbClr val="B03A2E"/>
          </a:solidFill>
          <a:ln w="12700">
            <a:solidFill>
              <a:srgbClr val="B03A2E"/>
            </a:solidFill>
            <a:prstDash val="solid"/>
          </a:ln>
        </p:spPr>
      </p:sp>
      <p:sp>
        <p:nvSpPr>
          <p:cNvPr id="26" name="Text 24"/>
          <p:cNvSpPr txBox="1"/>
          <p:nvPr/>
        </p:nvSpPr>
        <p:spPr>
          <a:xfrm>
            <a:off x="640080" y="4014216"/>
            <a:ext cx="1051560" cy="6217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Courts</a:t>
            </a:r>
            <a:endParaRPr lang="en-US" sz="1000" dirty="0"/>
          </a:p>
        </p:txBody>
      </p:sp>
      <p:sp>
        <p:nvSpPr>
          <p:cNvPr id="27" name="Shape 25"/>
          <p:cNvSpPr/>
          <p:nvPr/>
        </p:nvSpPr>
        <p:spPr>
          <a:xfrm>
            <a:off x="1828800" y="4014216"/>
            <a:ext cx="2834640" cy="621792"/>
          </a:xfrm>
          <a:prstGeom prst="rect">
            <a:avLst/>
          </a:prstGeom>
          <a:solidFill>
            <a:srgbClr val="F5F6F4"/>
          </a:solidFill>
          <a:ln w="12700">
            <a:solidFill>
              <a:srgbClr val="F5F6F4"/>
            </a:solidFill>
            <a:prstDash val="solid"/>
          </a:ln>
        </p:spPr>
      </p:sp>
      <p:sp>
        <p:nvSpPr>
          <p:cNvPr id="28" name="Text 26"/>
          <p:cNvSpPr txBox="1"/>
          <p:nvPr/>
        </p:nvSpPr>
        <p:spPr>
          <a:xfrm>
            <a:off x="1920240" y="4014216"/>
            <a:ext cx="2651760" cy="621792"/>
          </a:xfrm>
          <a:prstGeom prst="rect">
            <a:avLst/>
          </a:prstGeom>
          <a:noFill/>
          <a:ln/>
        </p:spPr>
        <p:txBody>
          <a:bodyPr wrap="square" lIns="0" tIns="0" rIns="0" bIns="0" rtlCol="0" anchor="ctr"/>
          <a:lstStyle/>
          <a:p>
            <a:pPr algn="l" indent="0" marL="0">
              <a:buNone/>
            </a:pPr>
            <a:r>
              <a:rPr lang="en-US" sz="1000" dirty="0">
                <a:solidFill>
                  <a:srgbClr val="323F4B"/>
                </a:solidFill>
                <a:latin typeface="Calibri" pitchFamily="34" charset="0"/>
                <a:ea typeface="Calibri" pitchFamily="34" charset="-122"/>
                <a:cs typeface="Calibri" pitchFamily="34" charset="-120"/>
              </a:rPr>
              <a:t>Custody deferred by the bail shift, landing 2027-28</a:t>
            </a:r>
            <a:endParaRPr lang="en-US" sz="1000" dirty="0"/>
          </a:p>
        </p:txBody>
      </p:sp>
      <p:sp>
        <p:nvSpPr>
          <p:cNvPr id="29" name="Shape 27"/>
          <p:cNvSpPr/>
          <p:nvPr/>
        </p:nvSpPr>
        <p:spPr>
          <a:xfrm>
            <a:off x="4709160" y="4014216"/>
            <a:ext cx="1234440" cy="621792"/>
          </a:xfrm>
          <a:prstGeom prst="rect">
            <a:avLst/>
          </a:prstGeom>
          <a:solidFill>
            <a:srgbClr val="F5F6F4"/>
          </a:solidFill>
          <a:ln w="12700">
            <a:solidFill>
              <a:srgbClr val="F5F6F4"/>
            </a:solidFill>
            <a:prstDash val="solid"/>
          </a:ln>
        </p:spPr>
      </p:sp>
      <p:sp>
        <p:nvSpPr>
          <p:cNvPr id="30" name="Text 28"/>
          <p:cNvSpPr txBox="1"/>
          <p:nvPr/>
        </p:nvSpPr>
        <p:spPr>
          <a:xfrm>
            <a:off x="4800600" y="4014216"/>
            <a:ext cx="1051560" cy="621792"/>
          </a:xfrm>
          <a:prstGeom prst="rect">
            <a:avLst/>
          </a:prstGeom>
          <a:noFill/>
          <a:ln/>
        </p:spPr>
        <p:txBody>
          <a:bodyPr wrap="square" lIns="0" tIns="0" rIns="0" bIns="0" rtlCol="0" anchor="ctr"/>
          <a:lstStyle/>
          <a:p>
            <a:pPr algn="ctr" indent="0" marL="0">
              <a:buNone/>
            </a:pPr>
            <a:r>
              <a:rPr lang="en-US" sz="1000" b="1" dirty="0">
                <a:solidFill>
                  <a:srgbClr val="B03A2E"/>
                </a:solidFill>
                <a:latin typeface="Calibri" pitchFamily="34" charset="0"/>
                <a:ea typeface="Calibri" pitchFamily="34" charset="-122"/>
                <a:cs typeface="Calibri" pitchFamily="34" charset="-120"/>
              </a:rPr>
              <a:t>700 to 1,800 prisoner-yrs</a:t>
            </a:r>
            <a:endParaRPr lang="en-US" sz="1000" dirty="0"/>
          </a:p>
        </p:txBody>
      </p:sp>
      <p:sp>
        <p:nvSpPr>
          <p:cNvPr id="31" name="Shape 29"/>
          <p:cNvSpPr/>
          <p:nvPr/>
        </p:nvSpPr>
        <p:spPr>
          <a:xfrm>
            <a:off x="548640" y="4727448"/>
            <a:ext cx="1234440" cy="621792"/>
          </a:xfrm>
          <a:prstGeom prst="rect">
            <a:avLst/>
          </a:prstGeom>
          <a:solidFill>
            <a:srgbClr val="B03A2E"/>
          </a:solidFill>
          <a:ln w="12700">
            <a:solidFill>
              <a:srgbClr val="B03A2E"/>
            </a:solidFill>
            <a:prstDash val="solid"/>
          </a:ln>
        </p:spPr>
      </p:sp>
      <p:sp>
        <p:nvSpPr>
          <p:cNvPr id="32" name="Text 30"/>
          <p:cNvSpPr txBox="1"/>
          <p:nvPr/>
        </p:nvSpPr>
        <p:spPr>
          <a:xfrm>
            <a:off x="640080" y="4727448"/>
            <a:ext cx="1051560" cy="6217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Calendar</a:t>
            </a:r>
            <a:endParaRPr lang="en-US" sz="1000" dirty="0"/>
          </a:p>
        </p:txBody>
      </p:sp>
      <p:sp>
        <p:nvSpPr>
          <p:cNvPr id="33" name="Shape 31"/>
          <p:cNvSpPr/>
          <p:nvPr/>
        </p:nvSpPr>
        <p:spPr>
          <a:xfrm>
            <a:off x="1828800" y="4727448"/>
            <a:ext cx="2834640" cy="621792"/>
          </a:xfrm>
          <a:prstGeom prst="rect">
            <a:avLst/>
          </a:prstGeom>
          <a:solidFill>
            <a:srgbClr val="F5F6F4"/>
          </a:solidFill>
          <a:ln w="12700">
            <a:solidFill>
              <a:srgbClr val="F5F6F4"/>
            </a:solidFill>
            <a:prstDash val="solid"/>
          </a:ln>
        </p:spPr>
      </p:sp>
      <p:sp>
        <p:nvSpPr>
          <p:cNvPr id="34" name="Text 32"/>
          <p:cNvSpPr txBox="1"/>
          <p:nvPr/>
        </p:nvSpPr>
        <p:spPr>
          <a:xfrm>
            <a:off x="1920240" y="4727448"/>
            <a:ext cx="2651760" cy="621792"/>
          </a:xfrm>
          <a:prstGeom prst="rect">
            <a:avLst/>
          </a:prstGeom>
          <a:noFill/>
          <a:ln/>
        </p:spPr>
        <p:txBody>
          <a:bodyPr wrap="square" lIns="0" tIns="0" rIns="0" bIns="0" rtlCol="0" anchor="ctr"/>
          <a:lstStyle/>
          <a:p>
            <a:pPr algn="l" indent="0" marL="0">
              <a:buNone/>
            </a:pPr>
            <a:r>
              <a:rPr lang="en-US" sz="1000" dirty="0">
                <a:solidFill>
                  <a:srgbClr val="323F4B"/>
                </a:solidFill>
                <a:latin typeface="Calibri" pitchFamily="34" charset="0"/>
                <a:ea typeface="Calibri" pitchFamily="34" charset="-122"/>
                <a:cs typeface="Calibri" pitchFamily="34" charset="-120"/>
              </a:rPr>
              <a:t>Seasonal peak, August to November</a:t>
            </a:r>
            <a:endParaRPr lang="en-US" sz="1000" dirty="0"/>
          </a:p>
        </p:txBody>
      </p:sp>
      <p:sp>
        <p:nvSpPr>
          <p:cNvPr id="35" name="Shape 33"/>
          <p:cNvSpPr/>
          <p:nvPr/>
        </p:nvSpPr>
        <p:spPr>
          <a:xfrm>
            <a:off x="4709160" y="4727448"/>
            <a:ext cx="1234440" cy="621792"/>
          </a:xfrm>
          <a:prstGeom prst="rect">
            <a:avLst/>
          </a:prstGeom>
          <a:solidFill>
            <a:srgbClr val="F5F6F4"/>
          </a:solidFill>
          <a:ln w="12700">
            <a:solidFill>
              <a:srgbClr val="F5F6F4"/>
            </a:solidFill>
            <a:prstDash val="solid"/>
          </a:ln>
        </p:spPr>
      </p:sp>
      <p:sp>
        <p:nvSpPr>
          <p:cNvPr id="36" name="Text 34"/>
          <p:cNvSpPr txBox="1"/>
          <p:nvPr/>
        </p:nvSpPr>
        <p:spPr>
          <a:xfrm>
            <a:off x="4800600" y="4727448"/>
            <a:ext cx="1051560" cy="621792"/>
          </a:xfrm>
          <a:prstGeom prst="rect">
            <a:avLst/>
          </a:prstGeom>
          <a:noFill/>
          <a:ln/>
        </p:spPr>
        <p:txBody>
          <a:bodyPr wrap="square" lIns="0" tIns="0" rIns="0" bIns="0" rtlCol="0" anchor="ctr"/>
          <a:lstStyle/>
          <a:p>
            <a:pPr algn="ctr" indent="0" marL="0">
              <a:buNone/>
            </a:pPr>
            <a:r>
              <a:rPr lang="en-US" sz="1000" b="1" dirty="0">
                <a:solidFill>
                  <a:srgbClr val="B03A2E"/>
                </a:solidFill>
                <a:latin typeface="Calibri" pitchFamily="34" charset="0"/>
                <a:ea typeface="Calibri" pitchFamily="34" charset="-122"/>
                <a:cs typeface="Calibri" pitchFamily="34" charset="-120"/>
              </a:rPr>
              <a:t>+800 amplitude</a:t>
            </a:r>
            <a:endParaRPr lang="en-US" sz="1000" dirty="0"/>
          </a:p>
        </p:txBody>
      </p:sp>
      <p:sp>
        <p:nvSpPr>
          <p:cNvPr id="37" name="Shape 35"/>
          <p:cNvSpPr/>
          <p:nvPr/>
        </p:nvSpPr>
        <p:spPr>
          <a:xfrm>
            <a:off x="6217920" y="1874520"/>
            <a:ext cx="1234440" cy="621792"/>
          </a:xfrm>
          <a:prstGeom prst="rect">
            <a:avLst/>
          </a:prstGeom>
          <a:solidFill>
            <a:srgbClr val="1F2933"/>
          </a:solidFill>
          <a:ln w="12700">
            <a:solidFill>
              <a:srgbClr val="1F2933"/>
            </a:solidFill>
            <a:prstDash val="solid"/>
          </a:ln>
        </p:spPr>
      </p:sp>
      <p:sp>
        <p:nvSpPr>
          <p:cNvPr id="38" name="Text 36"/>
          <p:cNvSpPr txBox="1"/>
          <p:nvPr/>
        </p:nvSpPr>
        <p:spPr>
          <a:xfrm>
            <a:off x="6309360" y="1874520"/>
            <a:ext cx="1051560" cy="6217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Ministers</a:t>
            </a:r>
            <a:endParaRPr lang="en-US" sz="1000" dirty="0"/>
          </a:p>
        </p:txBody>
      </p:sp>
      <p:sp>
        <p:nvSpPr>
          <p:cNvPr id="39" name="Shape 37"/>
          <p:cNvSpPr/>
          <p:nvPr/>
        </p:nvSpPr>
        <p:spPr>
          <a:xfrm>
            <a:off x="7498080" y="1874520"/>
            <a:ext cx="2834640" cy="621792"/>
          </a:xfrm>
          <a:prstGeom prst="rect">
            <a:avLst/>
          </a:prstGeom>
          <a:solidFill>
            <a:srgbClr val="F5F6F4"/>
          </a:solidFill>
          <a:ln w="12700">
            <a:solidFill>
              <a:srgbClr val="F5F6F4"/>
            </a:solidFill>
            <a:prstDash val="solid"/>
          </a:ln>
        </p:spPr>
      </p:sp>
      <p:sp>
        <p:nvSpPr>
          <p:cNvPr id="40" name="Text 38"/>
          <p:cNvSpPr txBox="1"/>
          <p:nvPr/>
        </p:nvSpPr>
        <p:spPr>
          <a:xfrm>
            <a:off x="7589520" y="1874520"/>
            <a:ext cx="2651760" cy="621792"/>
          </a:xfrm>
          <a:prstGeom prst="rect">
            <a:avLst/>
          </a:prstGeom>
          <a:noFill/>
          <a:ln/>
        </p:spPr>
        <p:txBody>
          <a:bodyPr wrap="square" lIns="0" tIns="0" rIns="0" bIns="0" rtlCol="0" anchor="ctr"/>
          <a:lstStyle/>
          <a:p>
            <a:pPr algn="l" indent="0" marL="0">
              <a:buNone/>
            </a:pPr>
            <a:r>
              <a:rPr lang="en-US" sz="1000" dirty="0">
                <a:solidFill>
                  <a:srgbClr val="323F4B"/>
                </a:solidFill>
                <a:latin typeface="Calibri" pitchFamily="34" charset="0"/>
                <a:ea typeface="Calibri" pitchFamily="34" charset="-122"/>
                <a:cs typeface="Calibri" pitchFamily="34" charset="-120"/>
              </a:rPr>
              <a:t>Progression releases, eight dated tranches Oct 26 to Apr 27</a:t>
            </a:r>
            <a:endParaRPr lang="en-US" sz="1000" dirty="0"/>
          </a:p>
        </p:txBody>
      </p:sp>
      <p:sp>
        <p:nvSpPr>
          <p:cNvPr id="41" name="Shape 39"/>
          <p:cNvSpPr/>
          <p:nvPr/>
        </p:nvSpPr>
        <p:spPr>
          <a:xfrm>
            <a:off x="10378440" y="1874520"/>
            <a:ext cx="1234440" cy="621792"/>
          </a:xfrm>
          <a:prstGeom prst="rect">
            <a:avLst/>
          </a:prstGeom>
          <a:solidFill>
            <a:srgbClr val="F5F6F4"/>
          </a:solidFill>
          <a:ln w="12700">
            <a:solidFill>
              <a:srgbClr val="F5F6F4"/>
            </a:solidFill>
            <a:prstDash val="solid"/>
          </a:ln>
        </p:spPr>
      </p:sp>
      <p:sp>
        <p:nvSpPr>
          <p:cNvPr id="42" name="Text 40"/>
          <p:cNvSpPr txBox="1"/>
          <p:nvPr/>
        </p:nvSpPr>
        <p:spPr>
          <a:xfrm>
            <a:off x="10469880" y="1874520"/>
            <a:ext cx="1051560" cy="621792"/>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−4,050</a:t>
            </a:r>
            <a:endParaRPr lang="en-US" sz="1000" dirty="0"/>
          </a:p>
        </p:txBody>
      </p:sp>
      <p:sp>
        <p:nvSpPr>
          <p:cNvPr id="43" name="Shape 41"/>
          <p:cNvSpPr/>
          <p:nvPr/>
        </p:nvSpPr>
        <p:spPr>
          <a:xfrm>
            <a:off x="6217920" y="2587752"/>
            <a:ext cx="1234440" cy="621792"/>
          </a:xfrm>
          <a:prstGeom prst="rect">
            <a:avLst/>
          </a:prstGeom>
          <a:solidFill>
            <a:srgbClr val="1F2933"/>
          </a:solidFill>
          <a:ln w="12700">
            <a:solidFill>
              <a:srgbClr val="1F2933"/>
            </a:solidFill>
            <a:prstDash val="solid"/>
          </a:ln>
        </p:spPr>
      </p:sp>
      <p:sp>
        <p:nvSpPr>
          <p:cNvPr id="44" name="Text 42"/>
          <p:cNvSpPr txBox="1"/>
          <p:nvPr/>
        </p:nvSpPr>
        <p:spPr>
          <a:xfrm>
            <a:off x="6309360" y="2587752"/>
            <a:ext cx="1051560" cy="6217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Judges</a:t>
            </a:r>
            <a:endParaRPr lang="en-US" sz="1000" dirty="0"/>
          </a:p>
        </p:txBody>
      </p:sp>
      <p:sp>
        <p:nvSpPr>
          <p:cNvPr id="45" name="Shape 43"/>
          <p:cNvSpPr/>
          <p:nvPr/>
        </p:nvSpPr>
        <p:spPr>
          <a:xfrm>
            <a:off x="7498080" y="2587752"/>
            <a:ext cx="2834640" cy="621792"/>
          </a:xfrm>
          <a:prstGeom prst="rect">
            <a:avLst/>
          </a:prstGeom>
          <a:solidFill>
            <a:srgbClr val="F5F6F4"/>
          </a:solidFill>
          <a:ln w="12700">
            <a:solidFill>
              <a:srgbClr val="F5F6F4"/>
            </a:solidFill>
            <a:prstDash val="solid"/>
          </a:ln>
        </p:spPr>
      </p:sp>
      <p:sp>
        <p:nvSpPr>
          <p:cNvPr id="46" name="Text 44"/>
          <p:cNvSpPr txBox="1"/>
          <p:nvPr/>
        </p:nvSpPr>
        <p:spPr>
          <a:xfrm>
            <a:off x="7589520" y="2587752"/>
            <a:ext cx="2651760" cy="621792"/>
          </a:xfrm>
          <a:prstGeom prst="rect">
            <a:avLst/>
          </a:prstGeom>
          <a:noFill/>
          <a:ln/>
        </p:spPr>
        <p:txBody>
          <a:bodyPr wrap="square" lIns="0" tIns="0" rIns="0" bIns="0" rtlCol="0" anchor="ctr"/>
          <a:lstStyle/>
          <a:p>
            <a:pPr algn="l" indent="0" marL="0">
              <a:buNone/>
            </a:pPr>
            <a:r>
              <a:rPr lang="en-US" sz="1000" dirty="0">
                <a:solidFill>
                  <a:srgbClr val="323F4B"/>
                </a:solidFill>
                <a:latin typeface="Calibri" pitchFamily="34" charset="0"/>
                <a:ea typeface="Calibri" pitchFamily="34" charset="-122"/>
                <a:cs typeface="Calibri" pitchFamily="34" charset="-120"/>
              </a:rPr>
              <a:t>Bail replacing remand since August 2025, contested by police</a:t>
            </a:r>
            <a:endParaRPr lang="en-US" sz="1000" dirty="0"/>
          </a:p>
        </p:txBody>
      </p:sp>
      <p:sp>
        <p:nvSpPr>
          <p:cNvPr id="47" name="Shape 45"/>
          <p:cNvSpPr/>
          <p:nvPr/>
        </p:nvSpPr>
        <p:spPr>
          <a:xfrm>
            <a:off x="10378440" y="2587752"/>
            <a:ext cx="1234440" cy="621792"/>
          </a:xfrm>
          <a:prstGeom prst="rect">
            <a:avLst/>
          </a:prstGeom>
          <a:solidFill>
            <a:srgbClr val="F5F6F4"/>
          </a:solidFill>
          <a:ln w="12700">
            <a:solidFill>
              <a:srgbClr val="F5F6F4"/>
            </a:solidFill>
            <a:prstDash val="solid"/>
          </a:ln>
        </p:spPr>
      </p:sp>
      <p:sp>
        <p:nvSpPr>
          <p:cNvPr id="48" name="Text 46"/>
          <p:cNvSpPr txBox="1"/>
          <p:nvPr/>
        </p:nvSpPr>
        <p:spPr>
          <a:xfrm>
            <a:off x="10469880" y="2587752"/>
            <a:ext cx="1051560" cy="621792"/>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−200 a month</a:t>
            </a:r>
            <a:endParaRPr lang="en-US" sz="1000" dirty="0"/>
          </a:p>
        </p:txBody>
      </p:sp>
      <p:sp>
        <p:nvSpPr>
          <p:cNvPr id="49" name="Shape 47"/>
          <p:cNvSpPr/>
          <p:nvPr/>
        </p:nvSpPr>
        <p:spPr>
          <a:xfrm>
            <a:off x="6217920" y="3300984"/>
            <a:ext cx="1234440" cy="621792"/>
          </a:xfrm>
          <a:prstGeom prst="rect">
            <a:avLst/>
          </a:prstGeom>
          <a:solidFill>
            <a:srgbClr val="1F2933"/>
          </a:solidFill>
          <a:ln w="12700">
            <a:solidFill>
              <a:srgbClr val="1F2933"/>
            </a:solidFill>
            <a:prstDash val="solid"/>
          </a:ln>
        </p:spPr>
      </p:sp>
      <p:sp>
        <p:nvSpPr>
          <p:cNvPr id="50" name="Text 48"/>
          <p:cNvSpPr txBox="1"/>
          <p:nvPr/>
        </p:nvSpPr>
        <p:spPr>
          <a:xfrm>
            <a:off x="6309360" y="3300984"/>
            <a:ext cx="1051560" cy="6217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HMPPS</a:t>
            </a:r>
            <a:endParaRPr lang="en-US" sz="1000" dirty="0"/>
          </a:p>
        </p:txBody>
      </p:sp>
      <p:sp>
        <p:nvSpPr>
          <p:cNvPr id="51" name="Shape 49"/>
          <p:cNvSpPr/>
          <p:nvPr/>
        </p:nvSpPr>
        <p:spPr>
          <a:xfrm>
            <a:off x="7498080" y="3300984"/>
            <a:ext cx="2834640" cy="621792"/>
          </a:xfrm>
          <a:prstGeom prst="rect">
            <a:avLst/>
          </a:prstGeom>
          <a:solidFill>
            <a:srgbClr val="F5F6F4"/>
          </a:solidFill>
          <a:ln w="12700">
            <a:solidFill>
              <a:srgbClr val="F5F6F4"/>
            </a:solidFill>
            <a:prstDash val="solid"/>
          </a:ln>
        </p:spPr>
      </p:sp>
      <p:sp>
        <p:nvSpPr>
          <p:cNvPr id="52" name="Text 50"/>
          <p:cNvSpPr txBox="1"/>
          <p:nvPr/>
        </p:nvSpPr>
        <p:spPr>
          <a:xfrm>
            <a:off x="7589520" y="3300984"/>
            <a:ext cx="2651760" cy="621792"/>
          </a:xfrm>
          <a:prstGeom prst="rect">
            <a:avLst/>
          </a:prstGeom>
          <a:noFill/>
          <a:ln/>
        </p:spPr>
        <p:txBody>
          <a:bodyPr wrap="square" lIns="0" tIns="0" rIns="0" bIns="0" rtlCol="0" anchor="ctr"/>
          <a:lstStyle/>
          <a:p>
            <a:pPr algn="l" indent="0" marL="0">
              <a:buNone/>
            </a:pPr>
            <a:r>
              <a:rPr lang="en-US" sz="1000" dirty="0">
                <a:solidFill>
                  <a:srgbClr val="323F4B"/>
                </a:solidFill>
                <a:latin typeface="Calibri" pitchFamily="34" charset="0"/>
                <a:ea typeface="Calibri" pitchFamily="34" charset="-122"/>
                <a:cs typeface="Calibri" pitchFamily="34" charset="-120"/>
              </a:rPr>
              <a:t>Capacity feedback: places brought online as headroom tightens</a:t>
            </a:r>
            <a:endParaRPr lang="en-US" sz="1000" dirty="0"/>
          </a:p>
        </p:txBody>
      </p:sp>
      <p:sp>
        <p:nvSpPr>
          <p:cNvPr id="53" name="Shape 51"/>
          <p:cNvSpPr/>
          <p:nvPr/>
        </p:nvSpPr>
        <p:spPr>
          <a:xfrm>
            <a:off x="10378440" y="3300984"/>
            <a:ext cx="1234440" cy="621792"/>
          </a:xfrm>
          <a:prstGeom prst="rect">
            <a:avLst/>
          </a:prstGeom>
          <a:solidFill>
            <a:srgbClr val="F5F6F4"/>
          </a:solidFill>
          <a:ln w="12700">
            <a:solidFill>
              <a:srgbClr val="F5F6F4"/>
            </a:solidFill>
            <a:prstDash val="solid"/>
          </a:ln>
        </p:spPr>
      </p:sp>
      <p:sp>
        <p:nvSpPr>
          <p:cNvPr id="54" name="Text 52"/>
          <p:cNvSpPr txBox="1"/>
          <p:nvPr/>
        </p:nvSpPr>
        <p:spPr>
          <a:xfrm>
            <a:off x="10469880" y="3300984"/>
            <a:ext cx="1051560" cy="621792"/>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39% of any move</a:t>
            </a:r>
            <a:endParaRPr lang="en-US" sz="1000" dirty="0"/>
          </a:p>
        </p:txBody>
      </p:sp>
      <p:sp>
        <p:nvSpPr>
          <p:cNvPr id="55" name="Shape 53"/>
          <p:cNvSpPr/>
          <p:nvPr/>
        </p:nvSpPr>
        <p:spPr>
          <a:xfrm>
            <a:off x="6217920" y="4014216"/>
            <a:ext cx="1234440" cy="621792"/>
          </a:xfrm>
          <a:prstGeom prst="rect">
            <a:avLst/>
          </a:prstGeom>
          <a:solidFill>
            <a:srgbClr val="1F2933"/>
          </a:solidFill>
          <a:ln w="12700">
            <a:solidFill>
              <a:srgbClr val="1F2933"/>
            </a:solidFill>
            <a:prstDash val="solid"/>
          </a:ln>
        </p:spPr>
      </p:sp>
      <p:sp>
        <p:nvSpPr>
          <p:cNvPr id="56" name="Text 54"/>
          <p:cNvSpPr txBox="1"/>
          <p:nvPr/>
        </p:nvSpPr>
        <p:spPr>
          <a:xfrm>
            <a:off x="6309360" y="4014216"/>
            <a:ext cx="1051560" cy="6217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Courts</a:t>
            </a:r>
            <a:endParaRPr lang="en-US" sz="1000" dirty="0"/>
          </a:p>
        </p:txBody>
      </p:sp>
      <p:sp>
        <p:nvSpPr>
          <p:cNvPr id="57" name="Shape 55"/>
          <p:cNvSpPr/>
          <p:nvPr/>
        </p:nvSpPr>
        <p:spPr>
          <a:xfrm>
            <a:off x="7498080" y="4014216"/>
            <a:ext cx="2834640" cy="621792"/>
          </a:xfrm>
          <a:prstGeom prst="rect">
            <a:avLst/>
          </a:prstGeom>
          <a:solidFill>
            <a:srgbClr val="F5F6F4"/>
          </a:solidFill>
          <a:ln w="12700">
            <a:solidFill>
              <a:srgbClr val="F5F6F4"/>
            </a:solidFill>
            <a:prstDash val="solid"/>
          </a:ln>
        </p:spPr>
      </p:sp>
      <p:sp>
        <p:nvSpPr>
          <p:cNvPr id="58" name="Text 56"/>
          <p:cNvSpPr txBox="1"/>
          <p:nvPr/>
        </p:nvSpPr>
        <p:spPr>
          <a:xfrm>
            <a:off x="7589520" y="4014216"/>
            <a:ext cx="2651760" cy="621792"/>
          </a:xfrm>
          <a:prstGeom prst="rect">
            <a:avLst/>
          </a:prstGeom>
          <a:noFill/>
          <a:ln/>
        </p:spPr>
        <p:txBody>
          <a:bodyPr wrap="square" lIns="0" tIns="0" rIns="0" bIns="0" rtlCol="0" anchor="ctr"/>
          <a:lstStyle/>
          <a:p>
            <a:pPr algn="l" indent="0" marL="0">
              <a:buNone/>
            </a:pPr>
            <a:r>
              <a:rPr lang="en-US" sz="1000" dirty="0">
                <a:solidFill>
                  <a:srgbClr val="323F4B"/>
                </a:solidFill>
                <a:latin typeface="Calibri" pitchFamily="34" charset="0"/>
                <a:ea typeface="Calibri" pitchFamily="34" charset="-122"/>
                <a:cs typeface="Calibri" pitchFamily="34" charset="-120"/>
              </a:rPr>
              <a:t>Case attrition over long delays: fewer convictions</a:t>
            </a:r>
            <a:endParaRPr lang="en-US" sz="1000" dirty="0"/>
          </a:p>
        </p:txBody>
      </p:sp>
      <p:sp>
        <p:nvSpPr>
          <p:cNvPr id="59" name="Shape 57"/>
          <p:cNvSpPr/>
          <p:nvPr/>
        </p:nvSpPr>
        <p:spPr>
          <a:xfrm>
            <a:off x="10378440" y="4014216"/>
            <a:ext cx="1234440" cy="621792"/>
          </a:xfrm>
          <a:prstGeom prst="rect">
            <a:avLst/>
          </a:prstGeom>
          <a:solidFill>
            <a:srgbClr val="F5F6F4"/>
          </a:solidFill>
          <a:ln w="12700">
            <a:solidFill>
              <a:srgbClr val="F5F6F4"/>
            </a:solidFill>
            <a:prstDash val="solid"/>
          </a:ln>
        </p:spPr>
      </p:sp>
      <p:sp>
        <p:nvSpPr>
          <p:cNvPr id="60" name="Text 58"/>
          <p:cNvSpPr txBox="1"/>
          <p:nvPr/>
        </p:nvSpPr>
        <p:spPr>
          <a:xfrm>
            <a:off x="10469880" y="4014216"/>
            <a:ext cx="1051560" cy="621792"/>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unquantified</a:t>
            </a:r>
            <a:endParaRPr lang="en-US" sz="1000" dirty="0"/>
          </a:p>
        </p:txBody>
      </p:sp>
      <p:sp>
        <p:nvSpPr>
          <p:cNvPr id="61" name="Shape 59"/>
          <p:cNvSpPr/>
          <p:nvPr/>
        </p:nvSpPr>
        <p:spPr>
          <a:xfrm>
            <a:off x="6217920" y="4727448"/>
            <a:ext cx="1234440" cy="621792"/>
          </a:xfrm>
          <a:prstGeom prst="rect">
            <a:avLst/>
          </a:prstGeom>
          <a:solidFill>
            <a:srgbClr val="1F2933"/>
          </a:solidFill>
          <a:ln w="12700">
            <a:solidFill>
              <a:srgbClr val="1F2933"/>
            </a:solidFill>
            <a:prstDash val="solid"/>
          </a:ln>
        </p:spPr>
      </p:sp>
      <p:sp>
        <p:nvSpPr>
          <p:cNvPr id="62" name="Text 60"/>
          <p:cNvSpPr txBox="1"/>
          <p:nvPr/>
        </p:nvSpPr>
        <p:spPr>
          <a:xfrm>
            <a:off x="6309360" y="4727448"/>
            <a:ext cx="1051560" cy="6217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Calendar</a:t>
            </a:r>
            <a:endParaRPr lang="en-US" sz="1000" dirty="0"/>
          </a:p>
        </p:txBody>
      </p:sp>
      <p:sp>
        <p:nvSpPr>
          <p:cNvPr id="63" name="Shape 61"/>
          <p:cNvSpPr/>
          <p:nvPr/>
        </p:nvSpPr>
        <p:spPr>
          <a:xfrm>
            <a:off x="7498080" y="4727448"/>
            <a:ext cx="2834640" cy="621792"/>
          </a:xfrm>
          <a:prstGeom prst="rect">
            <a:avLst/>
          </a:prstGeom>
          <a:solidFill>
            <a:srgbClr val="F5F6F4"/>
          </a:solidFill>
          <a:ln w="12700">
            <a:solidFill>
              <a:srgbClr val="F5F6F4"/>
            </a:solidFill>
            <a:prstDash val="solid"/>
          </a:ln>
        </p:spPr>
      </p:sp>
      <p:sp>
        <p:nvSpPr>
          <p:cNvPr id="64" name="Text 62"/>
          <p:cNvSpPr txBox="1"/>
          <p:nvPr/>
        </p:nvSpPr>
        <p:spPr>
          <a:xfrm>
            <a:off x="7589520" y="4727448"/>
            <a:ext cx="2651760" cy="621792"/>
          </a:xfrm>
          <a:prstGeom prst="rect">
            <a:avLst/>
          </a:prstGeom>
          <a:noFill/>
          <a:ln/>
        </p:spPr>
        <p:txBody>
          <a:bodyPr wrap="square" lIns="0" tIns="0" rIns="0" bIns="0" rtlCol="0" anchor="ctr"/>
          <a:lstStyle/>
          <a:p>
            <a:pPr algn="l" indent="0" marL="0">
              <a:buNone/>
            </a:pPr>
            <a:r>
              <a:rPr lang="en-US" sz="1000" dirty="0">
                <a:solidFill>
                  <a:srgbClr val="323F4B"/>
                </a:solidFill>
                <a:latin typeface="Calibri" pitchFamily="34" charset="0"/>
                <a:ea typeface="Calibri" pitchFamily="34" charset="-122"/>
                <a:cs typeface="Calibri" pitchFamily="34" charset="-120"/>
              </a:rPr>
              <a:t>Seasonal trough, December to January</a:t>
            </a:r>
            <a:endParaRPr lang="en-US" sz="1000" dirty="0"/>
          </a:p>
        </p:txBody>
      </p:sp>
      <p:sp>
        <p:nvSpPr>
          <p:cNvPr id="65" name="Shape 63"/>
          <p:cNvSpPr/>
          <p:nvPr/>
        </p:nvSpPr>
        <p:spPr>
          <a:xfrm>
            <a:off x="10378440" y="4727448"/>
            <a:ext cx="1234440" cy="621792"/>
          </a:xfrm>
          <a:prstGeom prst="rect">
            <a:avLst/>
          </a:prstGeom>
          <a:solidFill>
            <a:srgbClr val="F5F6F4"/>
          </a:solidFill>
          <a:ln w="12700">
            <a:solidFill>
              <a:srgbClr val="F5F6F4"/>
            </a:solidFill>
            <a:prstDash val="solid"/>
          </a:ln>
        </p:spPr>
      </p:sp>
      <p:sp>
        <p:nvSpPr>
          <p:cNvPr id="66" name="Text 64"/>
          <p:cNvSpPr txBox="1"/>
          <p:nvPr/>
        </p:nvSpPr>
        <p:spPr>
          <a:xfrm>
            <a:off x="10469880" y="4727448"/>
            <a:ext cx="1051560" cy="621792"/>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−800 amplitude</a:t>
            </a:r>
            <a:endParaRPr lang="en-US" sz="1000" dirty="0"/>
          </a:p>
        </p:txBody>
      </p:sp>
      <p:sp>
        <p:nvSpPr>
          <p:cNvPr id="67" name="Shape 65"/>
          <p:cNvSpPr/>
          <p:nvPr/>
        </p:nvSpPr>
        <p:spPr>
          <a:xfrm>
            <a:off x="548640" y="5532120"/>
            <a:ext cx="11064240" cy="731520"/>
          </a:xfrm>
          <a:prstGeom prst="rect">
            <a:avLst/>
          </a:prstGeom>
          <a:solidFill>
            <a:srgbClr val="F5F6F4"/>
          </a:solidFill>
          <a:ln w="12700">
            <a:solidFill>
              <a:srgbClr val="F5F6F4"/>
            </a:solidFill>
            <a:prstDash val="solid"/>
          </a:ln>
        </p:spPr>
      </p:sp>
      <p:sp>
        <p:nvSpPr>
          <p:cNvPr id="68" name="Text 66"/>
          <p:cNvSpPr txBox="1"/>
          <p:nvPr/>
        </p:nvSpPr>
        <p:spPr>
          <a:xfrm>
            <a:off x="640080" y="5532120"/>
            <a:ext cx="10881360" cy="731520"/>
          </a:xfrm>
          <a:prstGeom prst="rect">
            <a:avLst/>
          </a:prstGeom>
          <a:noFill/>
          <a:ln/>
        </p:spPr>
        <p:txBody>
          <a:bodyPr wrap="square" lIns="0" tIns="0" rIns="0" bIns="0" rtlCol="0" anchor="ctr"/>
          <a:lstStyle/>
          <a:p>
            <a:pPr algn="l" indent="0" marL="0">
              <a:buNone/>
            </a:pPr>
            <a:r>
              <a:rPr lang="en-US" sz="1050" dirty="0">
                <a:solidFill>
                  <a:srgbClr val="323F4B"/>
                </a:solidFill>
                <a:latin typeface="Calibri" pitchFamily="34" charset="0"/>
                <a:ea typeface="Calibri" pitchFamily="34" charset="-122"/>
                <a:cs typeface="Calibri" pitchFamily="34" charset="-120"/>
              </a:rPr>
              <a:t>Supply moves too: planned maintenance takes about 48 places a week offline until May 2027; new prisons add gross places of which 15% have historically survived attrition; Dartmoor holds 689 certified places empty. The net of all of this is a population that has not moved in fifteen years and a headroom figure that reads as a crisis at 2,000.</a:t>
            </a:r>
            <a:endParaRPr lang="en-US" sz="1050" dirty="0"/>
          </a:p>
        </p:txBody>
      </p:sp>
      <p:sp>
        <p:nvSpPr>
          <p:cNvPr id="69" name="Text 67"/>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900" dirty="0">
                <a:solidFill>
                  <a:srgbClr val="7B8794"/>
                </a:solidFill>
                <a:latin typeface="Calibri" pitchFamily="34" charset="0"/>
                <a:ea typeface="Calibri" pitchFamily="34" charset="-122"/>
                <a:cs typeface="Calibri" pitchFamily="34" charset="-120"/>
              </a:rPr>
              <a:t>Every lever is discretionary and each responds to the others. A projection conditional on any one of them holding still has not survived contact with the other four.</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8. Storing it up: bail moves the custody, it does not cancel it</a:t>
            </a:r>
            <a:endParaRPr lang="en-US" sz="3000" dirty="0"/>
          </a:p>
        </p:txBody>
      </p:sp>
      <p:sp>
        <p:nvSpPr>
          <p:cNvPr id="3" name="Text 1"/>
          <p:cNvSpPr txBox="1"/>
          <p:nvPr/>
        </p:nvSpPr>
        <p:spPr>
          <a:xfrm>
            <a:off x="548640" y="1371600"/>
            <a:ext cx="5486400" cy="320040"/>
          </a:xfrm>
          <a:prstGeom prst="rect">
            <a:avLst/>
          </a:prstGeom>
          <a:noFill/>
          <a:ln/>
        </p:spPr>
        <p:txBody>
          <a:bodyPr wrap="square" lIns="0" tIns="0" rIns="0" bIns="0" rtlCol="0" anchor="t"/>
          <a:lstStyle/>
          <a:p>
            <a:pPr algn="l" indent="0" marL="0">
              <a:buNone/>
            </a:pPr>
            <a:r>
              <a:rPr lang="en-US" sz="1200" b="1" dirty="0">
                <a:solidFill>
                  <a:srgbClr val="1F2933"/>
                </a:solidFill>
                <a:latin typeface="Calibri" pitchFamily="34" charset="0"/>
                <a:ea typeface="Calibri" pitchFamily="34" charset="-122"/>
                <a:cs typeface="Calibri" pitchFamily="34" charset="-120"/>
              </a:rPr>
              <a:t>Open Crown Court trial cases, Q2 2025 to Q1 2026</a:t>
            </a:r>
            <a:endParaRPr lang="en-US" sz="1200" dirty="0"/>
          </a:p>
        </p:txBody>
      </p:sp>
      <p:sp>
        <p:nvSpPr>
          <p:cNvPr id="4" name="Shape 2"/>
          <p:cNvSpPr/>
          <p:nvPr/>
        </p:nvSpPr>
        <p:spPr>
          <a:xfrm>
            <a:off x="548640" y="1783080"/>
            <a:ext cx="1275033" cy="502920"/>
          </a:xfrm>
          <a:prstGeom prst="rect">
            <a:avLst/>
          </a:prstGeom>
          <a:solidFill>
            <a:srgbClr val="B03A2E"/>
          </a:solidFill>
          <a:ln w="12700">
            <a:solidFill>
              <a:srgbClr val="FFFFFF"/>
            </a:solidFill>
            <a:prstDash val="solid"/>
          </a:ln>
        </p:spPr>
      </p:sp>
      <p:sp>
        <p:nvSpPr>
          <p:cNvPr id="5" name="Shape 3"/>
          <p:cNvSpPr/>
          <p:nvPr/>
        </p:nvSpPr>
        <p:spPr>
          <a:xfrm>
            <a:off x="1823673" y="1783080"/>
            <a:ext cx="3381998" cy="502920"/>
          </a:xfrm>
          <a:prstGeom prst="rect">
            <a:avLst/>
          </a:prstGeom>
          <a:solidFill>
            <a:srgbClr val="7B8794"/>
          </a:solidFill>
          <a:ln w="12700">
            <a:solidFill>
              <a:srgbClr val="FFFFFF"/>
            </a:solidFill>
            <a:prstDash val="solid"/>
          </a:ln>
        </p:spPr>
      </p:sp>
      <p:sp>
        <p:nvSpPr>
          <p:cNvPr id="6" name="Text 4"/>
          <p:cNvSpPr txBox="1"/>
          <p:nvPr/>
        </p:nvSpPr>
        <p:spPr>
          <a:xfrm>
            <a:off x="548640" y="1783080"/>
            <a:ext cx="1275033" cy="5029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in custody 17,409</a:t>
            </a:r>
            <a:endParaRPr lang="en-US" sz="950" dirty="0"/>
          </a:p>
        </p:txBody>
      </p:sp>
      <p:sp>
        <p:nvSpPr>
          <p:cNvPr id="7" name="Text 5"/>
          <p:cNvSpPr txBox="1"/>
          <p:nvPr/>
        </p:nvSpPr>
        <p:spPr>
          <a:xfrm>
            <a:off x="1823673" y="1783080"/>
            <a:ext cx="3381998" cy="5029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on bail 46,177</a:t>
            </a:r>
            <a:endParaRPr lang="en-US" sz="950" dirty="0"/>
          </a:p>
        </p:txBody>
      </p:sp>
      <p:sp>
        <p:nvSpPr>
          <p:cNvPr id="8" name="Text 6"/>
          <p:cNvSpPr txBox="1"/>
          <p:nvPr/>
        </p:nvSpPr>
        <p:spPr>
          <a:xfrm>
            <a:off x="5297112" y="1783080"/>
            <a:ext cx="1463040" cy="502920"/>
          </a:xfrm>
          <a:prstGeom prst="rect">
            <a:avLst/>
          </a:prstGeom>
          <a:noFill/>
          <a:ln/>
        </p:spPr>
        <p:txBody>
          <a:bodyPr wrap="square" lIns="0" tIns="0" rIns="0" bIns="0" rtlCol="0" anchor="ctr"/>
          <a:lstStyle/>
          <a:p>
            <a:pPr algn="l" indent="0" marL="0">
              <a:buNone/>
            </a:pPr>
            <a:r>
              <a:rPr lang="en-US" sz="1000" dirty="0">
                <a:solidFill>
                  <a:srgbClr val="323F4B"/>
                </a:solidFill>
                <a:latin typeface="Calibri" pitchFamily="34" charset="0"/>
                <a:ea typeface="Calibri" pitchFamily="34" charset="-122"/>
                <a:cs typeface="Calibri" pitchFamily="34" charset="-120"/>
              </a:rPr>
              <a:t>Q2 2025: 64,388</a:t>
            </a:r>
            <a:endParaRPr lang="en-US" sz="1000" dirty="0"/>
          </a:p>
        </p:txBody>
      </p:sp>
      <p:sp>
        <p:nvSpPr>
          <p:cNvPr id="9" name="Shape 7"/>
          <p:cNvSpPr/>
          <p:nvPr/>
        </p:nvSpPr>
        <p:spPr>
          <a:xfrm>
            <a:off x="548640" y="2423160"/>
            <a:ext cx="1192712" cy="502920"/>
          </a:xfrm>
          <a:prstGeom prst="rect">
            <a:avLst/>
          </a:prstGeom>
          <a:solidFill>
            <a:srgbClr val="B03A2E"/>
          </a:solidFill>
          <a:ln w="12700">
            <a:solidFill>
              <a:srgbClr val="FFFFFF"/>
            </a:solidFill>
            <a:prstDash val="solid"/>
          </a:ln>
        </p:spPr>
      </p:sp>
      <p:sp>
        <p:nvSpPr>
          <p:cNvPr id="10" name="Shape 8"/>
          <p:cNvSpPr/>
          <p:nvPr/>
        </p:nvSpPr>
        <p:spPr>
          <a:xfrm>
            <a:off x="1741352" y="2423160"/>
            <a:ext cx="3682135" cy="502920"/>
          </a:xfrm>
          <a:prstGeom prst="rect">
            <a:avLst/>
          </a:prstGeom>
          <a:solidFill>
            <a:srgbClr val="7B8794"/>
          </a:solidFill>
          <a:ln w="12700">
            <a:solidFill>
              <a:srgbClr val="FFFFFF"/>
            </a:solidFill>
            <a:prstDash val="solid"/>
          </a:ln>
        </p:spPr>
      </p:sp>
      <p:sp>
        <p:nvSpPr>
          <p:cNvPr id="11" name="Text 9"/>
          <p:cNvSpPr txBox="1"/>
          <p:nvPr/>
        </p:nvSpPr>
        <p:spPr>
          <a:xfrm>
            <a:off x="548640" y="2423160"/>
            <a:ext cx="1192712" cy="5029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in custody 16,285</a:t>
            </a:r>
            <a:endParaRPr lang="en-US" sz="950" dirty="0"/>
          </a:p>
        </p:txBody>
      </p:sp>
      <p:sp>
        <p:nvSpPr>
          <p:cNvPr id="12" name="Text 10"/>
          <p:cNvSpPr txBox="1"/>
          <p:nvPr/>
        </p:nvSpPr>
        <p:spPr>
          <a:xfrm>
            <a:off x="1741352" y="2423160"/>
            <a:ext cx="3682135" cy="5029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on bail 50,275</a:t>
            </a:r>
            <a:endParaRPr lang="en-US" sz="950" dirty="0"/>
          </a:p>
        </p:txBody>
      </p:sp>
      <p:sp>
        <p:nvSpPr>
          <p:cNvPr id="13" name="Text 11"/>
          <p:cNvSpPr txBox="1"/>
          <p:nvPr/>
        </p:nvSpPr>
        <p:spPr>
          <a:xfrm>
            <a:off x="5514927" y="2423160"/>
            <a:ext cx="1463040" cy="502920"/>
          </a:xfrm>
          <a:prstGeom prst="rect">
            <a:avLst/>
          </a:prstGeom>
          <a:noFill/>
          <a:ln/>
        </p:spPr>
        <p:txBody>
          <a:bodyPr wrap="square" lIns="0" tIns="0" rIns="0" bIns="0" rtlCol="0" anchor="ctr"/>
          <a:lstStyle/>
          <a:p>
            <a:pPr algn="l" indent="0" marL="0">
              <a:buNone/>
            </a:pPr>
            <a:r>
              <a:rPr lang="en-US" sz="1000" dirty="0">
                <a:solidFill>
                  <a:srgbClr val="323F4B"/>
                </a:solidFill>
                <a:latin typeface="Calibri" pitchFamily="34" charset="0"/>
                <a:ea typeface="Calibri" pitchFamily="34" charset="-122"/>
                <a:cs typeface="Calibri" pitchFamily="34" charset="-120"/>
              </a:rPr>
              <a:t>Q1 2026: 67,419</a:t>
            </a:r>
            <a:endParaRPr lang="en-US" sz="1000" dirty="0"/>
          </a:p>
        </p:txBody>
      </p:sp>
      <p:sp>
        <p:nvSpPr>
          <p:cNvPr id="14" name="Text 12"/>
          <p:cNvSpPr txBox="1"/>
          <p:nvPr/>
        </p:nvSpPr>
        <p:spPr>
          <a:xfrm>
            <a:off x="548640" y="3017520"/>
            <a:ext cx="6583680" cy="822960"/>
          </a:xfrm>
          <a:prstGeom prst="rect">
            <a:avLst/>
          </a:prstGeom>
          <a:noFill/>
          <a:ln/>
        </p:spPr>
        <p:txBody>
          <a:bodyPr wrap="square" lIns="0" tIns="0" rIns="0" bIns="0" rtlCol="0" anchor="t"/>
          <a:lstStyle/>
          <a:p>
            <a:pPr algn="l" indent="0" marL="0">
              <a:buNone/>
            </a:pPr>
            <a:r>
              <a:rPr lang="en-US" sz="1050" dirty="0">
                <a:solidFill>
                  <a:srgbClr val="323F4B"/>
                </a:solidFill>
                <a:latin typeface="Calibri" pitchFamily="34" charset="0"/>
                <a:ea typeface="Calibri" pitchFamily="34" charset="-122"/>
                <a:cs typeface="Calibri" pitchFamily="34" charset="-120"/>
              </a:rPr>
              <a:t>Custody queue −1,124. Bail queue +4,098. Open cases +3,031. Nothing was resolved faster: the mean time a bailed case has been open rose from 332 to 353 days, and trial dates are being set for late 2028. The prison remand population fell because defendants moved from the short queue to the long one.</a:t>
            </a:r>
            <a:endParaRPr lang="en-US" sz="1050" dirty="0"/>
          </a:p>
        </p:txBody>
      </p:sp>
      <p:sp>
        <p:nvSpPr>
          <p:cNvPr id="15" name="Shape 13"/>
          <p:cNvSpPr/>
          <p:nvPr/>
        </p:nvSpPr>
        <p:spPr>
          <a:xfrm>
            <a:off x="731520" y="4800600"/>
            <a:ext cx="10698480" cy="9144"/>
          </a:xfrm>
          <a:prstGeom prst="line">
            <a:avLst/>
          </a:prstGeom>
          <a:noFill/>
          <a:ln w="38100">
            <a:solidFill>
              <a:srgbClr val="E4E7EB"/>
            </a:solidFill>
            <a:prstDash val="solid"/>
          </a:ln>
        </p:spPr>
      </p:sp>
      <p:sp>
        <p:nvSpPr>
          <p:cNvPr id="16" name="Shape 14"/>
          <p:cNvSpPr/>
          <p:nvPr/>
        </p:nvSpPr>
        <p:spPr>
          <a:xfrm>
            <a:off x="1819656" y="4700016"/>
            <a:ext cx="201168" cy="201168"/>
          </a:xfrm>
          <a:prstGeom prst="ellipse">
            <a:avLst/>
          </a:prstGeom>
          <a:solidFill>
            <a:srgbClr val="C8963E"/>
          </a:solidFill>
          <a:ln w="12700">
            <a:solidFill>
              <a:srgbClr val="FFFFFF"/>
            </a:solidFill>
            <a:prstDash val="solid"/>
          </a:ln>
        </p:spPr>
      </p:sp>
      <p:sp>
        <p:nvSpPr>
          <p:cNvPr id="17" name="Text 15"/>
          <p:cNvSpPr txBox="1"/>
          <p:nvPr/>
        </p:nvSpPr>
        <p:spPr>
          <a:xfrm>
            <a:off x="1463040" y="4297680"/>
            <a:ext cx="1097280" cy="365760"/>
          </a:xfrm>
          <a:prstGeom prst="rect">
            <a:avLst/>
          </a:prstGeom>
          <a:noFill/>
          <a:ln/>
        </p:spPr>
        <p:txBody>
          <a:bodyPr wrap="square" lIns="0" tIns="0" rIns="0" bIns="0" rtlCol="0" anchor="t"/>
          <a:lstStyle/>
          <a:p>
            <a:pPr algn="ctr" indent="0" marL="0">
              <a:buNone/>
            </a:pPr>
            <a:r>
              <a:rPr lang="en-US" sz="1300" b="1" dirty="0">
                <a:solidFill>
                  <a:srgbClr val="1F2933"/>
                </a:solidFill>
                <a:latin typeface="Calibri" pitchFamily="34" charset="0"/>
                <a:ea typeface="Calibri" pitchFamily="34" charset="-122"/>
                <a:cs typeface="Calibri" pitchFamily="34" charset="-120"/>
              </a:rPr>
              <a:t>2025</a:t>
            </a:r>
            <a:endParaRPr lang="en-US" sz="1300" dirty="0"/>
          </a:p>
        </p:txBody>
      </p:sp>
      <p:sp>
        <p:nvSpPr>
          <p:cNvPr id="18" name="Text 16"/>
          <p:cNvSpPr txBox="1"/>
          <p:nvPr/>
        </p:nvSpPr>
        <p:spPr>
          <a:xfrm>
            <a:off x="594360" y="5029200"/>
            <a:ext cx="2651760" cy="1188720"/>
          </a:xfrm>
          <a:prstGeom prst="rect">
            <a:avLst/>
          </a:prstGeom>
          <a:noFill/>
          <a:ln/>
        </p:spPr>
        <p:txBody>
          <a:bodyPr wrap="square" lIns="0" tIns="0" rIns="0" bIns="0" rtlCol="0" anchor="t"/>
          <a:lstStyle/>
          <a:p>
            <a:pPr algn="ctr" indent="0" marL="0">
              <a:buNone/>
            </a:pPr>
            <a:r>
              <a:rPr lang="en-US" sz="950" dirty="0">
                <a:solidFill>
                  <a:srgbClr val="323F4B"/>
                </a:solidFill>
                <a:latin typeface="Calibri" pitchFamily="34" charset="0"/>
                <a:ea typeface="Calibri" pitchFamily="34" charset="-122"/>
                <a:cs typeface="Calibri" pitchFamily="34" charset="-120"/>
              </a:rPr>
              <a:t>Remanded: time in custody now, credited against sentence, many released at sentencing</a:t>
            </a:r>
            <a:endParaRPr lang="en-US" sz="950" dirty="0"/>
          </a:p>
        </p:txBody>
      </p:sp>
      <p:sp>
        <p:nvSpPr>
          <p:cNvPr id="19" name="Shape 17"/>
          <p:cNvSpPr/>
          <p:nvPr/>
        </p:nvSpPr>
        <p:spPr>
          <a:xfrm>
            <a:off x="4608576" y="4700016"/>
            <a:ext cx="201168" cy="201168"/>
          </a:xfrm>
          <a:prstGeom prst="ellipse">
            <a:avLst/>
          </a:prstGeom>
          <a:solidFill>
            <a:srgbClr val="C8963E"/>
          </a:solidFill>
          <a:ln w="12700">
            <a:solidFill>
              <a:srgbClr val="FFFFFF"/>
            </a:solidFill>
            <a:prstDash val="solid"/>
          </a:ln>
        </p:spPr>
      </p:sp>
      <p:sp>
        <p:nvSpPr>
          <p:cNvPr id="20" name="Text 18"/>
          <p:cNvSpPr txBox="1"/>
          <p:nvPr/>
        </p:nvSpPr>
        <p:spPr>
          <a:xfrm>
            <a:off x="4251960" y="4297680"/>
            <a:ext cx="1097280" cy="365760"/>
          </a:xfrm>
          <a:prstGeom prst="rect">
            <a:avLst/>
          </a:prstGeom>
          <a:noFill/>
          <a:ln/>
        </p:spPr>
        <p:txBody>
          <a:bodyPr wrap="square" lIns="0" tIns="0" rIns="0" bIns="0" rtlCol="0" anchor="t"/>
          <a:lstStyle/>
          <a:p>
            <a:pPr algn="ctr" indent="0" marL="0">
              <a:buNone/>
            </a:pPr>
            <a:r>
              <a:rPr lang="en-US" sz="1300" b="1" dirty="0">
                <a:solidFill>
                  <a:srgbClr val="1F2933"/>
                </a:solidFill>
                <a:latin typeface="Calibri" pitchFamily="34" charset="0"/>
                <a:ea typeface="Calibri" pitchFamily="34" charset="-122"/>
                <a:cs typeface="Calibri" pitchFamily="34" charset="-120"/>
              </a:rPr>
              <a:t>2026</a:t>
            </a:r>
            <a:endParaRPr lang="en-US" sz="1300" dirty="0"/>
          </a:p>
        </p:txBody>
      </p:sp>
      <p:sp>
        <p:nvSpPr>
          <p:cNvPr id="21" name="Text 19"/>
          <p:cNvSpPr txBox="1"/>
          <p:nvPr/>
        </p:nvSpPr>
        <p:spPr>
          <a:xfrm>
            <a:off x="3383280" y="5029200"/>
            <a:ext cx="2651760" cy="1188720"/>
          </a:xfrm>
          <a:prstGeom prst="rect">
            <a:avLst/>
          </a:prstGeom>
          <a:noFill/>
          <a:ln/>
        </p:spPr>
        <p:txBody>
          <a:bodyPr wrap="square" lIns="0" tIns="0" rIns="0" bIns="0" rtlCol="0" anchor="t"/>
          <a:lstStyle/>
          <a:p>
            <a:pPr algn="ctr" indent="0" marL="0">
              <a:buNone/>
            </a:pPr>
            <a:r>
              <a:rPr lang="en-US" sz="950" dirty="0">
                <a:solidFill>
                  <a:srgbClr val="323F4B"/>
                </a:solidFill>
                <a:latin typeface="Calibri" pitchFamily="34" charset="0"/>
                <a:ea typeface="Calibri" pitchFamily="34" charset="-122"/>
                <a:cs typeface="Calibri" pitchFamily="34" charset="-120"/>
              </a:rPr>
              <a:t>Bailed instead: remand population falls 2,561. Headroom improves</a:t>
            </a:r>
            <a:endParaRPr lang="en-US" sz="950" dirty="0"/>
          </a:p>
        </p:txBody>
      </p:sp>
      <p:sp>
        <p:nvSpPr>
          <p:cNvPr id="22" name="Shape 20"/>
          <p:cNvSpPr/>
          <p:nvPr/>
        </p:nvSpPr>
        <p:spPr>
          <a:xfrm>
            <a:off x="7397496" y="4700016"/>
            <a:ext cx="201168" cy="201168"/>
          </a:xfrm>
          <a:prstGeom prst="ellipse">
            <a:avLst/>
          </a:prstGeom>
          <a:solidFill>
            <a:srgbClr val="B03A2E"/>
          </a:solidFill>
          <a:ln w="12700">
            <a:solidFill>
              <a:srgbClr val="FFFFFF"/>
            </a:solidFill>
            <a:prstDash val="solid"/>
          </a:ln>
        </p:spPr>
      </p:sp>
      <p:sp>
        <p:nvSpPr>
          <p:cNvPr id="23" name="Text 21"/>
          <p:cNvSpPr txBox="1"/>
          <p:nvPr/>
        </p:nvSpPr>
        <p:spPr>
          <a:xfrm>
            <a:off x="7040880" y="4297680"/>
            <a:ext cx="1097280" cy="365760"/>
          </a:xfrm>
          <a:prstGeom prst="rect">
            <a:avLst/>
          </a:prstGeom>
          <a:noFill/>
          <a:ln/>
        </p:spPr>
        <p:txBody>
          <a:bodyPr wrap="square" lIns="0" tIns="0" rIns="0" bIns="0" rtlCol="0" anchor="t"/>
          <a:lstStyle/>
          <a:p>
            <a:pPr algn="ctr" indent="0" marL="0">
              <a:buNone/>
            </a:pPr>
            <a:r>
              <a:rPr lang="en-US" sz="1300" b="1" dirty="0">
                <a:solidFill>
                  <a:srgbClr val="1F2933"/>
                </a:solidFill>
                <a:latin typeface="Calibri" pitchFamily="34" charset="0"/>
                <a:ea typeface="Calibri" pitchFamily="34" charset="-122"/>
                <a:cs typeface="Calibri" pitchFamily="34" charset="-120"/>
              </a:rPr>
              <a:t>2027–28</a:t>
            </a:r>
            <a:endParaRPr lang="en-US" sz="1300" dirty="0"/>
          </a:p>
        </p:txBody>
      </p:sp>
      <p:sp>
        <p:nvSpPr>
          <p:cNvPr id="24" name="Text 22"/>
          <p:cNvSpPr txBox="1"/>
          <p:nvPr/>
        </p:nvSpPr>
        <p:spPr>
          <a:xfrm>
            <a:off x="6172200" y="5029200"/>
            <a:ext cx="2651760" cy="1188720"/>
          </a:xfrm>
          <a:prstGeom prst="rect">
            <a:avLst/>
          </a:prstGeom>
          <a:noFill/>
          <a:ln/>
        </p:spPr>
        <p:txBody>
          <a:bodyPr wrap="square" lIns="0" tIns="0" rIns="0" bIns="0" rtlCol="0" anchor="t"/>
          <a:lstStyle/>
          <a:p>
            <a:pPr algn="ctr" indent="0" marL="0">
              <a:buNone/>
            </a:pPr>
            <a:r>
              <a:rPr lang="en-US" sz="950" dirty="0">
                <a:solidFill>
                  <a:srgbClr val="323F4B"/>
                </a:solidFill>
                <a:latin typeface="Calibri" pitchFamily="34" charset="0"/>
                <a:ea typeface="Calibri" pitchFamily="34" charset="-122"/>
                <a:cs typeface="Calibri" pitchFamily="34" charset="-120"/>
              </a:rPr>
              <a:t>Trials happen. Convicted defendants start the full custodial portion from sentencing</a:t>
            </a:r>
            <a:endParaRPr lang="en-US" sz="950" dirty="0"/>
          </a:p>
        </p:txBody>
      </p:sp>
      <p:sp>
        <p:nvSpPr>
          <p:cNvPr id="25" name="Shape 23"/>
          <p:cNvSpPr/>
          <p:nvPr/>
        </p:nvSpPr>
        <p:spPr>
          <a:xfrm>
            <a:off x="10186416" y="4700016"/>
            <a:ext cx="201168" cy="201168"/>
          </a:xfrm>
          <a:prstGeom prst="ellipse">
            <a:avLst/>
          </a:prstGeom>
          <a:solidFill>
            <a:srgbClr val="C8963E"/>
          </a:solidFill>
          <a:ln w="12700">
            <a:solidFill>
              <a:srgbClr val="FFFFFF"/>
            </a:solidFill>
            <a:prstDash val="solid"/>
          </a:ln>
        </p:spPr>
      </p:sp>
      <p:sp>
        <p:nvSpPr>
          <p:cNvPr id="26" name="Text 24"/>
          <p:cNvSpPr txBox="1"/>
          <p:nvPr/>
        </p:nvSpPr>
        <p:spPr>
          <a:xfrm>
            <a:off x="9829800" y="4297680"/>
            <a:ext cx="1097280" cy="365760"/>
          </a:xfrm>
          <a:prstGeom prst="rect">
            <a:avLst/>
          </a:prstGeom>
          <a:noFill/>
          <a:ln/>
        </p:spPr>
        <p:txBody>
          <a:bodyPr wrap="square" lIns="0" tIns="0" rIns="0" bIns="0" rtlCol="0" anchor="t"/>
          <a:lstStyle/>
          <a:p>
            <a:pPr algn="ctr" indent="0" marL="0">
              <a:buNone/>
            </a:pPr>
            <a:r>
              <a:rPr lang="en-US" sz="1300" b="1" dirty="0">
                <a:solidFill>
                  <a:srgbClr val="1F2933"/>
                </a:solidFill>
                <a:latin typeface="Calibri" pitchFamily="34" charset="0"/>
                <a:ea typeface="Calibri" pitchFamily="34" charset="-122"/>
                <a:cs typeface="Calibri" pitchFamily="34" charset="-120"/>
              </a:rPr>
              <a:t>2028+</a:t>
            </a:r>
            <a:endParaRPr lang="en-US" sz="1300" dirty="0"/>
          </a:p>
        </p:txBody>
      </p:sp>
      <p:sp>
        <p:nvSpPr>
          <p:cNvPr id="27" name="Text 25"/>
          <p:cNvSpPr txBox="1"/>
          <p:nvPr/>
        </p:nvSpPr>
        <p:spPr>
          <a:xfrm>
            <a:off x="8961120" y="5029200"/>
            <a:ext cx="2651760" cy="1188720"/>
          </a:xfrm>
          <a:prstGeom prst="rect">
            <a:avLst/>
          </a:prstGeom>
          <a:noFill/>
          <a:ln/>
        </p:spPr>
        <p:txBody>
          <a:bodyPr wrap="square" lIns="0" tIns="0" rIns="0" bIns="0" rtlCol="0" anchor="t"/>
          <a:lstStyle/>
          <a:p>
            <a:pPr algn="ctr" indent="0" marL="0">
              <a:buNone/>
            </a:pPr>
            <a:r>
              <a:rPr lang="en-US" sz="950" dirty="0">
                <a:solidFill>
                  <a:srgbClr val="323F4B"/>
                </a:solidFill>
                <a:latin typeface="Calibri" pitchFamily="34" charset="0"/>
                <a:ea typeface="Calibri" pitchFamily="34" charset="-122"/>
                <a:cs typeface="Calibri" pitchFamily="34" charset="-120"/>
              </a:rPr>
              <a:t>The deferred custody lands in the years the 14,000-place programme was meant to relieve</a:t>
            </a:r>
            <a:endParaRPr lang="en-US" sz="950" dirty="0"/>
          </a:p>
        </p:txBody>
      </p:sp>
      <p:sp>
        <p:nvSpPr>
          <p:cNvPr id="28" name="Shape 26"/>
          <p:cNvSpPr/>
          <p:nvPr/>
        </p:nvSpPr>
        <p:spPr>
          <a:xfrm>
            <a:off x="7498080" y="1371600"/>
            <a:ext cx="4114800" cy="2468880"/>
          </a:xfrm>
          <a:prstGeom prst="rect">
            <a:avLst/>
          </a:prstGeom>
          <a:solidFill>
            <a:srgbClr val="1F2933"/>
          </a:solidFill>
          <a:ln w="12700">
            <a:solidFill>
              <a:srgbClr val="1F2933"/>
            </a:solidFill>
            <a:prstDash val="solid"/>
          </a:ln>
        </p:spPr>
      </p:sp>
      <p:sp>
        <p:nvSpPr>
          <p:cNvPr id="29" name="Text 27"/>
          <p:cNvSpPr txBox="1"/>
          <p:nvPr/>
        </p:nvSpPr>
        <p:spPr>
          <a:xfrm>
            <a:off x="7589520" y="1371600"/>
            <a:ext cx="3931920" cy="2468880"/>
          </a:xfrm>
          <a:prstGeom prst="rect">
            <a:avLst/>
          </a:prstGeom>
          <a:noFill/>
          <a:ln/>
        </p:spPr>
        <p:txBody>
          <a:bodyPr wrap="square" lIns="0" tIns="0" rIns="0" bIns="0"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Deferred custody from the 4,098 extra bailed cases since Q2 2025, at 80% conviction, 50% custody, 22 months mean, 40% served: about 1,200 prisoner-years, range 700 to 1,800. For scale: the progression programme releases 4,050; headroom is 2,094.</a:t>
            </a:r>
            <a:endParaRPr lang="en-US" sz="1050" dirty="0"/>
          </a:p>
          <a:p>
            <a:pPr algn="l" indent="0" marL="0">
              <a:buNone/>
            </a:pPr>
            <a:endParaRPr lang="en-US" sz="1050" dirty="0"/>
          </a:p>
          <a:p>
            <a:pPr algn="l" indent="0" marL="0">
              <a:buNone/>
            </a:pPr>
            <a:r>
              <a:rPr lang="en-US" sz="1050" dirty="0">
                <a:solidFill>
                  <a:srgbClr val="FFFFFF"/>
                </a:solidFill>
                <a:latin typeface="Calibri" pitchFamily="34" charset="0"/>
                <a:ea typeface="Calibri" pitchFamily="34" charset="-122"/>
                <a:cs typeface="Calibri" pitchFamily="34" charset="-120"/>
              </a:rPr>
              <a:t>Offsets: acquittals avoid custody altogether, and cases collapse over long delays. Both reduce the number; neither changes the timing.</a:t>
            </a:r>
            <a:endParaRPr lang="en-US" sz="1050" dirty="0"/>
          </a:p>
        </p:txBody>
      </p:sp>
      <p:sp>
        <p:nvSpPr>
          <p:cNvPr id="30" name="Text 28"/>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900" dirty="0">
                <a:solidFill>
                  <a:srgbClr val="7B8794"/>
                </a:solidFill>
                <a:latin typeface="Calibri" pitchFamily="34" charset="0"/>
                <a:ea typeface="Calibri" pitchFamily="34" charset="-122"/>
                <a:cs typeface="Calibri" pitchFamily="34" charset="-120"/>
              </a:rPr>
              <a:t>Criminal Court Statistics Quarterly, Jan-Mar 2026, Table O2; OMSQ Table 1.A.1. Bailed open cases are 2.6 times the 2019 level. Custody-rate and sentence assumptions are stated and can be changed in build_diagrams.js.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What holds, what does not, and what cannot be settled</a:t>
            </a:r>
            <a:endParaRPr lang="en-US" sz="3000" dirty="0"/>
          </a:p>
        </p:txBody>
      </p:sp>
      <p:sp>
        <p:nvSpPr>
          <p:cNvPr id="3" name="Shape 1"/>
          <p:cNvSpPr/>
          <p:nvPr/>
        </p:nvSpPr>
        <p:spPr>
          <a:xfrm>
            <a:off x="548640" y="1371600"/>
            <a:ext cx="3566160" cy="502920"/>
          </a:xfrm>
          <a:prstGeom prst="rect">
            <a:avLst/>
          </a:prstGeom>
          <a:solidFill>
            <a:srgbClr val="5B7F5B"/>
          </a:solidFill>
          <a:ln w="12700">
            <a:solidFill>
              <a:srgbClr val="5B7F5B"/>
            </a:solidFill>
            <a:prstDash val="solid"/>
          </a:ln>
        </p:spPr>
      </p:sp>
      <p:sp>
        <p:nvSpPr>
          <p:cNvPr id="4" name="Text 2"/>
          <p:cNvSpPr txBox="1"/>
          <p:nvPr/>
        </p:nvSpPr>
        <p:spPr>
          <a:xfrm>
            <a:off x="640080" y="1371600"/>
            <a:ext cx="33832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Robust: survives every cut</a:t>
            </a:r>
            <a:endParaRPr lang="en-US" sz="1300" dirty="0"/>
          </a:p>
        </p:txBody>
      </p:sp>
      <p:sp>
        <p:nvSpPr>
          <p:cNvPr id="5" name="Shape 3"/>
          <p:cNvSpPr/>
          <p:nvPr/>
        </p:nvSpPr>
        <p:spPr>
          <a:xfrm>
            <a:off x="548640" y="2011680"/>
            <a:ext cx="3566160" cy="777240"/>
          </a:xfrm>
          <a:prstGeom prst="rect">
            <a:avLst/>
          </a:prstGeom>
          <a:solidFill>
            <a:srgbClr val="F5F6F4"/>
          </a:solidFill>
          <a:ln w="12700">
            <a:solidFill>
              <a:srgbClr val="F5F6F4"/>
            </a:solidFill>
            <a:prstDash val="solid"/>
          </a:ln>
        </p:spPr>
      </p:sp>
      <p:sp>
        <p:nvSpPr>
          <p:cNvPr id="6" name="Text 4"/>
          <p:cNvSpPr txBox="1"/>
          <p:nvPr/>
        </p:nvSpPr>
        <p:spPr>
          <a:xfrm>
            <a:off x="640080" y="2011680"/>
            <a:ext cx="3383280" cy="777240"/>
          </a:xfrm>
          <a:prstGeom prst="rect">
            <a:avLst/>
          </a:prstGeom>
          <a:noFill/>
          <a:ln/>
        </p:spPr>
        <p:txBody>
          <a:bodyPr wrap="square" lIns="0" tIns="0" rIns="0" bIns="0" rtlCol="0" anchor="ctr"/>
          <a:lstStyle/>
          <a:p>
            <a:pPr algn="l" indent="0" marL="0">
              <a:buNone/>
            </a:pPr>
            <a:r>
              <a:rPr lang="en-US" sz="1050" dirty="0">
                <a:solidFill>
                  <a:srgbClr val="323F4B"/>
                </a:solidFill>
                <a:latin typeface="Calibri" pitchFamily="34" charset="0"/>
                <a:ea typeface="Calibri" pitchFamily="34" charset="-122"/>
                <a:cs typeface="Calibri" pitchFamily="34" charset="-120"/>
              </a:rPr>
              <a:t>Projections too high at every horizon, in ordinary years and shock years alike</a:t>
            </a:r>
            <a:endParaRPr lang="en-US" sz="1050" dirty="0"/>
          </a:p>
        </p:txBody>
      </p:sp>
      <p:sp>
        <p:nvSpPr>
          <p:cNvPr id="7" name="Shape 5"/>
          <p:cNvSpPr/>
          <p:nvPr/>
        </p:nvSpPr>
        <p:spPr>
          <a:xfrm>
            <a:off x="548640" y="2880360"/>
            <a:ext cx="3566160" cy="777240"/>
          </a:xfrm>
          <a:prstGeom prst="rect">
            <a:avLst/>
          </a:prstGeom>
          <a:solidFill>
            <a:srgbClr val="F5F6F4"/>
          </a:solidFill>
          <a:ln w="12700">
            <a:solidFill>
              <a:srgbClr val="F5F6F4"/>
            </a:solidFill>
            <a:prstDash val="solid"/>
          </a:ln>
        </p:spPr>
      </p:sp>
      <p:sp>
        <p:nvSpPr>
          <p:cNvPr id="8" name="Text 6"/>
          <p:cNvSpPr txBox="1"/>
          <p:nvPr/>
        </p:nvSpPr>
        <p:spPr>
          <a:xfrm>
            <a:off x="640080" y="2880360"/>
            <a:ext cx="3383280" cy="777240"/>
          </a:xfrm>
          <a:prstGeom prst="rect">
            <a:avLst/>
          </a:prstGeom>
          <a:noFill/>
          <a:ln/>
        </p:spPr>
        <p:txBody>
          <a:bodyPr wrap="square" lIns="0" tIns="0" rIns="0" bIns="0" rtlCol="0" anchor="ctr"/>
          <a:lstStyle/>
          <a:p>
            <a:pPr algn="l" indent="0" marL="0">
              <a:buNone/>
            </a:pPr>
            <a:r>
              <a:rPr lang="en-US" sz="1050" dirty="0">
                <a:solidFill>
                  <a:srgbClr val="323F4B"/>
                </a:solidFill>
                <a:latin typeface="Calibri" pitchFamily="34" charset="0"/>
                <a:ea typeface="Calibri" pitchFamily="34" charset="-122"/>
                <a:cs typeface="Calibri" pitchFamily="34" charset="-120"/>
              </a:rPr>
              <a:t>No-change forecast closer at every horizon, on identical targets, in every era</a:t>
            </a:r>
            <a:endParaRPr lang="en-US" sz="1050" dirty="0"/>
          </a:p>
        </p:txBody>
      </p:sp>
      <p:sp>
        <p:nvSpPr>
          <p:cNvPr id="9" name="Shape 7"/>
          <p:cNvSpPr/>
          <p:nvPr/>
        </p:nvSpPr>
        <p:spPr>
          <a:xfrm>
            <a:off x="548640" y="3749040"/>
            <a:ext cx="3566160" cy="777240"/>
          </a:xfrm>
          <a:prstGeom prst="rect">
            <a:avLst/>
          </a:prstGeom>
          <a:solidFill>
            <a:srgbClr val="F5F6F4"/>
          </a:solidFill>
          <a:ln w="12700">
            <a:solidFill>
              <a:srgbClr val="F5F6F4"/>
            </a:solidFill>
            <a:prstDash val="solid"/>
          </a:ln>
        </p:spPr>
      </p:sp>
      <p:sp>
        <p:nvSpPr>
          <p:cNvPr id="10" name="Text 8"/>
          <p:cNvSpPr txBox="1"/>
          <p:nvPr/>
        </p:nvSpPr>
        <p:spPr>
          <a:xfrm>
            <a:off x="640080" y="3749040"/>
            <a:ext cx="3383280" cy="777240"/>
          </a:xfrm>
          <a:prstGeom prst="rect">
            <a:avLst/>
          </a:prstGeom>
          <a:noFill/>
          <a:ln/>
        </p:spPr>
        <p:txBody>
          <a:bodyPr wrap="square" lIns="0" tIns="0" rIns="0" bIns="0" rtlCol="0" anchor="ctr"/>
          <a:lstStyle/>
          <a:p>
            <a:pPr algn="l" indent="0" marL="0">
              <a:buNone/>
            </a:pPr>
            <a:r>
              <a:rPr lang="en-US" sz="1050" dirty="0">
                <a:solidFill>
                  <a:srgbClr val="323F4B"/>
                </a:solidFill>
                <a:latin typeface="Calibri" pitchFamily="34" charset="0"/>
                <a:ea typeface="Calibri" pitchFamily="34" charset="-122"/>
                <a:cs typeface="Calibri" pitchFamily="34" charset="-120"/>
              </a:rPr>
              <a:t>15 of 17 editions biased high (p = 0.001)</a:t>
            </a:r>
            <a:endParaRPr lang="en-US" sz="1050" dirty="0"/>
          </a:p>
        </p:txBody>
      </p:sp>
      <p:sp>
        <p:nvSpPr>
          <p:cNvPr id="11" name="Shape 9"/>
          <p:cNvSpPr/>
          <p:nvPr/>
        </p:nvSpPr>
        <p:spPr>
          <a:xfrm>
            <a:off x="548640" y="4617720"/>
            <a:ext cx="3566160" cy="777240"/>
          </a:xfrm>
          <a:prstGeom prst="rect">
            <a:avLst/>
          </a:prstGeom>
          <a:solidFill>
            <a:srgbClr val="F5F6F4"/>
          </a:solidFill>
          <a:ln w="12700">
            <a:solidFill>
              <a:srgbClr val="F5F6F4"/>
            </a:solidFill>
            <a:prstDash val="solid"/>
          </a:ln>
        </p:spPr>
      </p:sp>
      <p:sp>
        <p:nvSpPr>
          <p:cNvPr id="12" name="Text 10"/>
          <p:cNvSpPr txBox="1"/>
          <p:nvPr/>
        </p:nvSpPr>
        <p:spPr>
          <a:xfrm>
            <a:off x="640080" y="4617720"/>
            <a:ext cx="3383280" cy="777240"/>
          </a:xfrm>
          <a:prstGeom prst="rect">
            <a:avLst/>
          </a:prstGeom>
          <a:noFill/>
          <a:ln/>
        </p:spPr>
        <p:txBody>
          <a:bodyPr wrap="square" lIns="0" tIns="0" rIns="0" bIns="0" rtlCol="0" anchor="ctr"/>
          <a:lstStyle/>
          <a:p>
            <a:pPr algn="l" indent="0" marL="0">
              <a:buNone/>
            </a:pPr>
            <a:r>
              <a:rPr lang="en-US" sz="1050" dirty="0">
                <a:solidFill>
                  <a:srgbClr val="323F4B"/>
                </a:solidFill>
                <a:latin typeface="Calibri" pitchFamily="34" charset="0"/>
                <a:ea typeface="Calibri" pitchFamily="34" charset="-122"/>
                <a:cs typeface="Calibri" pitchFamily="34" charset="-120"/>
              </a:rPr>
              <a:t>Sentenced prisoners replaced by remand and recall, near one for one</a:t>
            </a:r>
            <a:endParaRPr lang="en-US" sz="1050" dirty="0"/>
          </a:p>
        </p:txBody>
      </p:sp>
      <p:sp>
        <p:nvSpPr>
          <p:cNvPr id="13" name="Shape 11"/>
          <p:cNvSpPr/>
          <p:nvPr/>
        </p:nvSpPr>
        <p:spPr>
          <a:xfrm>
            <a:off x="548640" y="5486400"/>
            <a:ext cx="3566160" cy="777240"/>
          </a:xfrm>
          <a:prstGeom prst="rect">
            <a:avLst/>
          </a:prstGeom>
          <a:solidFill>
            <a:srgbClr val="F5F6F4"/>
          </a:solidFill>
          <a:ln w="12700">
            <a:solidFill>
              <a:srgbClr val="F5F6F4"/>
            </a:solidFill>
            <a:prstDash val="solid"/>
          </a:ln>
        </p:spPr>
      </p:sp>
      <p:sp>
        <p:nvSpPr>
          <p:cNvPr id="14" name="Text 12"/>
          <p:cNvSpPr txBox="1"/>
          <p:nvPr/>
        </p:nvSpPr>
        <p:spPr>
          <a:xfrm>
            <a:off x="640080" y="5486400"/>
            <a:ext cx="3383280" cy="777240"/>
          </a:xfrm>
          <a:prstGeom prst="rect">
            <a:avLst/>
          </a:prstGeom>
          <a:noFill/>
          <a:ln/>
        </p:spPr>
        <p:txBody>
          <a:bodyPr wrap="square" lIns="0" tIns="0" rIns="0" bIns="0" rtlCol="0" anchor="ctr"/>
          <a:lstStyle/>
          <a:p>
            <a:pPr algn="l" indent="0" marL="0">
              <a:buNone/>
            </a:pPr>
            <a:r>
              <a:rPr lang="en-US" sz="1050" dirty="0">
                <a:solidFill>
                  <a:srgbClr val="323F4B"/>
                </a:solidFill>
                <a:latin typeface="Calibri" pitchFamily="34" charset="0"/>
                <a:ea typeface="Calibri" pitchFamily="34" charset="-122"/>
                <a:cs typeface="Calibri" pitchFamily="34" charset="-120"/>
              </a:rPr>
              <a:t>Recalls now exceed determinate releases</a:t>
            </a:r>
            <a:endParaRPr lang="en-US" sz="1050" dirty="0"/>
          </a:p>
        </p:txBody>
      </p:sp>
      <p:sp>
        <p:nvSpPr>
          <p:cNvPr id="15" name="Shape 13"/>
          <p:cNvSpPr/>
          <p:nvPr/>
        </p:nvSpPr>
        <p:spPr>
          <a:xfrm>
            <a:off x="4297680" y="1371600"/>
            <a:ext cx="3566160" cy="502920"/>
          </a:xfrm>
          <a:prstGeom prst="rect">
            <a:avLst/>
          </a:prstGeom>
          <a:solidFill>
            <a:srgbClr val="B03A2E"/>
          </a:solidFill>
          <a:ln w="12700">
            <a:solidFill>
              <a:srgbClr val="B03A2E"/>
            </a:solidFill>
            <a:prstDash val="solid"/>
          </a:ln>
        </p:spPr>
      </p:sp>
      <p:sp>
        <p:nvSpPr>
          <p:cNvPr id="16" name="Text 14"/>
          <p:cNvSpPr txBox="1"/>
          <p:nvPr/>
        </p:nvSpPr>
        <p:spPr>
          <a:xfrm>
            <a:off x="4389120" y="1371600"/>
            <a:ext cx="33832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Not robust: do not quote</a:t>
            </a:r>
            <a:endParaRPr lang="en-US" sz="1300" dirty="0"/>
          </a:p>
        </p:txBody>
      </p:sp>
      <p:sp>
        <p:nvSpPr>
          <p:cNvPr id="17" name="Shape 15"/>
          <p:cNvSpPr/>
          <p:nvPr/>
        </p:nvSpPr>
        <p:spPr>
          <a:xfrm>
            <a:off x="4297680" y="2011680"/>
            <a:ext cx="3566160" cy="777240"/>
          </a:xfrm>
          <a:prstGeom prst="rect">
            <a:avLst/>
          </a:prstGeom>
          <a:solidFill>
            <a:srgbClr val="F5F6F4"/>
          </a:solidFill>
          <a:ln w="12700">
            <a:solidFill>
              <a:srgbClr val="F5F6F4"/>
            </a:solidFill>
            <a:prstDash val="solid"/>
          </a:ln>
        </p:spPr>
      </p:sp>
      <p:sp>
        <p:nvSpPr>
          <p:cNvPr id="18" name="Text 16"/>
          <p:cNvSpPr txBox="1"/>
          <p:nvPr/>
        </p:nvSpPr>
        <p:spPr>
          <a:xfrm>
            <a:off x="4389120" y="2011680"/>
            <a:ext cx="3383280" cy="777240"/>
          </a:xfrm>
          <a:prstGeom prst="rect">
            <a:avLst/>
          </a:prstGeom>
          <a:noFill/>
          <a:ln/>
        </p:spPr>
        <p:txBody>
          <a:bodyPr wrap="square" lIns="0" tIns="0" rIns="0" bIns="0" rtlCol="0" anchor="ctr"/>
          <a:lstStyle/>
          <a:p>
            <a:pPr algn="l" indent="0" marL="0">
              <a:buNone/>
            </a:pPr>
            <a:r>
              <a:rPr lang="en-US" sz="1050" dirty="0">
                <a:solidFill>
                  <a:srgbClr val="323F4B"/>
                </a:solidFill>
                <a:latin typeface="Calibri" pitchFamily="34" charset="0"/>
                <a:ea typeface="Calibri" pitchFamily="34" charset="-122"/>
                <a:cs typeface="Calibri" pitchFamily="34" charset="-120"/>
              </a:rPr>
              <a:t>The size of the overshoot: +2% structural, +4% with shocks</a:t>
            </a:r>
            <a:endParaRPr lang="en-US" sz="1050" dirty="0"/>
          </a:p>
        </p:txBody>
      </p:sp>
      <p:sp>
        <p:nvSpPr>
          <p:cNvPr id="19" name="Shape 17"/>
          <p:cNvSpPr/>
          <p:nvPr/>
        </p:nvSpPr>
        <p:spPr>
          <a:xfrm>
            <a:off x="4297680" y="2880360"/>
            <a:ext cx="3566160" cy="777240"/>
          </a:xfrm>
          <a:prstGeom prst="rect">
            <a:avLst/>
          </a:prstGeom>
          <a:solidFill>
            <a:srgbClr val="F5F6F4"/>
          </a:solidFill>
          <a:ln w="12700">
            <a:solidFill>
              <a:srgbClr val="F5F6F4"/>
            </a:solidFill>
            <a:prstDash val="solid"/>
          </a:ln>
        </p:spPr>
      </p:sp>
      <p:sp>
        <p:nvSpPr>
          <p:cNvPr id="20" name="Text 18"/>
          <p:cNvSpPr txBox="1"/>
          <p:nvPr/>
        </p:nvSpPr>
        <p:spPr>
          <a:xfrm>
            <a:off x="4389120" y="2880360"/>
            <a:ext cx="3383280" cy="777240"/>
          </a:xfrm>
          <a:prstGeom prst="rect">
            <a:avLst/>
          </a:prstGeom>
          <a:noFill/>
          <a:ln/>
        </p:spPr>
        <p:txBody>
          <a:bodyPr wrap="square" lIns="0" tIns="0" rIns="0" bIns="0" rtlCol="0" anchor="ctr"/>
          <a:lstStyle/>
          <a:p>
            <a:pPr algn="l" indent="0" marL="0">
              <a:buNone/>
            </a:pPr>
            <a:r>
              <a:rPr lang="en-US" sz="1050" dirty="0">
                <a:solidFill>
                  <a:srgbClr val="323F4B"/>
                </a:solidFill>
                <a:latin typeface="Calibri" pitchFamily="34" charset="0"/>
                <a:ea typeface="Calibri" pitchFamily="34" charset="-122"/>
                <a:cs typeface="Calibri" pitchFamily="34" charset="-120"/>
              </a:rPr>
              <a:t>Direction accuracy: 53% at short horizons is noise</a:t>
            </a:r>
            <a:endParaRPr lang="en-US" sz="1050" dirty="0"/>
          </a:p>
        </p:txBody>
      </p:sp>
      <p:sp>
        <p:nvSpPr>
          <p:cNvPr id="21" name="Shape 19"/>
          <p:cNvSpPr/>
          <p:nvPr/>
        </p:nvSpPr>
        <p:spPr>
          <a:xfrm>
            <a:off x="4297680" y="3749040"/>
            <a:ext cx="3566160" cy="777240"/>
          </a:xfrm>
          <a:prstGeom prst="rect">
            <a:avLst/>
          </a:prstGeom>
          <a:solidFill>
            <a:srgbClr val="F5F6F4"/>
          </a:solidFill>
          <a:ln w="12700">
            <a:solidFill>
              <a:srgbClr val="F5F6F4"/>
            </a:solidFill>
            <a:prstDash val="solid"/>
          </a:ln>
        </p:spPr>
      </p:sp>
      <p:sp>
        <p:nvSpPr>
          <p:cNvPr id="22" name="Text 20"/>
          <p:cNvSpPr txBox="1"/>
          <p:nvPr/>
        </p:nvSpPr>
        <p:spPr>
          <a:xfrm>
            <a:off x="4389120" y="3749040"/>
            <a:ext cx="3383280" cy="777240"/>
          </a:xfrm>
          <a:prstGeom prst="rect">
            <a:avLst/>
          </a:prstGeom>
          <a:noFill/>
          <a:ln/>
        </p:spPr>
        <p:txBody>
          <a:bodyPr wrap="square" lIns="0" tIns="0" rIns="0" bIns="0" rtlCol="0" anchor="ctr"/>
          <a:lstStyle/>
          <a:p>
            <a:pPr algn="l" indent="0" marL="0">
              <a:buNone/>
            </a:pPr>
            <a:r>
              <a:rPr lang="en-US" sz="1050" dirty="0">
                <a:solidFill>
                  <a:srgbClr val="323F4B"/>
                </a:solidFill>
                <a:latin typeface="Calibri" pitchFamily="34" charset="0"/>
                <a:ea typeface="Calibri" pitchFamily="34" charset="-122"/>
                <a:cs typeface="Calibri" pitchFamily="34" charset="-120"/>
              </a:rPr>
              <a:t>The underlying population trend: +19/week from 19 weeks of data</a:t>
            </a:r>
            <a:endParaRPr lang="en-US" sz="1050" dirty="0"/>
          </a:p>
        </p:txBody>
      </p:sp>
      <p:sp>
        <p:nvSpPr>
          <p:cNvPr id="23" name="Shape 21"/>
          <p:cNvSpPr/>
          <p:nvPr/>
        </p:nvSpPr>
        <p:spPr>
          <a:xfrm>
            <a:off x="4297680" y="4617720"/>
            <a:ext cx="3566160" cy="777240"/>
          </a:xfrm>
          <a:prstGeom prst="rect">
            <a:avLst/>
          </a:prstGeom>
          <a:solidFill>
            <a:srgbClr val="F5F6F4"/>
          </a:solidFill>
          <a:ln w="12700">
            <a:solidFill>
              <a:srgbClr val="F5F6F4"/>
            </a:solidFill>
            <a:prstDash val="solid"/>
          </a:ln>
        </p:spPr>
      </p:sp>
      <p:sp>
        <p:nvSpPr>
          <p:cNvPr id="24" name="Text 22"/>
          <p:cNvSpPr txBox="1"/>
          <p:nvPr/>
        </p:nvSpPr>
        <p:spPr>
          <a:xfrm>
            <a:off x="4389120" y="4617720"/>
            <a:ext cx="3383280" cy="777240"/>
          </a:xfrm>
          <a:prstGeom prst="rect">
            <a:avLst/>
          </a:prstGeom>
          <a:noFill/>
          <a:ln/>
        </p:spPr>
        <p:txBody>
          <a:bodyPr wrap="square" lIns="0" tIns="0" rIns="0" bIns="0" rtlCol="0" anchor="ctr"/>
          <a:lstStyle/>
          <a:p>
            <a:pPr algn="l" indent="0" marL="0">
              <a:buNone/>
            </a:pPr>
            <a:r>
              <a:rPr lang="en-US" sz="1050" dirty="0">
                <a:solidFill>
                  <a:srgbClr val="323F4B"/>
                </a:solidFill>
                <a:latin typeface="Calibri" pitchFamily="34" charset="0"/>
                <a:ea typeface="Calibri" pitchFamily="34" charset="-122"/>
                <a:cs typeface="Calibri" pitchFamily="34" charset="-120"/>
              </a:rPr>
              <a:t>Any headroom forecast beyond six months</a:t>
            </a:r>
            <a:endParaRPr lang="en-US" sz="1050" dirty="0"/>
          </a:p>
        </p:txBody>
      </p:sp>
      <p:sp>
        <p:nvSpPr>
          <p:cNvPr id="25" name="Shape 23"/>
          <p:cNvSpPr/>
          <p:nvPr/>
        </p:nvSpPr>
        <p:spPr>
          <a:xfrm>
            <a:off x="4297680" y="5486400"/>
            <a:ext cx="3566160" cy="777240"/>
          </a:xfrm>
          <a:prstGeom prst="rect">
            <a:avLst/>
          </a:prstGeom>
          <a:solidFill>
            <a:srgbClr val="F5F6F4"/>
          </a:solidFill>
          <a:ln w="12700">
            <a:solidFill>
              <a:srgbClr val="F5F6F4"/>
            </a:solidFill>
            <a:prstDash val="solid"/>
          </a:ln>
        </p:spPr>
      </p:sp>
      <p:sp>
        <p:nvSpPr>
          <p:cNvPr id="26" name="Text 24"/>
          <p:cNvSpPr txBox="1"/>
          <p:nvPr/>
        </p:nvSpPr>
        <p:spPr>
          <a:xfrm>
            <a:off x="4389120" y="5486400"/>
            <a:ext cx="3383280" cy="777240"/>
          </a:xfrm>
          <a:prstGeom prst="rect">
            <a:avLst/>
          </a:prstGeom>
          <a:noFill/>
          <a:ln/>
        </p:spPr>
        <p:txBody>
          <a:bodyPr wrap="square" lIns="0" tIns="0" rIns="0" bIns="0" rtlCol="0" anchor="ctr"/>
          <a:lstStyle/>
          <a:p>
            <a:pPr algn="l" indent="0" marL="0">
              <a:buNone/>
            </a:pPr>
            <a:r>
              <a:rPr lang="en-US" sz="1050" dirty="0">
                <a:solidFill>
                  <a:srgbClr val="323F4B"/>
                </a:solidFill>
                <a:latin typeface="Calibri" pitchFamily="34" charset="0"/>
                <a:ea typeface="Calibri" pitchFamily="34" charset="-122"/>
                <a:cs typeface="Calibri" pitchFamily="34" charset="-120"/>
              </a:rPr>
              <a:t>Ten-year statements: five-year error is three times total headroom</a:t>
            </a:r>
            <a:endParaRPr lang="en-US" sz="1050" dirty="0"/>
          </a:p>
        </p:txBody>
      </p:sp>
      <p:sp>
        <p:nvSpPr>
          <p:cNvPr id="27" name="Shape 25"/>
          <p:cNvSpPr/>
          <p:nvPr/>
        </p:nvSpPr>
        <p:spPr>
          <a:xfrm>
            <a:off x="8046720" y="1371600"/>
            <a:ext cx="3566160" cy="502920"/>
          </a:xfrm>
          <a:prstGeom prst="rect">
            <a:avLst/>
          </a:prstGeom>
          <a:solidFill>
            <a:srgbClr val="7B8794"/>
          </a:solidFill>
          <a:ln w="12700">
            <a:solidFill>
              <a:srgbClr val="7B8794"/>
            </a:solidFill>
            <a:prstDash val="solid"/>
          </a:ln>
        </p:spPr>
      </p:sp>
      <p:sp>
        <p:nvSpPr>
          <p:cNvPr id="28" name="Text 26"/>
          <p:cNvSpPr txBox="1"/>
          <p:nvPr/>
        </p:nvSpPr>
        <p:spPr>
          <a:xfrm>
            <a:off x="8138160" y="1371600"/>
            <a:ext cx="33832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Cannot be settled from these data</a:t>
            </a:r>
            <a:endParaRPr lang="en-US" sz="1300" dirty="0"/>
          </a:p>
        </p:txBody>
      </p:sp>
      <p:sp>
        <p:nvSpPr>
          <p:cNvPr id="29" name="Shape 27"/>
          <p:cNvSpPr/>
          <p:nvPr/>
        </p:nvSpPr>
        <p:spPr>
          <a:xfrm>
            <a:off x="8046720" y="2011680"/>
            <a:ext cx="3566160" cy="777240"/>
          </a:xfrm>
          <a:prstGeom prst="rect">
            <a:avLst/>
          </a:prstGeom>
          <a:solidFill>
            <a:srgbClr val="F5F6F4"/>
          </a:solidFill>
          <a:ln w="12700">
            <a:solidFill>
              <a:srgbClr val="F5F6F4"/>
            </a:solidFill>
            <a:prstDash val="solid"/>
          </a:ln>
        </p:spPr>
      </p:sp>
      <p:sp>
        <p:nvSpPr>
          <p:cNvPr id="30" name="Text 28"/>
          <p:cNvSpPr txBox="1"/>
          <p:nvPr/>
        </p:nvSpPr>
        <p:spPr>
          <a:xfrm>
            <a:off x="8138160" y="2011680"/>
            <a:ext cx="3383280" cy="777240"/>
          </a:xfrm>
          <a:prstGeom prst="rect">
            <a:avLst/>
          </a:prstGeom>
          <a:noFill/>
          <a:ln/>
        </p:spPr>
        <p:txBody>
          <a:bodyPr wrap="square" lIns="0" tIns="0" rIns="0" bIns="0" rtlCol="0" anchor="ctr"/>
          <a:lstStyle/>
          <a:p>
            <a:pPr algn="l" indent="0" marL="0">
              <a:buNone/>
            </a:pPr>
            <a:r>
              <a:rPr lang="en-US" sz="1050" dirty="0">
                <a:solidFill>
                  <a:srgbClr val="323F4B"/>
                </a:solidFill>
                <a:latin typeface="Calibri" pitchFamily="34" charset="0"/>
                <a:ea typeface="Calibri" pitchFamily="34" charset="-122"/>
                <a:cs typeface="Calibri" pitchFamily="34" charset="-120"/>
              </a:rPr>
              <a:t>Regime dependence: no-change wins because the population was flat; it would have lost 1993 to 2012</a:t>
            </a:r>
            <a:endParaRPr lang="en-US" sz="1050" dirty="0"/>
          </a:p>
        </p:txBody>
      </p:sp>
      <p:sp>
        <p:nvSpPr>
          <p:cNvPr id="31" name="Shape 29"/>
          <p:cNvSpPr/>
          <p:nvPr/>
        </p:nvSpPr>
        <p:spPr>
          <a:xfrm>
            <a:off x="8046720" y="2880360"/>
            <a:ext cx="3566160" cy="777240"/>
          </a:xfrm>
          <a:prstGeom prst="rect">
            <a:avLst/>
          </a:prstGeom>
          <a:solidFill>
            <a:srgbClr val="F5F6F4"/>
          </a:solidFill>
          <a:ln w="12700">
            <a:solidFill>
              <a:srgbClr val="F5F6F4"/>
            </a:solidFill>
            <a:prstDash val="solid"/>
          </a:ln>
        </p:spPr>
      </p:sp>
      <p:sp>
        <p:nvSpPr>
          <p:cNvPr id="32" name="Text 30"/>
          <p:cNvSpPr txBox="1"/>
          <p:nvPr/>
        </p:nvSpPr>
        <p:spPr>
          <a:xfrm>
            <a:off x="8138160" y="2880360"/>
            <a:ext cx="3383280" cy="777240"/>
          </a:xfrm>
          <a:prstGeom prst="rect">
            <a:avLst/>
          </a:prstGeom>
          <a:noFill/>
          <a:ln/>
        </p:spPr>
        <p:txBody>
          <a:bodyPr wrap="square" lIns="0" tIns="0" rIns="0" bIns="0" rtlCol="0" anchor="ctr"/>
          <a:lstStyle/>
          <a:p>
            <a:pPr algn="l" indent="0" marL="0">
              <a:buNone/>
            </a:pPr>
            <a:r>
              <a:rPr lang="en-US" sz="1050" dirty="0">
                <a:solidFill>
                  <a:srgbClr val="323F4B"/>
                </a:solidFill>
                <a:latin typeface="Calibri" pitchFamily="34" charset="0"/>
                <a:ea typeface="Calibri" pitchFamily="34" charset="-122"/>
                <a:cs typeface="Calibri" pitchFamily="34" charset="-120"/>
              </a:rPr>
              <a:t>Capacity binding through remand, HDC or sentencing could make some pre-2020 overshoot constrained demand</a:t>
            </a:r>
            <a:endParaRPr lang="en-US" sz="1050" dirty="0"/>
          </a:p>
        </p:txBody>
      </p:sp>
      <p:sp>
        <p:nvSpPr>
          <p:cNvPr id="33" name="Shape 31"/>
          <p:cNvSpPr/>
          <p:nvPr/>
        </p:nvSpPr>
        <p:spPr>
          <a:xfrm>
            <a:off x="8046720" y="3749040"/>
            <a:ext cx="3566160" cy="777240"/>
          </a:xfrm>
          <a:prstGeom prst="rect">
            <a:avLst/>
          </a:prstGeom>
          <a:solidFill>
            <a:srgbClr val="F5F6F4"/>
          </a:solidFill>
          <a:ln w="12700">
            <a:solidFill>
              <a:srgbClr val="F5F6F4"/>
            </a:solidFill>
            <a:prstDash val="solid"/>
          </a:ln>
        </p:spPr>
      </p:sp>
      <p:sp>
        <p:nvSpPr>
          <p:cNvPr id="34" name="Text 32"/>
          <p:cNvSpPr txBox="1"/>
          <p:nvPr/>
        </p:nvSpPr>
        <p:spPr>
          <a:xfrm>
            <a:off x="8138160" y="3749040"/>
            <a:ext cx="3383280" cy="777240"/>
          </a:xfrm>
          <a:prstGeom prst="rect">
            <a:avLst/>
          </a:prstGeom>
          <a:noFill/>
          <a:ln/>
        </p:spPr>
        <p:txBody>
          <a:bodyPr wrap="square" lIns="0" tIns="0" rIns="0" bIns="0" rtlCol="0" anchor="ctr"/>
          <a:lstStyle/>
          <a:p>
            <a:pPr algn="l" indent="0" marL="0">
              <a:buNone/>
            </a:pPr>
            <a:r>
              <a:rPr lang="en-US" sz="1050" dirty="0">
                <a:solidFill>
                  <a:srgbClr val="323F4B"/>
                </a:solidFill>
                <a:latin typeface="Calibri" pitchFamily="34" charset="0"/>
                <a:ea typeface="Calibri" pitchFamily="34" charset="-122"/>
                <a:cs typeface="Calibri" pitchFamily="34" charset="-120"/>
              </a:rPr>
              <a:t>Whether FTR56 or seasonality drove the summer 2026 rise, until the Q2 OMSQ</a:t>
            </a:r>
            <a:endParaRPr lang="en-US" sz="1050" dirty="0"/>
          </a:p>
        </p:txBody>
      </p:sp>
      <p:sp>
        <p:nvSpPr>
          <p:cNvPr id="35" name="Shape 33"/>
          <p:cNvSpPr/>
          <p:nvPr/>
        </p:nvSpPr>
        <p:spPr>
          <a:xfrm>
            <a:off x="8046720" y="4617720"/>
            <a:ext cx="3566160" cy="777240"/>
          </a:xfrm>
          <a:prstGeom prst="rect">
            <a:avLst/>
          </a:prstGeom>
          <a:solidFill>
            <a:srgbClr val="F5F6F4"/>
          </a:solidFill>
          <a:ln w="12700">
            <a:solidFill>
              <a:srgbClr val="F5F6F4"/>
            </a:solidFill>
            <a:prstDash val="solid"/>
          </a:ln>
        </p:spPr>
      </p:sp>
      <p:sp>
        <p:nvSpPr>
          <p:cNvPr id="36" name="Text 34"/>
          <p:cNvSpPr txBox="1"/>
          <p:nvPr/>
        </p:nvSpPr>
        <p:spPr>
          <a:xfrm>
            <a:off x="8138160" y="4617720"/>
            <a:ext cx="3383280" cy="777240"/>
          </a:xfrm>
          <a:prstGeom prst="rect">
            <a:avLst/>
          </a:prstGeom>
          <a:noFill/>
          <a:ln/>
        </p:spPr>
        <p:txBody>
          <a:bodyPr wrap="square" lIns="0" tIns="0" rIns="0" bIns="0" rtlCol="0" anchor="ctr"/>
          <a:lstStyle/>
          <a:p>
            <a:pPr algn="l" indent="0" marL="0">
              <a:buNone/>
            </a:pPr>
            <a:r>
              <a:rPr lang="en-US" sz="1050" dirty="0">
                <a:solidFill>
                  <a:srgbClr val="323F4B"/>
                </a:solidFill>
                <a:latin typeface="Calibri" pitchFamily="34" charset="0"/>
                <a:ea typeface="Calibri" pitchFamily="34" charset="-122"/>
                <a:cs typeface="Calibri" pitchFamily="34" charset="-120"/>
              </a:rPr>
              <a:t>How much of recall growth is reclassification before July 2025</a:t>
            </a:r>
            <a:endParaRPr lang="en-US" sz="1050" dirty="0"/>
          </a:p>
        </p:txBody>
      </p:sp>
      <p:sp>
        <p:nvSpPr>
          <p:cNvPr id="37" name="Text 35"/>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900" dirty="0">
                <a:solidFill>
                  <a:srgbClr val="7B8794"/>
                </a:solidFill>
                <a:latin typeface="Calibri" pitchFamily="34" charset="0"/>
                <a:ea typeface="Calibri" pitchFamily="34" charset="-122"/>
                <a:cs typeface="Calibri" pitchFamily="34" charset="-120"/>
              </a:rPr>
              <a:t>Full robustness table in the scorecard note, section 3. Definitions log: 114 entries, including six corrections made during the build.</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2933"/>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What happens next, and when the model gets scored</a:t>
            </a:r>
            <a:endParaRPr lang="en-US" sz="3000" dirty="0"/>
          </a:p>
        </p:txBody>
      </p:sp>
      <p:sp>
        <p:nvSpPr>
          <p:cNvPr id="3" name="Shape 1"/>
          <p:cNvSpPr/>
          <p:nvPr/>
        </p:nvSpPr>
        <p:spPr>
          <a:xfrm>
            <a:off x="822960" y="3291840"/>
            <a:ext cx="10515600" cy="9144"/>
          </a:xfrm>
          <a:prstGeom prst="line">
            <a:avLst/>
          </a:prstGeom>
          <a:noFill/>
          <a:ln w="38100">
            <a:solidFill>
              <a:srgbClr val="E4E7EB"/>
            </a:solidFill>
            <a:prstDash val="solid"/>
          </a:ln>
        </p:spPr>
      </p:sp>
      <p:sp>
        <p:nvSpPr>
          <p:cNvPr id="4" name="Shape 2"/>
          <p:cNvSpPr/>
          <p:nvPr/>
        </p:nvSpPr>
        <p:spPr>
          <a:xfrm>
            <a:off x="1261872" y="3182112"/>
            <a:ext cx="219456" cy="219456"/>
          </a:xfrm>
          <a:prstGeom prst="ellipse">
            <a:avLst/>
          </a:prstGeom>
          <a:solidFill>
            <a:srgbClr val="C8963E"/>
          </a:solidFill>
          <a:ln w="12700">
            <a:solidFill>
              <a:srgbClr val="FFFFFF"/>
            </a:solidFill>
            <a:prstDash val="solid"/>
          </a:ln>
        </p:spPr>
      </p:sp>
      <p:sp>
        <p:nvSpPr>
          <p:cNvPr id="5" name="Text 3"/>
          <p:cNvSpPr txBox="1"/>
          <p:nvPr/>
        </p:nvSpPr>
        <p:spPr>
          <a:xfrm>
            <a:off x="457200" y="2514600"/>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28 Sep</a:t>
            </a:r>
            <a:endParaRPr lang="en-US" sz="1500" dirty="0"/>
          </a:p>
        </p:txBody>
      </p:sp>
      <p:sp>
        <p:nvSpPr>
          <p:cNvPr id="6" name="Text 4"/>
          <p:cNvSpPr txBox="1"/>
          <p:nvPr/>
        </p:nvSpPr>
        <p:spPr>
          <a:xfrm>
            <a:off x="411480" y="3611880"/>
            <a:ext cx="1920240" cy="1280160"/>
          </a:xfrm>
          <a:prstGeom prst="rect">
            <a:avLst/>
          </a:prstGeom>
          <a:noFill/>
          <a:ln/>
        </p:spPr>
        <p:txBody>
          <a:bodyPr wrap="square" lIns="0" tIns="0" rIns="0" bIns="0" rtlCol="0" anchor="t"/>
          <a:lstStyle/>
          <a:p>
            <a:pPr algn="ctr" indent="0" marL="0">
              <a:buNone/>
            </a:pPr>
            <a:r>
              <a:rPr lang="en-US" sz="1050" dirty="0">
                <a:solidFill>
                  <a:srgbClr val="E4E7EB"/>
                </a:solidFill>
                <a:latin typeface="Calibri" pitchFamily="34" charset="0"/>
                <a:ea typeface="Calibri" pitchFamily="34" charset="-122"/>
                <a:cs typeface="Calibri" pitchFamily="34" charset="-120"/>
              </a:rPr>
              <a:t>First register score: 2,076 forecast vs bulletin</a:t>
            </a:r>
            <a:endParaRPr lang="en-US" sz="1050" dirty="0"/>
          </a:p>
        </p:txBody>
      </p:sp>
      <p:sp>
        <p:nvSpPr>
          <p:cNvPr id="7" name="Shape 5"/>
          <p:cNvSpPr/>
          <p:nvPr/>
        </p:nvSpPr>
        <p:spPr>
          <a:xfrm>
            <a:off x="3182112" y="3182112"/>
            <a:ext cx="219456" cy="219456"/>
          </a:xfrm>
          <a:prstGeom prst="ellipse">
            <a:avLst/>
          </a:prstGeom>
          <a:solidFill>
            <a:srgbClr val="C8963E"/>
          </a:solidFill>
          <a:ln w="12700">
            <a:solidFill>
              <a:srgbClr val="FFFFFF"/>
            </a:solidFill>
            <a:prstDash val="solid"/>
          </a:ln>
        </p:spPr>
      </p:sp>
      <p:sp>
        <p:nvSpPr>
          <p:cNvPr id="8" name="Text 6"/>
          <p:cNvSpPr txBox="1"/>
          <p:nvPr/>
        </p:nvSpPr>
        <p:spPr>
          <a:xfrm>
            <a:off x="2377440" y="2514600"/>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 Oct</a:t>
            </a:r>
            <a:endParaRPr lang="en-US" sz="1500" dirty="0"/>
          </a:p>
        </p:txBody>
      </p:sp>
      <p:sp>
        <p:nvSpPr>
          <p:cNvPr id="9" name="Text 7"/>
          <p:cNvSpPr txBox="1"/>
          <p:nvPr/>
        </p:nvSpPr>
        <p:spPr>
          <a:xfrm>
            <a:off x="2331720" y="3611880"/>
            <a:ext cx="1920240" cy="1280160"/>
          </a:xfrm>
          <a:prstGeom prst="rect">
            <a:avLst/>
          </a:prstGeom>
          <a:noFill/>
          <a:ln/>
        </p:spPr>
        <p:txBody>
          <a:bodyPr wrap="square" lIns="0" tIns="0" rIns="0" bIns="0" rtlCol="0" anchor="t"/>
          <a:lstStyle/>
          <a:p>
            <a:pPr algn="ctr" indent="0" marL="0">
              <a:buNone/>
            </a:pPr>
            <a:r>
              <a:rPr lang="en-US" sz="1050" dirty="0">
                <a:solidFill>
                  <a:srgbClr val="E4E7EB"/>
                </a:solidFill>
                <a:latin typeface="Calibri" pitchFamily="34" charset="0"/>
                <a:ea typeface="Calibri" pitchFamily="34" charset="-122"/>
                <a:cs typeface="Calibri" pitchFamily="34" charset="-120"/>
              </a:rPr>
              <a:t>2025 edition first live score: 91,400 vs outturn</a:t>
            </a:r>
            <a:endParaRPr lang="en-US" sz="1050" dirty="0"/>
          </a:p>
        </p:txBody>
      </p:sp>
      <p:sp>
        <p:nvSpPr>
          <p:cNvPr id="10" name="Shape 8"/>
          <p:cNvSpPr/>
          <p:nvPr/>
        </p:nvSpPr>
        <p:spPr>
          <a:xfrm>
            <a:off x="5102352" y="3182112"/>
            <a:ext cx="219456" cy="219456"/>
          </a:xfrm>
          <a:prstGeom prst="ellipse">
            <a:avLst/>
          </a:prstGeom>
          <a:solidFill>
            <a:srgbClr val="C8963E"/>
          </a:solidFill>
          <a:ln w="12700">
            <a:solidFill>
              <a:srgbClr val="FFFFFF"/>
            </a:solidFill>
            <a:prstDash val="solid"/>
          </a:ln>
        </p:spPr>
      </p:sp>
      <p:sp>
        <p:nvSpPr>
          <p:cNvPr id="11" name="Text 9"/>
          <p:cNvSpPr txBox="1"/>
          <p:nvPr/>
        </p:nvSpPr>
        <p:spPr>
          <a:xfrm>
            <a:off x="4297680" y="2514600"/>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29 Oct</a:t>
            </a:r>
            <a:endParaRPr lang="en-US" sz="1500" dirty="0"/>
          </a:p>
        </p:txBody>
      </p:sp>
      <p:sp>
        <p:nvSpPr>
          <p:cNvPr id="12" name="Text 10"/>
          <p:cNvSpPr txBox="1"/>
          <p:nvPr/>
        </p:nvSpPr>
        <p:spPr>
          <a:xfrm>
            <a:off x="4251960" y="3611880"/>
            <a:ext cx="1920240" cy="1280160"/>
          </a:xfrm>
          <a:prstGeom prst="rect">
            <a:avLst/>
          </a:prstGeom>
          <a:noFill/>
          <a:ln/>
        </p:spPr>
        <p:txBody>
          <a:bodyPr wrap="square" lIns="0" tIns="0" rIns="0" bIns="0" rtlCol="0" anchor="t"/>
          <a:lstStyle/>
          <a:p>
            <a:pPr algn="ctr" indent="0" marL="0">
              <a:buNone/>
            </a:pPr>
            <a:r>
              <a:rPr lang="en-US" sz="1050" dirty="0">
                <a:solidFill>
                  <a:srgbClr val="E4E7EB"/>
                </a:solidFill>
                <a:latin typeface="Calibri" pitchFamily="34" charset="0"/>
                <a:ea typeface="Calibri" pitchFamily="34" charset="-122"/>
                <a:cs typeface="Calibri" pitchFamily="34" charset="-120"/>
              </a:rPr>
              <a:t>Q2 OMSQ: FTR56 measurable, recall term added</a:t>
            </a:r>
            <a:endParaRPr lang="en-US" sz="1050" dirty="0"/>
          </a:p>
        </p:txBody>
      </p:sp>
      <p:sp>
        <p:nvSpPr>
          <p:cNvPr id="13" name="Shape 11"/>
          <p:cNvSpPr/>
          <p:nvPr/>
        </p:nvSpPr>
        <p:spPr>
          <a:xfrm>
            <a:off x="7022592" y="3182112"/>
            <a:ext cx="219456" cy="219456"/>
          </a:xfrm>
          <a:prstGeom prst="ellipse">
            <a:avLst/>
          </a:prstGeom>
          <a:solidFill>
            <a:srgbClr val="C8963E"/>
          </a:solidFill>
          <a:ln w="12700">
            <a:solidFill>
              <a:srgbClr val="FFFFFF"/>
            </a:solidFill>
            <a:prstDash val="solid"/>
          </a:ln>
        </p:spPr>
      </p:sp>
      <p:sp>
        <p:nvSpPr>
          <p:cNvPr id="14" name="Text 12"/>
          <p:cNvSpPr txBox="1"/>
          <p:nvPr/>
        </p:nvSpPr>
        <p:spPr>
          <a:xfrm>
            <a:off x="6217920" y="2514600"/>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early Dec</a:t>
            </a:r>
            <a:endParaRPr lang="en-US" sz="1500" dirty="0"/>
          </a:p>
        </p:txBody>
      </p:sp>
      <p:sp>
        <p:nvSpPr>
          <p:cNvPr id="15" name="Text 13"/>
          <p:cNvSpPr txBox="1"/>
          <p:nvPr/>
        </p:nvSpPr>
        <p:spPr>
          <a:xfrm>
            <a:off x="6172200" y="3611880"/>
            <a:ext cx="1920240" cy="1280160"/>
          </a:xfrm>
          <a:prstGeom prst="rect">
            <a:avLst/>
          </a:prstGeom>
          <a:noFill/>
          <a:ln/>
        </p:spPr>
        <p:txBody>
          <a:bodyPr wrap="square" lIns="0" tIns="0" rIns="0" bIns="0" rtlCol="0" anchor="t"/>
          <a:lstStyle/>
          <a:p>
            <a:pPr algn="ctr" indent="0" marL="0">
              <a:buNone/>
            </a:pPr>
            <a:r>
              <a:rPr lang="en-US" sz="1050" dirty="0">
                <a:solidFill>
                  <a:srgbClr val="E4E7EB"/>
                </a:solidFill>
                <a:latin typeface="Calibri" pitchFamily="34" charset="0"/>
                <a:ea typeface="Calibri" pitchFamily="34" charset="-122"/>
                <a:cs typeface="Calibri" pitchFamily="34" charset="-120"/>
              </a:rPr>
              <a:t>19th projection edition scored on day one</a:t>
            </a:r>
            <a:endParaRPr lang="en-US" sz="1050" dirty="0"/>
          </a:p>
        </p:txBody>
      </p:sp>
      <p:sp>
        <p:nvSpPr>
          <p:cNvPr id="16" name="Shape 14"/>
          <p:cNvSpPr/>
          <p:nvPr/>
        </p:nvSpPr>
        <p:spPr>
          <a:xfrm>
            <a:off x="8942832" y="3182112"/>
            <a:ext cx="219456" cy="219456"/>
          </a:xfrm>
          <a:prstGeom prst="ellipse">
            <a:avLst/>
          </a:prstGeom>
          <a:solidFill>
            <a:srgbClr val="B03A2E"/>
          </a:solidFill>
          <a:ln w="12700">
            <a:solidFill>
              <a:srgbClr val="FFFFFF"/>
            </a:solidFill>
            <a:prstDash val="solid"/>
          </a:ln>
        </p:spPr>
      </p:sp>
      <p:sp>
        <p:nvSpPr>
          <p:cNvPr id="17" name="Text 15"/>
          <p:cNvSpPr txBox="1"/>
          <p:nvPr/>
        </p:nvSpPr>
        <p:spPr>
          <a:xfrm>
            <a:off x="8138160" y="2514600"/>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25 Jan 27</a:t>
            </a:r>
            <a:endParaRPr lang="en-US" sz="1500" dirty="0"/>
          </a:p>
        </p:txBody>
      </p:sp>
      <p:sp>
        <p:nvSpPr>
          <p:cNvPr id="18" name="Text 16"/>
          <p:cNvSpPr txBox="1"/>
          <p:nvPr/>
        </p:nvSpPr>
        <p:spPr>
          <a:xfrm>
            <a:off x="8092440" y="3611880"/>
            <a:ext cx="1920240" cy="1280160"/>
          </a:xfrm>
          <a:prstGeom prst="rect">
            <a:avLst/>
          </a:prstGeom>
          <a:noFill/>
          <a:ln/>
        </p:spPr>
        <p:txBody>
          <a:bodyPr wrap="square" lIns="0" tIns="0" rIns="0" bIns="0" rtlCol="0" anchor="t"/>
          <a:lstStyle/>
          <a:p>
            <a:pPr algn="ctr" indent="0" marL="0">
              <a:buNone/>
            </a:pPr>
            <a:r>
              <a:rPr lang="en-US" sz="1050" dirty="0">
                <a:solidFill>
                  <a:srgbClr val="E4E7EB"/>
                </a:solidFill>
                <a:latin typeface="Calibri" pitchFamily="34" charset="0"/>
                <a:ea typeface="Calibri" pitchFamily="34" charset="-122"/>
                <a:cs typeface="Calibri" pitchFamily="34" charset="-120"/>
              </a:rPr>
              <a:t>The bulletin that separates v1, v2, v3 by 3,200</a:t>
            </a:r>
            <a:endParaRPr lang="en-US" sz="1050" dirty="0"/>
          </a:p>
        </p:txBody>
      </p:sp>
      <p:sp>
        <p:nvSpPr>
          <p:cNvPr id="19" name="Shape 17"/>
          <p:cNvSpPr/>
          <p:nvPr/>
        </p:nvSpPr>
        <p:spPr>
          <a:xfrm>
            <a:off x="10863072" y="3182112"/>
            <a:ext cx="219456" cy="219456"/>
          </a:xfrm>
          <a:prstGeom prst="ellipse">
            <a:avLst/>
          </a:prstGeom>
          <a:solidFill>
            <a:srgbClr val="C8963E"/>
          </a:solidFill>
          <a:ln w="12700">
            <a:solidFill>
              <a:srgbClr val="FFFFFF"/>
            </a:solidFill>
            <a:prstDash val="solid"/>
          </a:ln>
        </p:spPr>
      </p:sp>
      <p:sp>
        <p:nvSpPr>
          <p:cNvPr id="20" name="Text 18"/>
          <p:cNvSpPr txBox="1"/>
          <p:nvPr/>
        </p:nvSpPr>
        <p:spPr>
          <a:xfrm>
            <a:off x="10058400" y="2514600"/>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Jan 27</a:t>
            </a:r>
            <a:endParaRPr lang="en-US" sz="1500" dirty="0"/>
          </a:p>
        </p:txBody>
      </p:sp>
      <p:sp>
        <p:nvSpPr>
          <p:cNvPr id="21" name="Text 19"/>
          <p:cNvSpPr txBox="1"/>
          <p:nvPr/>
        </p:nvSpPr>
        <p:spPr>
          <a:xfrm>
            <a:off x="10012680" y="3611880"/>
            <a:ext cx="1920240" cy="1280160"/>
          </a:xfrm>
          <a:prstGeom prst="rect">
            <a:avLst/>
          </a:prstGeom>
          <a:noFill/>
          <a:ln/>
        </p:spPr>
        <p:txBody>
          <a:bodyPr wrap="square" lIns="0" tIns="0" rIns="0" bIns="0" rtlCol="0" anchor="t"/>
          <a:lstStyle/>
          <a:p>
            <a:pPr algn="ctr" indent="0" marL="0">
              <a:buNone/>
            </a:pPr>
            <a:r>
              <a:rPr lang="en-US" sz="1050" dirty="0">
                <a:solidFill>
                  <a:srgbClr val="E4E7EB"/>
                </a:solidFill>
                <a:latin typeface="Calibri" pitchFamily="34" charset="0"/>
                <a:ea typeface="Calibri" pitchFamily="34" charset="-122"/>
                <a:cs typeface="Calibri" pitchFamily="34" charset="-120"/>
              </a:rPr>
              <a:t>Annual Statement 2026: supply path scored</a:t>
            </a:r>
            <a:endParaRPr lang="en-US" sz="1050" dirty="0"/>
          </a:p>
        </p:txBody>
      </p:sp>
      <p:sp>
        <p:nvSpPr>
          <p:cNvPr id="22" name="Shape 20"/>
          <p:cNvSpPr/>
          <p:nvPr/>
        </p:nvSpPr>
        <p:spPr>
          <a:xfrm>
            <a:off x="731520" y="5120640"/>
            <a:ext cx="5120640" cy="1005840"/>
          </a:xfrm>
          <a:prstGeom prst="rect">
            <a:avLst/>
          </a:prstGeom>
          <a:solidFill>
            <a:srgbClr val="2B3944"/>
          </a:solidFill>
          <a:ln w="12700">
            <a:solidFill>
              <a:srgbClr val="2B3944"/>
            </a:solidFill>
            <a:prstDash val="solid"/>
          </a:ln>
        </p:spPr>
      </p:sp>
      <p:sp>
        <p:nvSpPr>
          <p:cNvPr id="23" name="Text 21"/>
          <p:cNvSpPr txBox="1"/>
          <p:nvPr/>
        </p:nvSpPr>
        <p:spPr>
          <a:xfrm>
            <a:off x="822960" y="5120640"/>
            <a:ext cx="4937760" cy="1005840"/>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The scorecard note is ready. Hold it three weeks: a scorecard that has itself been scored once is a different object from one that has not.</a:t>
            </a:r>
            <a:endParaRPr lang="en-US" sz="1150" dirty="0"/>
          </a:p>
        </p:txBody>
      </p:sp>
      <p:sp>
        <p:nvSpPr>
          <p:cNvPr id="24" name="Shape 22"/>
          <p:cNvSpPr/>
          <p:nvPr/>
        </p:nvSpPr>
        <p:spPr>
          <a:xfrm>
            <a:off x="6126480" y="5120640"/>
            <a:ext cx="5303520" cy="1005840"/>
          </a:xfrm>
          <a:prstGeom prst="rect">
            <a:avLst/>
          </a:prstGeom>
          <a:solidFill>
            <a:srgbClr val="2B3944"/>
          </a:solidFill>
          <a:ln w="12700">
            <a:solidFill>
              <a:srgbClr val="2B3944"/>
            </a:solidFill>
            <a:prstDash val="solid"/>
          </a:ln>
        </p:spPr>
      </p:sp>
      <p:sp>
        <p:nvSpPr>
          <p:cNvPr id="25" name="Text 23"/>
          <p:cNvSpPr txBox="1"/>
          <p:nvPr/>
        </p:nvSpPr>
        <p:spPr>
          <a:xfrm>
            <a:off x="6217920" y="5120640"/>
            <a:ext cx="5120640" cy="1005840"/>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Forecasts are lodged, never edited. A superseded model gets a new column. That is the only way a scorecard project can score itself.</a:t>
            </a:r>
            <a:endParaRPr lang="en-US" sz="1150" dirty="0"/>
          </a:p>
        </p:txBody>
      </p:sp>
      <p:sp>
        <p:nvSpPr>
          <p:cNvPr id="26" name="Text 24"/>
          <p:cNvSpPr txBox="1"/>
          <p:nvPr/>
        </p:nvSpPr>
        <p:spPr>
          <a:xfrm>
            <a:off x="548640" y="6400800"/>
            <a:ext cx="11064240" cy="274320"/>
          </a:xfrm>
          <a:prstGeom prst="rect">
            <a:avLst/>
          </a:prstGeom>
          <a:noFill/>
          <a:ln/>
        </p:spPr>
        <p:txBody>
          <a:bodyPr wrap="square" lIns="0" tIns="0" rIns="0" bIns="0" rtlCol="0" anchor="ctr"/>
          <a:lstStyle/>
          <a:p>
            <a:pPr indent="0" marL="0">
              <a:buNone/>
            </a:pP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2026-09-05T09:51:57Z</dcterms:created>
  <dcterms:modified xsi:type="dcterms:W3CDTF">2026-09-05T09:51:57Z</dcterms:modified>
</cp:coreProperties>
</file>