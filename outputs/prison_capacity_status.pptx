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9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Cambria"/>
              </a:rPr>
              <a:t>Mean absolute error in prisoners, by forecast horizon, all editions 2008 to 2025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MoJ central projection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23F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 yr</c:v>
                  </c:pt>
                  <c:pt idx="1">
                    <c:v>2 yr</c:v>
                  </c:pt>
                  <c:pt idx="2">
                    <c:v>3 yr</c:v>
                  </c:pt>
                  <c:pt idx="3">
                    <c:v>4 yr</c:v>
                  </c:pt>
                  <c:pt idx="4">
                    <c:v>5 yr</c:v>
                  </c:pt>
                  <c:pt idx="5">
                    <c:v>6 yr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2429</c:v>
                </c:pt>
                <c:pt idx="1">
                  <c:v>3923</c:v>
                </c:pt>
                <c:pt idx="2">
                  <c:v>3616</c:v>
                </c:pt>
                <c:pt idx="3">
                  <c:v>5115</c:v>
                </c:pt>
                <c:pt idx="4">
                  <c:v>4778</c:v>
                </c:pt>
                <c:pt idx="5">
                  <c:v>3780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Naive no-change</c:v>
                </c:pt>
              </c:strCache>
            </c:strRef>
          </c:tx>
          <c:spPr>
            <a:solidFill>
              <a:srgbClr val="7B87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23F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 yr</c:v>
                  </c:pt>
                  <c:pt idx="1">
                    <c:v>2 yr</c:v>
                  </c:pt>
                  <c:pt idx="2">
                    <c:v>3 yr</c:v>
                  </c:pt>
                  <c:pt idx="3">
                    <c:v>4 yr</c:v>
                  </c:pt>
                  <c:pt idx="4">
                    <c:v>5 yr</c:v>
                  </c:pt>
                  <c:pt idx="5">
                    <c:v>6 yr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1679</c:v>
                </c:pt>
                <c:pt idx="1">
                  <c:v>2428</c:v>
                </c:pt>
                <c:pt idx="2">
                  <c:v>3386</c:v>
                </c:pt>
                <c:pt idx="3">
                  <c:v>4053</c:v>
                </c:pt>
                <c:pt idx="4">
                  <c:v>3184</c:v>
                </c:pt>
                <c:pt idx="5">
                  <c:v>2687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23F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23F4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Cambria"/>
              </a:rPr>
              <a:t>Mean projection error by custody type (projected minus actual, people)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 to 2019 editions</c:v>
                </c:pt>
              </c:strCache>
            </c:strRef>
          </c:tx>
          <c:spPr>
            <a:solidFill>
              <a:srgbClr val="7B87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23F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Determinate</c:v>
                  </c:pt>
                  <c:pt idx="1">
                    <c:v>Remand</c:v>
                  </c:pt>
                  <c:pt idx="2">
                    <c:v>Non-criminal</c:v>
                  </c:pt>
                  <c:pt idx="3">
                    <c:v>Indeterminate</c:v>
                  </c:pt>
                  <c:pt idx="4">
                    <c:v>Recall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900</c:v>
                </c:pt>
                <c:pt idx="1">
                  <c:v>851</c:v>
                </c:pt>
                <c:pt idx="2">
                  <c:v>465</c:v>
                </c:pt>
                <c:pt idx="3">
                  <c:v>307</c:v>
                </c:pt>
                <c:pt idx="4">
                  <c:v>-47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 onward editions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23F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Determinate</c:v>
                  </c:pt>
                  <c:pt idx="1">
                    <c:v>Remand</c:v>
                  </c:pt>
                  <c:pt idx="2">
                    <c:v>Non-criminal</c:v>
                  </c:pt>
                  <c:pt idx="3">
                    <c:v>Indeterminate</c:v>
                  </c:pt>
                  <c:pt idx="4">
                    <c:v>Recall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8610</c:v>
                </c:pt>
                <c:pt idx="1">
                  <c:v>-2862</c:v>
                </c:pt>
                <c:pt idx="2">
                  <c:v>254</c:v>
                </c:pt>
                <c:pt idx="3">
                  <c:v>-126</c:v>
                </c:pt>
                <c:pt idx="4">
                  <c:v>-361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23F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23F4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Cambria"/>
              </a:rPr>
              <a:t>Prison population by custody type, MoJ published actuals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Determinate</c:v>
                </c:pt>
              </c:strCache>
            </c:strRef>
          </c:tx>
          <c:spPr>
            <a:solidFill>
              <a:srgbClr val="1F29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June 2017</c:v>
                  </c:pt>
                  <c:pt idx="1">
                    <c:v>Sept 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57726</c:v>
                </c:pt>
                <c:pt idx="1">
                  <c:v>48224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Remand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June 2017</c:v>
                  </c:pt>
                  <c:pt idx="1">
                    <c:v>Sept 2025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9638</c:v>
                </c:pt>
                <c:pt idx="1">
                  <c:v>17700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C896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June 2017</c:v>
                  </c:pt>
                  <c:pt idx="1">
                    <c:v>Sept 2025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6390</c:v>
                </c:pt>
                <c:pt idx="1">
                  <c:v>12657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Indeterminate</c:v>
                </c:pt>
              </c:strCache>
            </c:strRef>
          </c:tx>
          <c:spPr>
            <a:solidFill>
              <a:srgbClr val="7B87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June 2017</c:v>
                  </c:pt>
                  <c:pt idx="1">
                    <c:v>Sept 2025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10600</c:v>
                </c:pt>
                <c:pt idx="1">
                  <c:v>8493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E4E7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June 2017</c:v>
                  </c:pt>
                  <c:pt idx="1">
                    <c:v>Sept 2025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1509</c:v>
                </c:pt>
                <c:pt idx="1">
                  <c:v>391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23F4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Cambria"/>
              </a:rPr>
              <a:t>Releases from determinate sentences, England and Wales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sentence imposed (months)</c:v>
                </c:pt>
              </c:strCache>
            </c:strRef>
          </c:tx>
          <c:spPr>
            <a:solidFill>
              <a:srgbClr val="1F2933"/>
            </a:solidFill>
            <a:ln w="31750" cap="flat">
              <a:solidFill>
                <a:srgbClr val="1F29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2933"/>
              </a:solidFill>
              <a:ln w="9525" cap="flat">
                <a:solidFill>
                  <a:srgbClr val="1F29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2017 Q1</c:v>
                  </c:pt>
                  <c:pt idx="1">
                    <c:v>2018 Q1</c:v>
                  </c:pt>
                  <c:pt idx="2">
                    <c:v>2021 Q1</c:v>
                  </c:pt>
                  <c:pt idx="3">
                    <c:v>2022 Q1</c:v>
                  </c:pt>
                  <c:pt idx="4">
                    <c:v>2023 Q2</c:v>
                  </c:pt>
                  <c:pt idx="5">
                    <c:v>2024 Q1</c:v>
                  </c:pt>
                  <c:pt idx="6">
                    <c:v>2025 Q2</c:v>
                  </c:pt>
                  <c:pt idx="7">
                    <c:v>2025 Q4</c:v>
                  </c:pt>
                  <c:pt idx="8">
                    <c:v>2026 Q1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18.95</c:v>
                </c:pt>
                <c:pt idx="1">
                  <c:v>19.99</c:v>
                </c:pt>
                <c:pt idx="2">
                  <c:v>26.26</c:v>
                </c:pt>
                <c:pt idx="3">
                  <c:v>26.32</c:v>
                </c:pt>
                <c:pt idx="4">
                  <c:v>25.41</c:v>
                </c:pt>
                <c:pt idx="5">
                  <c:v>25.78</c:v>
                </c:pt>
                <c:pt idx="6">
                  <c:v>29.95</c:v>
                </c:pt>
                <c:pt idx="7">
                  <c:v>27.56</c:v>
                </c:pt>
                <c:pt idx="8">
                  <c:v>26.68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Mean time served (months)</c:v>
                </c:pt>
              </c:strCache>
            </c:strRef>
          </c:tx>
          <c:spPr>
            <a:solidFill>
              <a:srgbClr val="B03A2E"/>
            </a:solidFill>
            <a:ln w="31750" cap="flat">
              <a:solidFill>
                <a:srgbClr val="B03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3A2E"/>
              </a:solidFill>
              <a:ln w="9525" cap="flat">
                <a:solidFill>
                  <a:srgbClr val="B03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2017 Q1</c:v>
                  </c:pt>
                  <c:pt idx="1">
                    <c:v>2018 Q1</c:v>
                  </c:pt>
                  <c:pt idx="2">
                    <c:v>2021 Q1</c:v>
                  </c:pt>
                  <c:pt idx="3">
                    <c:v>2022 Q1</c:v>
                  </c:pt>
                  <c:pt idx="4">
                    <c:v>2023 Q2</c:v>
                  </c:pt>
                  <c:pt idx="5">
                    <c:v>2024 Q1</c:v>
                  </c:pt>
                  <c:pt idx="6">
                    <c:v>2025 Q2</c:v>
                  </c:pt>
                  <c:pt idx="7">
                    <c:v>2025 Q4</c:v>
                  </c:pt>
                  <c:pt idx="8">
                    <c:v>2026 Q1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11.86</c:v>
                </c:pt>
                <c:pt idx="1">
                  <c:v>12.69</c:v>
                </c:pt>
                <c:pt idx="2">
                  <c:v>15.96</c:v>
                </c:pt>
                <c:pt idx="3">
                  <c:v>15.92</c:v>
                </c:pt>
                <c:pt idx="4">
                  <c:v>15.2</c:v>
                </c:pt>
                <c:pt idx="5">
                  <c:v>15.52</c:v>
                </c:pt>
                <c:pt idx="6">
                  <c:v>15.03</c:v>
                </c:pt>
                <c:pt idx="7">
                  <c:v>14.22</c:v>
                </c:pt>
                <c:pt idx="8">
                  <c:v>14.52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23F4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Cambria"/>
              </a:rPr>
              <a:t>Releases from determinate sentences and recalls, per quarter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Determinate releases</c:v>
                </c:pt>
              </c:strCache>
            </c:strRef>
          </c:tx>
          <c:spPr>
            <a:solidFill>
              <a:srgbClr val="7B87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23 Q1</c:v>
                  </c:pt>
                  <c:pt idx="1">
                    <c:v>23 Q2</c:v>
                  </c:pt>
                  <c:pt idx="2">
                    <c:v>23 Q3</c:v>
                  </c:pt>
                  <c:pt idx="3">
                    <c:v>23 Q4</c:v>
                  </c:pt>
                  <c:pt idx="4">
                    <c:v>24 Q1</c:v>
                  </c:pt>
                  <c:pt idx="5">
                    <c:v>24 Q2</c:v>
                  </c:pt>
                  <c:pt idx="6">
                    <c:v>24 Q3</c:v>
                  </c:pt>
                  <c:pt idx="7">
                    <c:v>24 Q4</c:v>
                  </c:pt>
                  <c:pt idx="8">
                    <c:v>25 Q1</c:v>
                  </c:pt>
                  <c:pt idx="9">
                    <c:v>25 Q2</c:v>
                  </c:pt>
                  <c:pt idx="10">
                    <c:v>25 Q3</c:v>
                  </c:pt>
                  <c:pt idx="11">
                    <c:v>25 Q4</c:v>
                  </c:pt>
                  <c:pt idx="12">
                    <c:v>26 Q1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11887</c:v>
                </c:pt>
                <c:pt idx="1">
                  <c:v>12132</c:v>
                </c:pt>
                <c:pt idx="2">
                  <c:v>12351</c:v>
                </c:pt>
                <c:pt idx="3">
                  <c:v>12764</c:v>
                </c:pt>
                <c:pt idx="4">
                  <c:v>13289</c:v>
                </c:pt>
                <c:pt idx="5">
                  <c:v>13600</c:v>
                </c:pt>
                <c:pt idx="6">
                  <c:v>14200</c:v>
                </c:pt>
                <c:pt idx="7">
                  <c:v>15000</c:v>
                </c:pt>
                <c:pt idx="8">
                  <c:v>13296</c:v>
                </c:pt>
                <c:pt idx="9">
                  <c:v>14946</c:v>
                </c:pt>
                <c:pt idx="10">
                  <c:v>14038</c:v>
                </c:pt>
                <c:pt idx="11">
                  <c:v>14643</c:v>
                </c:pt>
                <c:pt idx="12">
                  <c:v>12977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Recalls to custody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23 Q1</c:v>
                  </c:pt>
                  <c:pt idx="1">
                    <c:v>23 Q2</c:v>
                  </c:pt>
                  <c:pt idx="2">
                    <c:v>23 Q3</c:v>
                  </c:pt>
                  <c:pt idx="3">
                    <c:v>23 Q4</c:v>
                  </c:pt>
                  <c:pt idx="4">
                    <c:v>24 Q1</c:v>
                  </c:pt>
                  <c:pt idx="5">
                    <c:v>24 Q2</c:v>
                  </c:pt>
                  <c:pt idx="6">
                    <c:v>24 Q3</c:v>
                  </c:pt>
                  <c:pt idx="7">
                    <c:v>24 Q4</c:v>
                  </c:pt>
                  <c:pt idx="8">
                    <c:v>25 Q1</c:v>
                  </c:pt>
                  <c:pt idx="9">
                    <c:v>25 Q2</c:v>
                  </c:pt>
                  <c:pt idx="10">
                    <c:v>25 Q3</c:v>
                  </c:pt>
                  <c:pt idx="11">
                    <c:v>25 Q4</c:v>
                  </c:pt>
                  <c:pt idx="12">
                    <c:v>26 Q1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6824</c:v>
                </c:pt>
                <c:pt idx="1">
                  <c:v>6814</c:v>
                </c:pt>
                <c:pt idx="2">
                  <c:v>7030</c:v>
                </c:pt>
                <c:pt idx="3">
                  <c:v>7152</c:v>
                </c:pt>
                <c:pt idx="4">
                  <c:v>7415</c:v>
                </c:pt>
                <c:pt idx="5">
                  <c:v>9782</c:v>
                </c:pt>
                <c:pt idx="6">
                  <c:v>9975</c:v>
                </c:pt>
                <c:pt idx="7">
                  <c:v>10401</c:v>
                </c:pt>
                <c:pt idx="8">
                  <c:v>10101</c:v>
                </c:pt>
                <c:pt idx="9">
                  <c:v>11041</c:v>
                </c:pt>
                <c:pt idx="10">
                  <c:v>12836</c:v>
                </c:pt>
                <c:pt idx="11">
                  <c:v>14349</c:v>
                </c:pt>
                <c:pt idx="12">
                  <c:v>13193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23F4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Cambria"/>
              </a:rPr>
              <a:t>Two long-run ratios, annual, England and Wales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Recalls per 100 releases</c:v>
                </c:pt>
              </c:strCache>
            </c:strRef>
          </c:tx>
          <c:spPr>
            <a:solidFill>
              <a:srgbClr val="B03A2E"/>
            </a:solidFill>
            <a:ln w="31750" cap="flat">
              <a:solidFill>
                <a:srgbClr val="B03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B03A2E"/>
              </a:solidFill>
              <a:ln w="9525" cap="flat">
                <a:solidFill>
                  <a:srgbClr val="B03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28.8</c:v>
                </c:pt>
                <c:pt idx="1">
                  <c:v>29.4</c:v>
                </c:pt>
                <c:pt idx="2">
                  <c:v>30.7</c:v>
                </c:pt>
                <c:pt idx="3">
                  <c:v>34.9</c:v>
                </c:pt>
                <c:pt idx="4">
                  <c:v>42.2</c:v>
                </c:pt>
                <c:pt idx="5">
                  <c:v>45.9</c:v>
                </c:pt>
                <c:pt idx="6">
                  <c:v>47</c:v>
                </c:pt>
                <c:pt idx="7">
                  <c:v>50.4</c:v>
                </c:pt>
                <c:pt idx="8">
                  <c:v>56.6</c:v>
                </c:pt>
                <c:pt idx="9">
                  <c:v>65.6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Proportion of sentence served (%)</c:v>
                </c:pt>
              </c:strCache>
            </c:strRef>
          </c:tx>
          <c:spPr>
            <a:solidFill>
              <a:srgbClr val="1F2933"/>
            </a:solidFill>
            <a:ln w="31750" cap="flat">
              <a:solidFill>
                <a:srgbClr val="1F29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2933"/>
              </a:solidFill>
              <a:ln w="9525" cap="flat">
                <a:solidFill>
                  <a:srgbClr val="1F29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60.6</c:v>
                </c:pt>
                <c:pt idx="1">
                  <c:v>62.1</c:v>
                </c:pt>
                <c:pt idx="2">
                  <c:v>63.7</c:v>
                </c:pt>
                <c:pt idx="3">
                  <c:v>63.7</c:v>
                </c:pt>
                <c:pt idx="4">
                  <c:v>62.4</c:v>
                </c:pt>
                <c:pt idx="5">
                  <c:v>60.8</c:v>
                </c:pt>
                <c:pt idx="6">
                  <c:v>60.3</c:v>
                </c:pt>
                <c:pt idx="7">
                  <c:v>60.2</c:v>
                </c:pt>
                <c:pt idx="8">
                  <c:v>60.2</c:v>
                </c:pt>
                <c:pt idx="9">
                  <c:v>55.5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23F4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Cambria"/>
              </a:rPr>
              <a:t>Change in operational capacity by financial year (places)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prisons</c:v>
                </c:pt>
              </c:strCache>
            </c:strRef>
          </c:tx>
          <c:spPr>
            <a:solidFill>
              <a:srgbClr val="5B7F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23F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2022/23</c:v>
                  </c:pt>
                  <c:pt idx="1">
                    <c:v>2023/24</c:v>
                  </c:pt>
                  <c:pt idx="2">
                    <c:v>2024/25</c:v>
                  </c:pt>
                  <c:pt idx="3">
                    <c:v>2025/26</c:v>
                  </c:pt>
                  <c:pt idx="4">
                    <c:v>2026/27 to Jul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940</c:v>
                </c:pt>
                <c:pt idx="1">
                  <c:v>2150</c:v>
                </c:pt>
                <c:pt idx="2">
                  <c:v>54</c:v>
                </c:pt>
                <c:pt idx="3">
                  <c:v>1177</c:v>
                </c:pt>
                <c:pt idx="4">
                  <c:v>126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 of the estate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23F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2022/23</c:v>
                  </c:pt>
                  <c:pt idx="1">
                    <c:v>2023/24</c:v>
                  </c:pt>
                  <c:pt idx="2">
                    <c:v>2024/25</c:v>
                  </c:pt>
                  <c:pt idx="3">
                    <c:v>2025/26</c:v>
                  </c:pt>
                  <c:pt idx="4">
                    <c:v>2026/27 to Jul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2011</c:v>
                </c:pt>
                <c:pt idx="1">
                  <c:v>662</c:v>
                </c:pt>
                <c:pt idx="2">
                  <c:v>-64</c:v>
                </c:pt>
                <c:pt idx="3">
                  <c:v>-81</c:v>
                </c:pt>
                <c:pt idx="4">
                  <c:v>-1026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23F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23F4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Cambria"/>
              </a:rPr>
              <a:t>The annual cycle I had been extrapolating: deviation from 53-week centred mean, 2011 to 2026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Seasonal deviation (people)</c:v>
                </c:pt>
              </c:strCache>
            </c:strRef>
          </c:tx>
          <c:spPr>
            <a:solidFill>
              <a:srgbClr val="1F29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23F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-407</c:v>
                </c:pt>
                <c:pt idx="1">
                  <c:v>74</c:v>
                </c:pt>
                <c:pt idx="2">
                  <c:v>126</c:v>
                </c:pt>
                <c:pt idx="3">
                  <c:v>-173</c:v>
                </c:pt>
                <c:pt idx="4">
                  <c:v>-198</c:v>
                </c:pt>
                <c:pt idx="5">
                  <c:v>-257</c:v>
                </c:pt>
                <c:pt idx="6">
                  <c:v>-55</c:v>
                </c:pt>
                <c:pt idx="7">
                  <c:v>183</c:v>
                </c:pt>
                <c:pt idx="8">
                  <c:v>163</c:v>
                </c:pt>
                <c:pt idx="9">
                  <c:v>340</c:v>
                </c:pt>
                <c:pt idx="10">
                  <c:v>365</c:v>
                </c:pt>
                <c:pt idx="11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23F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Cambria"/>
              </a:rPr>
              <a:t>Headroom forecasts by target date, from the 24 August 2026 bulletin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 exogenous</c:v>
                </c:pt>
              </c:strCache>
            </c:strRef>
          </c:tx>
          <c:spPr>
            <a:solidFill>
              <a:srgbClr val="7B8794"/>
            </a:solidFill>
            <a:ln w="31750" cap="flat">
              <a:solidFill>
                <a:srgbClr val="7B879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7B8794"/>
              </a:solidFill>
              <a:ln w="9525" cap="flat">
                <a:solidFill>
                  <a:srgbClr val="7B87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28 Sep</c:v>
                  </c:pt>
                  <c:pt idx="1">
                    <c:v>26 Oct</c:v>
                  </c:pt>
                  <c:pt idx="2">
                    <c:v>30 Nov</c:v>
                  </c:pt>
                  <c:pt idx="3">
                    <c:v>28 Dec</c:v>
                  </c:pt>
                  <c:pt idx="4">
                    <c:v>25 Jan</c:v>
                  </c:pt>
                  <c:pt idx="5">
                    <c:v>1 Mar</c:v>
                  </c:pt>
                  <c:pt idx="6">
                    <c:v>29 Mar</c:v>
                  </c:pt>
                  <c:pt idx="7">
                    <c:v>31 May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1139</c:v>
                </c:pt>
                <c:pt idx="1">
                  <c:v>1725</c:v>
                </c:pt>
                <c:pt idx="2">
                  <c:v>1420</c:v>
                </c:pt>
                <c:pt idx="3">
                  <c:v>1206</c:v>
                </c:pt>
                <c:pt idx="4">
                  <c:v>1042</c:v>
                </c:pt>
                <c:pt idx="5">
                  <c:v>587</c:v>
                </c:pt>
                <c:pt idx="6">
                  <c:v>23</c:v>
                </c:pt>
                <c:pt idx="7">
                  <c:v>-1496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endogenous</c:v>
                </c:pt>
              </c:strCache>
            </c:strRef>
          </c:tx>
          <c:spPr>
            <a:solidFill>
              <a:srgbClr val="C8963E"/>
            </a:solidFill>
            <a:ln w="31750" cap="flat">
              <a:solidFill>
                <a:srgbClr val="C896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8963E"/>
              </a:solidFill>
              <a:ln w="9525" cap="flat">
                <a:solidFill>
                  <a:srgbClr val="C896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28 Sep</c:v>
                  </c:pt>
                  <c:pt idx="1">
                    <c:v>26 Oct</c:v>
                  </c:pt>
                  <c:pt idx="2">
                    <c:v>30 Nov</c:v>
                  </c:pt>
                  <c:pt idx="3">
                    <c:v>28 Dec</c:v>
                  </c:pt>
                  <c:pt idx="4">
                    <c:v>25 Jan</c:v>
                  </c:pt>
                  <c:pt idx="5">
                    <c:v>1 Mar</c:v>
                  </c:pt>
                  <c:pt idx="6">
                    <c:v>29 Mar</c:v>
                  </c:pt>
                  <c:pt idx="7">
                    <c:v>31 May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1183</c:v>
                </c:pt>
                <c:pt idx="1">
                  <c:v>1975</c:v>
                </c:pt>
                <c:pt idx="2">
                  <c:v>1912</c:v>
                </c:pt>
                <c:pt idx="3">
                  <c:v>1827</c:v>
                </c:pt>
                <c:pt idx="4">
                  <c:v>1867</c:v>
                </c:pt>
                <c:pt idx="5">
                  <c:v>1687</c:v>
                </c:pt>
                <c:pt idx="6">
                  <c:v>1442</c:v>
                </c:pt>
                <c:pt idx="7">
                  <c:v>735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v3 seasonal (central)</c:v>
                </c:pt>
              </c:strCache>
            </c:strRef>
          </c:tx>
          <c:spPr>
            <a:solidFill>
              <a:srgbClr val="B03A2E"/>
            </a:solidFill>
            <a:ln w="31750" cap="flat">
              <a:solidFill>
                <a:srgbClr val="B03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B03A2E"/>
              </a:solidFill>
              <a:ln w="9525" cap="flat">
                <a:solidFill>
                  <a:srgbClr val="B03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28 Sep</c:v>
                  </c:pt>
                  <c:pt idx="1">
                    <c:v>26 Oct</c:v>
                  </c:pt>
                  <c:pt idx="2">
                    <c:v>30 Nov</c:v>
                  </c:pt>
                  <c:pt idx="3">
                    <c:v>28 Dec</c:v>
                  </c:pt>
                  <c:pt idx="4">
                    <c:v>25 Jan</c:v>
                  </c:pt>
                  <c:pt idx="5">
                    <c:v>1 Mar</c:v>
                  </c:pt>
                  <c:pt idx="6">
                    <c:v>29 Mar</c:v>
                  </c:pt>
                  <c:pt idx="7">
                    <c:v>31 May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2076</c:v>
                </c:pt>
                <c:pt idx="1">
                  <c:v>3170</c:v>
                </c:pt>
                <c:pt idx="2">
                  <c:v>3509</c:v>
                </c:pt>
                <c:pt idx="3">
                  <c:v>4226</c:v>
                </c:pt>
                <c:pt idx="4">
                  <c:v>4210</c:v>
                </c:pt>
                <c:pt idx="5">
                  <c:v>3957</c:v>
                </c:pt>
                <c:pt idx="6">
                  <c:v>4109</c:v>
                </c:pt>
                <c:pt idx="7">
                  <c:v>4048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Lowest historical trigger, 557</c:v>
                </c:pt>
              </c:strCache>
            </c:strRef>
          </c:tx>
          <c:spPr>
            <a:solidFill>
              <a:srgbClr val="E4E7EB"/>
            </a:solidFill>
            <a:ln w="31750" cap="flat">
              <a:solidFill>
                <a:srgbClr val="E4E7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E7EB"/>
              </a:solidFill>
              <a:ln w="9525" cap="flat">
                <a:solidFill>
                  <a:srgbClr val="E4E7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28 Sep</c:v>
                  </c:pt>
                  <c:pt idx="1">
                    <c:v>26 Oct</c:v>
                  </c:pt>
                  <c:pt idx="2">
                    <c:v>30 Nov</c:v>
                  </c:pt>
                  <c:pt idx="3">
                    <c:v>28 Dec</c:v>
                  </c:pt>
                  <c:pt idx="4">
                    <c:v>25 Jan</c:v>
                  </c:pt>
                  <c:pt idx="5">
                    <c:v>1 Mar</c:v>
                  </c:pt>
                  <c:pt idx="6">
                    <c:v>29 Mar</c:v>
                  </c:pt>
                  <c:pt idx="7">
                    <c:v>31 May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557</c:v>
                </c:pt>
                <c:pt idx="1">
                  <c:v>557</c:v>
                </c:pt>
                <c:pt idx="2">
                  <c:v>557</c:v>
                </c:pt>
                <c:pt idx="3">
                  <c:v>557</c:v>
                </c:pt>
                <c:pt idx="4">
                  <c:v>557</c:v>
                </c:pt>
                <c:pt idx="5">
                  <c:v>557</c:v>
                </c:pt>
                <c:pt idx="6">
                  <c:v>557</c:v>
                </c:pt>
                <c:pt idx="7">
                  <c:v>557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23F4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Prison Capacity and Early Release Triggers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4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stands, and what it found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Forward Research. Status at 3 September 2026, built against the project brief of the same date.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822960" cy="82296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736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2,094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on 24 August 2026, the latest bulletin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layer is done and cross-validated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787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bulletins parsed, January 2011 to date, five layout eras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12,038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establishment-months of certified accommodation, capacity and population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editions, 2008 to 2025, in one scenario-normalised table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0" y="1463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960120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in the definitions log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394960" cy="2926080"/>
          </a:xfrm>
          <a:prstGeom prst="rect">
            <a:avLst/>
          </a:prstGeom>
          <a:solidFill>
            <a:srgbClr val="F5F6F4"/>
          </a:solidFill>
          <a:ln w="12700">
            <a:solidFill>
              <a:srgbClr val="F5F6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383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series reconciles to every other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84048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establishment sums minus the operating margin equal weekly useable capacity on the report date: mean gap 0.5 people over 101 months.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editions publish their own base-year actual: it matches the weekly bulletin to within 40 people since 2018.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Statement 2025 quotes 88,931 useable capacity at 29 September 2025. The weekly series gives 88,931.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3200400"/>
            <a:ext cx="5394960" cy="2926080"/>
          </a:xfrm>
          <a:prstGeom prst="rect">
            <a:avLst/>
          </a:prstGeom>
          <a:solidFill>
            <a:srgbClr val="F5F6F4"/>
          </a:solidFill>
          <a:ln w="12700">
            <a:solidFill>
              <a:srgbClr val="F5F6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3383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routes only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84048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is a gov.uk content API call or an asset URL enumerated from one. No page scraping.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refresh.sh rebuilds everything from the API, and reads every source Notes sheet before it touches a number. If a definition changed, it stops.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inputs (release tranche dates, margin steps) live in a hand-maintained CSV with the source cited.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prisoncap. Sources: MoJ weekly and monthly population bulletins, Prison Population Projections, OMSQ, CJS quarterly, HMPPS workforce, Safety in Custody, Annual Statement on Prison Capacity.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Q1. A forecaster who assumed nothing would change beat the MoJ at every horizon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463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14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2286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from the 2020-onward editions were too high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3108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+7.6%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 of those editions, against +2.3% for 2008 to 2014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457200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worsens by era: +2.3%, +4.3%, +7.6%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outside government scores these. A parliamentary submission calls their low profile "curious"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Outturn from the weekly bulletin series interpolated to each edition's reference date. Naive forecast is the population at the edition's own base date carried forward.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error is almost entirely in one place, and two errors cancel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463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2286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projection error sits in the determinate sentenced population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3108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1.9x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component error over net error. Headline bias understates the modelling failure by half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46634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Determinate is over-projected: release rules changed after publication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Remand is under-projected: the court backlog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the same phenomenon seen twice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matched pairs where an edition projected a month for which a later edition published the unrounded actual. 19 successive-edition revisions confirm: determinate is 105% of revision movement.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prison population has been swapped for another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0350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04088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-16.5%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04088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+84%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932688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remand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+98%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32688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B87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+1.9%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932688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40880" y="4480560"/>
            <a:ext cx="4572000" cy="1737360"/>
          </a:xfrm>
          <a:prstGeom prst="rect">
            <a:avLst/>
          </a:prstGeom>
          <a:solidFill>
            <a:srgbClr val="F5F6F4"/>
          </a:solidFill>
          <a:ln w="12700">
            <a:solidFill>
              <a:srgbClr val="F5F6F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69480" y="4663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one-for-one substitution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51206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12,664 sentenced, indeterminate and non-criminal prisoners out. 14,329 remand and recall prisoners in. The break is 2019 to 2020 when courts stopped; it never reversed. Recall then rises every period with no step, so it is not a reclassification.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Base-year actuals published in the 2017-2022 and 2025-2030 projection editions. Determinate share of the population 67% to 55%; remand plus recall 19% to 35%.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Sentences got longer and people served the extra time, until 2022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463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 → 54%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2286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sentence actually served, 2017 to 2026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772400" y="3017520"/>
            <a:ext cx="3840480" cy="3200400"/>
          </a:xfrm>
          <a:prstGeom prst="rect">
            <a:avLst/>
          </a:prstGeom>
          <a:solidFill>
            <a:srgbClr val="F5F6F4"/>
          </a:solidFill>
          <a:ln w="12700">
            <a:solidFill>
              <a:srgbClr val="F5F6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eras, not one trend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36576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to 2022: sentence +39%, time served +34%. The proportion held at 60 to 63%. Sentence inflation passed straight through.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to 2026: sentence +1%, time served -9%. Proportion fell 8.6 points in two years. That is an intervention, not drift: ECSL, then SDS40, then the one-third model.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pre-2022 rate today's sentences would mean about 5,800 more determinate places. Headroom is 2,094.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OMSQ prison releases tables 3.Q.3 to 3.Q.5 across four editions. Figures include time on remand. Serious offenders moved the other way (two-thirds release points from 2020), so the mean hides a widening spread.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Recalls now exceed releases in the same quarter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463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+32%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2286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quarter, Q1 to Q2 2024: the surge began with the ECSL extensions, before SDS40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3108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565 → 1,017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recalls per 1,000 releases. An intensity effect: releases rose only 12%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4572000"/>
            <a:ext cx="3840480" cy="1737360"/>
          </a:xfrm>
          <a:prstGeom prst="rect">
            <a:avLst/>
          </a:prstGeom>
          <a:solidFill>
            <a:srgbClr val="F5F6F4"/>
          </a:solidFill>
          <a:ln w="12700">
            <a:solidFill>
              <a:srgbClr val="F5F6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4754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56-day recall since 31 March 2026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5212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OMSQ note 12: the 56-day fixed-term recall replaced 14 and 28 day recalls. Mechanically up to +3,570 places. Not yet visible in the data on timing grounds. The Apr-Jun 2026 OMSQ, due about 29 October, is the first release that can measure it.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OMSQ Table 5.Q.1 and 3.Q.1 across five editions. 2024 Q2 to Q4 releases are estimated from the annual total (57,277) pending the quarterly split. 99.4% of recalls result in return to custody. Composition series breaks at July 2025 (note 11); totals unaffected.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long run: fewer leave, more come back, and headroom has never been comfortable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852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663440"/>
            <a:ext cx="5852160" cy="1554480"/>
          </a:xfrm>
          <a:prstGeom prst="rect">
            <a:avLst/>
          </a:prstGeom>
          <a:solidFill>
            <a:srgbClr val="F5F6F4"/>
          </a:solidFill>
          <a:ln w="12700">
            <a:solidFill>
              <a:srgbClr val="F5F6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8463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Releases down 23%, recalls up 125%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3035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74,443 releases in 2015 became 57,277 in 2024. 21,467 recalls became 48,327 in 2025. The proportion served held at 60 to 64% for nine years, then dropped five points in one.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1371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in 15 years with headroom above 5,000. The last was February 2013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326880" y="1371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96–99%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32688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occupancy in every calendar year since 2011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 wks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unbroken run above 2,000 headroom, ending September 2013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6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since 2011 with headroom at the level the MoJ projects for 2032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58000" y="4663440"/>
            <a:ext cx="4754880" cy="1554480"/>
          </a:xfrm>
          <a:prstGeom prst="rect">
            <a:avLst/>
          </a:prstGeom>
          <a:solidFill>
            <a:srgbClr val="F5F6F4"/>
          </a:solidFill>
          <a:ln w="12700">
            <a:solidFill>
              <a:srgbClr val="F5F6F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86600" y="4846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is the best year for headroom since 2013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086600" y="53035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2,927 so far, minimum 2,094. Against 1,130 in 2023 (minimum 557), 1,831 in 2024, 1,838 in 2025. The year described as perma-crisis has had more room than any since 2013.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OMSQ 2024 annual tables 3.A.1, 3.A.5, 5.A.2; weekly bulletin series 2011 to 2026. 2024 sentence and time-served means are inflated by the SDS40 cohort; the ratio series shown here are less affected.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Q3. Fourteen years of building added a few hundred net places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4008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406640" y="14630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1,005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7406640" y="2286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places added May 2010 to Sept 2024, per the Public Accounts Committee, against 6,518 gross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31089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+641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3931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change in operational capacity, Jan 2011 to Aug 2026, from this series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06640" y="4572000"/>
            <a:ext cx="4206240" cy="1737360"/>
          </a:xfrm>
          <a:prstGeom prst="rect">
            <a:avLst/>
          </a:prstGeom>
          <a:solidFill>
            <a:srgbClr val="F5F6F4"/>
          </a:solidFill>
          <a:ln w="12700">
            <a:solidFill>
              <a:srgbClr val="F5F6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754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Millsike, the brief's first case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5212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90% of peak in 12 months, faster than Five Wells (20) or Fosse Way (31). But it runs at 1,158 against 1,468 certified: 79%, where older new-builds sit at 97 to 101%. On time, 310 places short.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by-establishment bulletins, 2018 to 2026. HMPPS Annual Report confirms its new-places figures "do not account for loss of places". Attrition absorbed 85% of gross additions 2010-24.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follows population. That halves what a release buys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852160" cy="237744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cap  =  627  −  0.284 × headroom(t−26)  +  0.386 × d pop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13-week changes, weekly data 2011 to 2026. t = −14.4 and +19.4. R² 0.42, n = 791.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the clean checks: population change lagged a further 13 weeks predicts capacity change at t = 13.4, with no capacity term on the right-hand side. Coefficient rises to +0.47 (R² 0.58) in the crisis era.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1371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any population move is matched by capacity moving the same way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1371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2,203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932688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 headroom with population flat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486400" cy="2194560"/>
          </a:xfrm>
          <a:prstGeom prst="rect">
            <a:avLst/>
          </a:prstGeom>
          <a:solidFill>
            <a:srgbClr val="F5F6F4"/>
          </a:solidFill>
          <a:ln w="12700">
            <a:solidFill>
              <a:srgbClr val="F5F6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2026 capacity fall was forecast maintenance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6634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Statement 2025 (Jan 2026) projects adult supply falling 89,900 to 88,300 by May 2027 before recovering. Annex B: places offline for fire safety and LTHSE security work plus a dilapidation assumption. A full estate prevents that work; when the population dropped after March, deferred work started.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4023360"/>
            <a:ext cx="5303520" cy="2194560"/>
          </a:xfrm>
          <a:prstGeom prst="rect">
            <a:avLst/>
          </a:prstGeom>
          <a:solidFill>
            <a:srgbClr val="F5F6F4"/>
          </a:solidFill>
          <a:ln w="12700">
            <a:solidFill>
              <a:srgbClr val="F5F6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hypotheses tested and scored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663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Staffing: rejected. Slope +0.04 places per officer FTE, R² 0.001 on every specification; the full-span correlation is a scale effect.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crowding: rejected, R² 0.002.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Assaults: partial. Prisons that cut capacity had a 36% higher assault rate (t = 2.1) but it explains 2% of how much. Self-harm: nothing.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Establishment-level tests use 104 to 111 matched prisons. Officer staffing is 92% of target and falling (1,526 FTE lost since March 2024), but that operates at estate level, not through the prisons that cut.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Q2. Nothing forecasts this series, and trend extrapolation makes it worse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554480"/>
                <a:gridCol w="137160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Drift, 52-wk trend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Drift, 5-yr trend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463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−65 / yr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2286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trend over the full 15.6 years. The sign flips four times across windows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3108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five-year windows since 2011 reached the +2,000/yr the ten-year plan assumes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46634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 beats naive by 2.5% at 13 weeks. Reported as the negative result it 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error is 5,541: nearly three times total headroom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and 10 year "improvement" is mean reversion on 35 origins, not skill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on the weekly series, origins 2016 to 2026 for the 13-week row and 2011 to 2026 for the rest. The +3,000 a year figure is the MoJ's near-term no-action counterfactual; its own central path with reforms is +1,333 a year.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Q4. Four model versions, each fixing a real error in the last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371600"/>
          <a:ext cx="47548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fixed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Headroom, Jan 2027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release schedule, capacity extrapolated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endogenous to population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asfreq bug had flattened the last two years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Seasonality removed; trend +19/wk not +143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4572000"/>
            <a:ext cx="6035040" cy="1645920"/>
          </a:xfrm>
          <a:prstGeom prst="rect">
            <a:avLst/>
          </a:prstGeom>
          <a:solidFill>
            <a:srgbClr val="F5F6F4"/>
          </a:solidFill>
          <a:ln w="12700">
            <a:solidFill>
              <a:srgbClr val="F5F6F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47548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summer rise was the calendar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52120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+770 from April to August, +411 was seasonal. Deseasonalised, the underlying trend is +19 a week. It was fitted over the fastest-rising part of the cycle and extrapolated from just before the November peak.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858000" y="3931920"/>
            <a:ext cx="4754880" cy="2286000"/>
          </a:xfrm>
          <a:prstGeom prst="rect">
            <a:avLst/>
          </a:prstGeom>
          <a:solidFill>
            <a:srgbClr val="F5F6F4"/>
          </a:solidFill>
          <a:ln w="12700">
            <a:solidFill>
              <a:srgbClr val="F5F6F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086600" y="4114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outlook now rests on 19 weeks of data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086600" y="457200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+19/wk headroom never enters the historical trigger band. At +40/wk it does by November 2027; at +60/wk by September 2027; at +143/wk by this month. That range is the finding: the near-term outlook is not knowable to the precision at which policy is being made.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validation of "bust before Christmas" is withdrawn: with no releases and the fitted trend, headroom at Christmas 2026 is 2,269. The claim needs about +150 a week.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standing forecast, lodged and not to be edited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371600"/>
            <a:ext cx="3749040" cy="2194560"/>
          </a:xfrm>
          <a:prstGeom prst="rect">
            <a:avLst/>
          </a:prstGeom>
          <a:solidFill>
            <a:srgbClr val="F5F6F4"/>
          </a:solidFill>
          <a:ln w="12700">
            <a:solidFill>
              <a:srgbClr val="F5F6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554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all three columns stay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0116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scorer never edits a lodged number. A superseded model gets a new column, not a revision. That is the only way a scorecard project can score itself.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863840" y="3840480"/>
            <a:ext cx="3749040" cy="2377440"/>
          </a:xfrm>
          <a:prstGeom prst="rect">
            <a:avLst/>
          </a:prstGeom>
          <a:solidFill>
            <a:srgbClr val="F5F6F4"/>
          </a:solidFill>
          <a:ln w="12700">
            <a:solidFill>
              <a:srgbClr val="F5F6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4023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bulletin settles it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44805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agree in September (spread under 1,000) and disagree by 3,200 in January 2027. The September bulletin tests the shared capacity feedback; the January bulletin tests the model. First scoreable target: 28 September 2026.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outputs/forecast_register.csv. score_register.py appends a one-line weekly update on every refresh; the brief's standing forecast deliverable.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corrections made during the build, each of which changed a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grid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5564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asfreq anchored on a 2011 Friday; bulletins moved to Mondays in Oct 2024. Two years filled flat. Affected the capacity estimate, destroyed the seasonal analysis.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Staffing triple-counted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75564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aggregate rows inside the establishment column. "4,443 officers lost" was 1,526. Percentages were unaffected; MoJ's own 95% figure confirms the corrected series.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5584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859. The +143/week trend was half calendar. Reversed the outlook and withdrew the validation of a ministerial claim.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56-day recall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35584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OMSQ note 12 after the analysis. Replaced 14 and 28 day recalls from 31 March 2026. Not yet visible in the data.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composition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95604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11: series break at July 2025. Totals stand; the fixed-term share does not.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4617720"/>
            <a:ext cx="457200" cy="4572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 inflation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495604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Comprehensively done by the Sentencing Academy (2025): 54% more punitive, 87% genuine. Demoted from finding to mechanism.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six were in a Notes sheet read after the numbers. The refresh now diffs every Notes sheet first and stops if one changed.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evidence supports, and what comes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463040" cy="411480"/>
          </a:xfrm>
          <a:prstGeom prst="rect">
            <a:avLst/>
          </a:prstGeom>
          <a:solidFill>
            <a:srgbClr val="5B7F5B"/>
          </a:solidFill>
          <a:ln w="12700">
            <a:solidFill>
              <a:srgbClr val="5B7F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32588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MoJ projections overshoot at every horizon and a naive forecast beats them. The error sits in the component release policy controls. A counterfactual falsified by the publisher's own subsequent actions cannot size a £7bn programme.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463040" cy="411480"/>
          </a:xfrm>
          <a:prstGeom prst="rect">
            <a:avLst/>
          </a:prstGeom>
          <a:solidFill>
            <a:srgbClr val="5B7F5B"/>
          </a:solidFill>
          <a:ln w="12700">
            <a:solidFill>
              <a:srgbClr val="5B7F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14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246888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Sentenced prisoners have been replaced by remand and recalled ones near one for one. Recalls now exceed determinate releases. Every early release scheme carries its own partial reversal.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463040" cy="411480"/>
          </a:xfrm>
          <a:prstGeom prst="rect">
            <a:avLst/>
          </a:prstGeom>
          <a:solidFill>
            <a:srgbClr val="5B7F5B"/>
          </a:solidFill>
          <a:ln w="12700">
            <a:solidFill>
              <a:srgbClr val="5B7F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57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361188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capacity has been flat for fifteen years. Capacity responds to population, so a release tranche buys about 60% of its face value.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1463040" cy="41148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800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475488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ten-year statement about headroom. The five-year forecast error is three times the buffer. The near-term outlook depends on a trend estimated from 19 weeks.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532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55321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refresh on the 28 September bulletin and see if the notes gate fires.  Score the January 2027 point.  Add the recall term once the Apr-Jun OMSQ lands on 29 October.  Pull OMSQ receptions and court flows for the full demand-side decomposition.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2026-09-05T09:51:57Z</dcterms:created>
  <dcterms:modified xsi:type="dcterms:W3CDTF">2026-09-05T09:51:57Z</dcterms:modified>
</cp:coreProperties>
</file>